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Weight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0E9F6E"/>
              </a:solidFill>
              <a:effectLst/>
            </c:spPr>
          </c:dPt>
          <c:dPt>
            <c:idx val="1"/>
            <c:bubble3D val="0"/>
            <c:spPr>
              <a:solidFill>
                <a:srgbClr val="1F6F8B"/>
              </a:solidFill>
              <a:effectLst/>
            </c:spPr>
          </c:dPt>
          <c:dPt>
            <c:idx val="2"/>
            <c:bubble3D val="0"/>
            <c:spPr>
              <a:solidFill>
                <a:srgbClr val="F5A524"/>
              </a:solidFill>
              <a:effectLst/>
            </c:spPr>
          </c:dPt>
          <c:dPt>
            <c:idx val="3"/>
            <c:bubble3D val="0"/>
            <c:spPr>
              <a:solidFill>
                <a:srgbClr val="E5484D"/>
              </a:solidFill>
              <a:effectLst/>
            </c:spPr>
          </c:dPt>
          <c:dPt>
            <c:idx val="4"/>
            <c:bubble3D val="0"/>
            <c:spPr>
              <a:solidFill>
                <a:srgbClr val="6B7F8C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1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11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Volatility</c:v>
                </c:pt>
                <c:pt idx="1">
                  <c:v>Max drawdown</c:v>
                </c:pt>
                <c:pt idx="2">
                  <c:v>VaR (95%)</c:v>
                </c:pt>
                <c:pt idx="3">
                  <c:v>Beta</c:v>
                </c:pt>
                <c:pt idx="4">
                  <c:v>Debt-to-equity</c:v>
                </c:pt>
              </c:strCache>
            </c:strRef>
          </c:cat>
          <c:val>
            <c:numRef>
              <c:f>Sheet1!$B$2:$B$6</c:f>
              <c:numCache>
                <c:ptCount val="5"/>
                <c:pt idx="0">
                  <c:v>30</c:v>
                </c:pt>
                <c:pt idx="1">
                  <c:v>25</c:v>
                </c:pt>
                <c:pt idx="2">
                  <c:v>15</c:v>
                </c:pt>
                <c:pt idx="3">
                  <c:v>15</c:v>
                </c:pt>
                <c:pt idx="4">
                  <c:v>15</c:v>
                </c:pt>
              </c:numCache>
            </c:numRef>
          </c:val>
        </c:ser>
        <c:firstSliceAng val="0"/>
        <c:holeSize val="52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1B2B34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the project: a big-data platform that ingests 10 years of Indian index, mutual fund and stock data, computes returns and risk, predicts risk and compares forecasting models, with results in Power BI via a secured API. Introduce the three team members.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problem: data is fragmented, risk is hidden, the 'hold for the long term' advice is rarely backed by evidence, and forecasting models are not compared fairly.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objectives. Stress that every output (returns, risk score, forecasts) is computed by the pipeline and served to Power BI.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Clarify that Nifty 50 and Sensex are indices, not mutual funds. We analyse three levels: indices as benchmarks, top mutual fund schemes, and Nifty 50 stocks for debt and churn.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each V. The key design choice: ingest the full archives with Spark to justify the big-data architecture, then focus deep analysis on the curated universe.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the sources. Mention that the risk-free rate from RBI is needed for Sharpe and Sortino ratios.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Main architecture slide. Data flows left to right: sources, ingestion, data lake, Spark processing, analytics and ML, FastAPI serving, Power BI. The data lake and Spark form the big data core. Airflow, data quality and security cut across all layers.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Bronze keeps raw data for reproducibility; Silver is cleaned and adjusted for corporate actions; Gold holds analysis-ready tables served by the API. Partitioning enables partition pruning in Spark.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Spark jobs build the Silver and Gold layers. The code shows window functions computing daily returns and annualised 1-year volatility per scheme, in parallel.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Returns and risk metrics computed in Spark and stored in the Gold layer. Beta and alpha are measured against the Nifty 50; Sharpe uses the RBI T-bill rate as the risk-free rate.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risk score is transparent: percentile ranks within peers, weighted as shown, re-weighted for funds that have no debt ratio, then banded into Low, Medium and High. The weights are a design choice and can be tuned.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Churn has three clear definitions: index membership changes, fund portfolio turnover and investor flows. Debt applies to companies: debt-to-equity and interest coverage over 10 years, with simple warning flags. Financials are treated separately.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Instead of claiming that holding longer always gains, we measure it. For each holding period we compute returns for every possible start date, then report the probability of a positive return and the range of outcomes.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models from simple to deep learning, all predicting returns rather than prices. They are compared on RMSE, MAE and directional accuracy. The naive baseline keeps the comparison honest.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Walk-forward validation prevents look-ahead bias, which is the most common mistake in stock prediction projects. The risk classifier turns the risk score from a description into a forecast.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Power BI does not read the data lake directly; it calls a FastAPI service that serves the Gold tables, protected by an API key. The M code shows how the key is passed as a header.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home page shows top-performing funds, index KPIs and a 'Rs 1 lakh invested 10 years ago' card. The other five pages cover fund exploration, risk, holding period, company health and model comparison.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tools are free or have free tiers. Spark can run locally or on Databricks Community Edition.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member owns one part of the pipeline end to end, and everyone contributes to testing and the report.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the most common pitfalls in financial data projects and the specific design decisions that address each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Summarise the four deliverables and invite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image" Target="../media/image-7-9.png"/><Relationship Id="rId10" Type="http://schemas.openxmlformats.org/officeDocument/2006/relationships/image" Target="../media/image-7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image" Target="../media/image-18-7.png"/><Relationship Id="rId8" Type="http://schemas.openxmlformats.org/officeDocument/2006/relationships/image" Target="../media/image-18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0058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0E9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DATA ARCHITECTURE  ·  PROJECT PROPOSAL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463040"/>
            <a:ext cx="7223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Stock Market &amp; Mutual Fund</a:t>
            </a:r>
            <a:endParaRPr lang="en-US" sz="4200" dirty="0"/>
          </a:p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 Analytics Platform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383280"/>
            <a:ext cx="6675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B8C7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prediction, return forecasting and churn analysis on 10 years of Indian market data, processed with Apache Spark and served live to Power BI through a secured API.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4892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E9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212080"/>
            <a:ext cx="7132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Suseendar Hari Krishnan   ·   Lakshan   ·   Viswesh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8183880" y="4663440"/>
            <a:ext cx="347472" cy="1005840"/>
          </a:xfrm>
          <a:prstGeom prst="roundRect">
            <a:avLst>
              <a:gd name="adj" fmla="val 15789"/>
            </a:avLst>
          </a:prstGeom>
          <a:solidFill>
            <a:srgbClr val="0E9F6E">
              <a:alpha val="45000"/>
            </a:srgbClr>
          </a:solidFill>
          <a:ln w="12700">
            <a:solidFill>
              <a:srgbClr val="0E9F6E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695944" y="4206240"/>
            <a:ext cx="347472" cy="1463040"/>
          </a:xfrm>
          <a:prstGeom prst="roundRect">
            <a:avLst>
              <a:gd name="adj" fmla="val 15789"/>
            </a:avLst>
          </a:prstGeom>
          <a:solidFill>
            <a:srgbClr val="0E9F6E">
              <a:alpha val="52000"/>
            </a:srgbClr>
          </a:solidFill>
          <a:ln w="12700">
            <a:solidFill>
              <a:srgbClr val="0E9F6E">
                <a:alpha val="52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208008" y="4480560"/>
            <a:ext cx="347472" cy="1188720"/>
          </a:xfrm>
          <a:prstGeom prst="roundRect">
            <a:avLst>
              <a:gd name="adj" fmla="val 15789"/>
            </a:avLst>
          </a:prstGeom>
          <a:solidFill>
            <a:srgbClr val="0E9F6E">
              <a:alpha val="59000"/>
            </a:srgbClr>
          </a:solidFill>
          <a:ln w="12700">
            <a:solidFill>
              <a:srgbClr val="0E9F6E">
                <a:alpha val="59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720072" y="3657600"/>
            <a:ext cx="347472" cy="2011680"/>
          </a:xfrm>
          <a:prstGeom prst="roundRect">
            <a:avLst>
              <a:gd name="adj" fmla="val 15789"/>
            </a:avLst>
          </a:prstGeom>
          <a:solidFill>
            <a:srgbClr val="0E9F6E">
              <a:alpha val="66000"/>
            </a:srgbClr>
          </a:solidFill>
          <a:ln w="12700">
            <a:solidFill>
              <a:srgbClr val="0E9F6E">
                <a:alpha val="66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232136" y="3931920"/>
            <a:ext cx="347472" cy="1737360"/>
          </a:xfrm>
          <a:prstGeom prst="roundRect">
            <a:avLst>
              <a:gd name="adj" fmla="val 15789"/>
            </a:avLst>
          </a:prstGeom>
          <a:solidFill>
            <a:srgbClr val="0E9F6E">
              <a:alpha val="73000"/>
            </a:srgbClr>
          </a:solidFill>
          <a:ln w="12700">
            <a:solidFill>
              <a:srgbClr val="0E9F6E">
                <a:alpha val="73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744200" y="3017520"/>
            <a:ext cx="347472" cy="2651760"/>
          </a:xfrm>
          <a:prstGeom prst="roundRect">
            <a:avLst>
              <a:gd name="adj" fmla="val 15789"/>
            </a:avLst>
          </a:prstGeom>
          <a:solidFill>
            <a:srgbClr val="0E9F6E">
              <a:alpha val="80000"/>
            </a:srgbClr>
          </a:solidFill>
          <a:ln w="12700">
            <a:solidFill>
              <a:srgbClr val="0E9F6E">
                <a:alpha val="80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256264" y="2377440"/>
            <a:ext cx="347472" cy="3291840"/>
          </a:xfrm>
          <a:prstGeom prst="roundRect">
            <a:avLst>
              <a:gd name="adj" fmla="val 15789"/>
            </a:avLst>
          </a:prstGeom>
          <a:solidFill>
            <a:srgbClr val="0E9F6E">
              <a:alpha val="87000"/>
            </a:srgbClr>
          </a:solidFill>
          <a:ln w="12700">
            <a:solidFill>
              <a:srgbClr val="0E9F6E">
                <a:alpha val="87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046720" y="5760720"/>
            <a:ext cx="3657600" cy="0"/>
          </a:xfrm>
          <a:prstGeom prst="line">
            <a:avLst/>
          </a:prstGeom>
          <a:noFill/>
          <a:ln w="12700">
            <a:solidFill>
              <a:srgbClr val="3A556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744200" y="1188720"/>
            <a:ext cx="914400" cy="914400"/>
          </a:xfrm>
          <a:prstGeom prst="ellipse">
            <a:avLst/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81944" y="1426464"/>
            <a:ext cx="438912" cy="43891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E9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·  PROBLEM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F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Investors see returns, but rarely the risk behind them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Data Architecture  |  Stock Market &amp; Mutual Fund Risk Analytics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183112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783080"/>
            <a:ext cx="4754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B1F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investors pick a fund by last year's return alone.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926080"/>
            <a:ext cx="4572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Risk, company debt, portfolio churn and realistic return ranges are scattered across AMFI, NSE, BSE and annual reports, and are never brought together in one place.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48640" y="4800600"/>
            <a:ext cx="4572000" cy="1234440"/>
          </a:xfrm>
          <a:prstGeom prst="roundRect">
            <a:avLst>
              <a:gd name="adj" fmla="val 8889"/>
            </a:avLst>
          </a:prstGeom>
          <a:solidFill>
            <a:srgbClr val="E6F5EE"/>
          </a:solidFill>
          <a:ln w="12700">
            <a:solidFill>
              <a:srgbClr val="E6F5E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4937760"/>
            <a:ext cx="4160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answer: one big-data pipeline that turns 10 years of raw market data into risk scores, return ranges and tested forecasts.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897880" y="1783080"/>
            <a:ext cx="658368" cy="658368"/>
          </a:xfrm>
          <a:prstGeom prst="ellipse">
            <a:avLst/>
          </a:prstGeom>
          <a:solidFill>
            <a:srgbClr val="0E9F6E"/>
          </a:solidFill>
          <a:ln w="12700">
            <a:solidFill>
              <a:srgbClr val="0E9F6E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69056" y="1954256"/>
            <a:ext cx="316017" cy="316017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766560" y="1764792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Scattered data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6766560" y="2130552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NAVs, prices, fundamentals and fund flows sit in different sources and formats.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5897880" y="2862072"/>
            <a:ext cx="658368" cy="65836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69056" y="3033248"/>
            <a:ext cx="316017" cy="316017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6766560" y="2843784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is invisible</a:t>
            </a:r>
            <a:endParaRPr lang="en-US" sz="1700" dirty="0"/>
          </a:p>
        </p:txBody>
      </p:sp>
      <p:sp>
        <p:nvSpPr>
          <p:cNvPr id="17" name="Text 13"/>
          <p:cNvSpPr txBox="1"/>
          <p:nvPr/>
        </p:nvSpPr>
        <p:spPr>
          <a:xfrm>
            <a:off x="6766560" y="3209544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tables rarely show drawdown, volatility or downside risk.</a:t>
            </a:r>
            <a:endParaRPr lang="en-US" sz="1400" dirty="0"/>
          </a:p>
        </p:txBody>
      </p:sp>
      <p:sp>
        <p:nvSpPr>
          <p:cNvPr id="18" name="Shape 14"/>
          <p:cNvSpPr/>
          <p:nvPr/>
        </p:nvSpPr>
        <p:spPr>
          <a:xfrm>
            <a:off x="5897880" y="3941064"/>
            <a:ext cx="658368" cy="658368"/>
          </a:xfrm>
          <a:prstGeom prst="ellipse">
            <a:avLst/>
          </a:prstGeom>
          <a:solidFill>
            <a:srgbClr val="0E9F6E"/>
          </a:solidFill>
          <a:ln w="12700">
            <a:solidFill>
              <a:srgbClr val="0E9F6E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69056" y="4112240"/>
            <a:ext cx="316017" cy="316017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6766560" y="3922776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“Hold longer” is only advice</a:t>
            </a:r>
            <a:endParaRPr lang="en-US" sz="1700" dirty="0"/>
          </a:p>
        </p:txBody>
      </p:sp>
      <p:sp>
        <p:nvSpPr>
          <p:cNvPr id="21" name="Text 16"/>
          <p:cNvSpPr txBox="1"/>
          <p:nvPr/>
        </p:nvSpPr>
        <p:spPr>
          <a:xfrm>
            <a:off x="6766560" y="4288536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Long-term investing is recommended but seldom proven with data.</a:t>
            </a:r>
            <a:endParaRPr lang="en-US" sz="1400" dirty="0"/>
          </a:p>
        </p:txBody>
      </p:sp>
      <p:sp>
        <p:nvSpPr>
          <p:cNvPr id="22" name="Shape 17"/>
          <p:cNvSpPr/>
          <p:nvPr/>
        </p:nvSpPr>
        <p:spPr>
          <a:xfrm>
            <a:off x="5897880" y="5020056"/>
            <a:ext cx="658368" cy="658368"/>
          </a:xfrm>
          <a:prstGeom prst="ellipse">
            <a:avLst/>
          </a:prstGeom>
          <a:solidFill>
            <a:srgbClr val="0E9F6E"/>
          </a:solidFill>
          <a:ln w="12700">
            <a:solidFill>
              <a:srgbClr val="0E9F6E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69056" y="5191232"/>
            <a:ext cx="316017" cy="316017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6766560" y="5001768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fair model comparison</a:t>
            </a:r>
            <a:endParaRPr lang="en-US" sz="1700" dirty="0"/>
          </a:p>
        </p:txBody>
      </p:sp>
      <p:sp>
        <p:nvSpPr>
          <p:cNvPr id="25" name="Text 19"/>
          <p:cNvSpPr txBox="1"/>
          <p:nvPr/>
        </p:nvSpPr>
        <p:spPr>
          <a:xfrm>
            <a:off x="6766560" y="5367528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Forecasts are published without testing which model actually performs best.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E9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·  OBJECTIVES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F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platform will deliver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Data Architecture  |  Stock Market &amp; Mutual Fund Risk Analytics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183112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F2F6F8"/>
          </a:solidFill>
          <a:ln w="12700">
            <a:solidFill>
              <a:srgbClr val="F2F6F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965960"/>
            <a:ext cx="566928" cy="566928"/>
          </a:xfrm>
          <a:prstGeom prst="ellipse">
            <a:avLst/>
          </a:prstGeom>
          <a:solidFill>
            <a:srgbClr val="0E9F6E"/>
          </a:solidFill>
          <a:ln w="12700">
            <a:solidFill>
              <a:srgbClr val="0E9F6E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0361" y="2113361"/>
            <a:ext cx="272125" cy="272125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22960" y="26517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analytics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301752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Absolute return, CAGR, rolling 1/3/5-year returns and SIP XIRR for every fund, index and stock.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334256" y="169164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F2F6F8"/>
          </a:solidFill>
          <a:ln w="12700">
            <a:solidFill>
              <a:srgbClr val="F2F6F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608576" y="1965960"/>
            <a:ext cx="566928" cy="566928"/>
          </a:xfrm>
          <a:prstGeom prst="ellipse">
            <a:avLst/>
          </a:prstGeom>
          <a:solidFill>
            <a:srgbClr val="0E9F6E"/>
          </a:solidFill>
          <a:ln w="12700">
            <a:solidFill>
              <a:srgbClr val="0E9F6E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5977" y="2113361"/>
            <a:ext cx="272125" cy="272125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4608576" y="26517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score (0–100)</a:t>
            </a:r>
            <a:endParaRPr lang="en-US" sz="1700" dirty="0"/>
          </a:p>
        </p:txBody>
      </p:sp>
      <p:sp>
        <p:nvSpPr>
          <p:cNvPr id="15" name="Text 11"/>
          <p:cNvSpPr txBox="1"/>
          <p:nvPr/>
        </p:nvSpPr>
        <p:spPr>
          <a:xfrm>
            <a:off x="4608576" y="301752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explainable composite score from volatility, drawdown, VaR, beta and debt.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8119872" y="169164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F2F6F8"/>
          </a:solidFill>
          <a:ln w="12700">
            <a:solidFill>
              <a:srgbClr val="F2F6F8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8394192" y="1965960"/>
            <a:ext cx="566928" cy="566928"/>
          </a:xfrm>
          <a:prstGeom prst="ellipse">
            <a:avLst/>
          </a:prstGeom>
          <a:solidFill>
            <a:srgbClr val="0E9F6E"/>
          </a:solidFill>
          <a:ln w="12700">
            <a:solidFill>
              <a:srgbClr val="0E9F6E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1593" y="2113361"/>
            <a:ext cx="272125" cy="272125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8394192" y="26517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prediction</a:t>
            </a:r>
            <a:endParaRPr lang="en-US" sz="1700" dirty="0"/>
          </a:p>
        </p:txBody>
      </p:sp>
      <p:sp>
        <p:nvSpPr>
          <p:cNvPr id="20" name="Text 15"/>
          <p:cNvSpPr txBox="1"/>
          <p:nvPr/>
        </p:nvSpPr>
        <p:spPr>
          <a:xfrm>
            <a:off x="8394192" y="301752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learning that predicts next quarter's risk band: Low, Medium or High.</a:t>
            </a:r>
            <a:endParaRPr lang="en-US" sz="1300" dirty="0"/>
          </a:p>
        </p:txBody>
      </p:sp>
      <p:sp>
        <p:nvSpPr>
          <p:cNvPr id="21" name="Shape 16"/>
          <p:cNvSpPr/>
          <p:nvPr/>
        </p:nvSpPr>
        <p:spPr>
          <a:xfrm>
            <a:off x="548640" y="402336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F2F6F8"/>
          </a:solidFill>
          <a:ln w="12700">
            <a:solidFill>
              <a:srgbClr val="F2F6F8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822960" y="4297680"/>
            <a:ext cx="566928" cy="566928"/>
          </a:xfrm>
          <a:prstGeom prst="ellipse">
            <a:avLst/>
          </a:prstGeom>
          <a:solidFill>
            <a:srgbClr val="0E9F6E"/>
          </a:solidFill>
          <a:ln w="12700">
            <a:solidFill>
              <a:srgbClr val="0E9F6E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361" y="4445081"/>
            <a:ext cx="272125" cy="272125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822960" y="49834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Churn &amp; debt health</a:t>
            </a:r>
            <a:endParaRPr lang="en-US" sz="1700" dirty="0"/>
          </a:p>
        </p:txBody>
      </p:sp>
      <p:sp>
        <p:nvSpPr>
          <p:cNvPr id="25" name="Text 19"/>
          <p:cNvSpPr txBox="1"/>
          <p:nvPr/>
        </p:nvSpPr>
        <p:spPr>
          <a:xfrm>
            <a:off x="822960" y="53492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Nifty 50 churn, fund turnover, investor flows and company debt-to-equity trends.</a:t>
            </a:r>
            <a:endParaRPr lang="en-US" sz="1300" dirty="0"/>
          </a:p>
        </p:txBody>
      </p:sp>
      <p:sp>
        <p:nvSpPr>
          <p:cNvPr id="26" name="Shape 20"/>
          <p:cNvSpPr/>
          <p:nvPr/>
        </p:nvSpPr>
        <p:spPr>
          <a:xfrm>
            <a:off x="4334256" y="402336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F2F6F8"/>
          </a:solidFill>
          <a:ln w="12700">
            <a:solidFill>
              <a:srgbClr val="F2F6F8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4608576" y="4297680"/>
            <a:ext cx="566928" cy="566928"/>
          </a:xfrm>
          <a:prstGeom prst="ellipse">
            <a:avLst/>
          </a:prstGeom>
          <a:solidFill>
            <a:srgbClr val="0E9F6E"/>
          </a:solidFill>
          <a:ln w="12700">
            <a:solidFill>
              <a:srgbClr val="0E9F6E"/>
            </a:solidFill>
            <a:prstDash val="solid"/>
          </a:ln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5977" y="4445081"/>
            <a:ext cx="272125" cy="272125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4608576" y="49834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Holding-period evidence</a:t>
            </a:r>
            <a:endParaRPr lang="en-US" sz="1700" dirty="0"/>
          </a:p>
        </p:txBody>
      </p:sp>
      <p:sp>
        <p:nvSpPr>
          <p:cNvPr id="30" name="Text 23"/>
          <p:cNvSpPr txBox="1"/>
          <p:nvPr/>
        </p:nvSpPr>
        <p:spPr>
          <a:xfrm>
            <a:off x="4608576" y="53492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Probability of gain and expected return range for 1, 3, 5, 7 and 10-year holds.</a:t>
            </a:r>
            <a:endParaRPr lang="en-US" sz="1300" dirty="0"/>
          </a:p>
        </p:txBody>
      </p:sp>
      <p:sp>
        <p:nvSpPr>
          <p:cNvPr id="31" name="Shape 24"/>
          <p:cNvSpPr/>
          <p:nvPr/>
        </p:nvSpPr>
        <p:spPr>
          <a:xfrm>
            <a:off x="8119872" y="402336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F2F6F8"/>
          </a:solidFill>
          <a:ln w="12700">
            <a:solidFill>
              <a:srgbClr val="F2F6F8"/>
            </a:solidFill>
            <a:prstDash val="solid"/>
          </a:ln>
        </p:spPr>
      </p:sp>
      <p:sp>
        <p:nvSpPr>
          <p:cNvPr id="32" name="Shape 25"/>
          <p:cNvSpPr/>
          <p:nvPr/>
        </p:nvSpPr>
        <p:spPr>
          <a:xfrm>
            <a:off x="8394192" y="4297680"/>
            <a:ext cx="566928" cy="566928"/>
          </a:xfrm>
          <a:prstGeom prst="ellipse">
            <a:avLst/>
          </a:prstGeom>
          <a:solidFill>
            <a:srgbClr val="0E9F6E"/>
          </a:solidFill>
          <a:ln w="12700">
            <a:solidFill>
              <a:srgbClr val="0E9F6E"/>
            </a:solidFill>
            <a:prstDash val="solid"/>
          </a:ln>
        </p:spPr>
      </p:sp>
      <p:pic>
        <p:nvPicPr>
          <p:cNvPr id="3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41593" y="4445081"/>
            <a:ext cx="272125" cy="272125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8394192" y="49834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comparison</a:t>
            </a:r>
            <a:endParaRPr lang="en-US" sz="1700" dirty="0"/>
          </a:p>
        </p:txBody>
      </p:sp>
      <p:sp>
        <p:nvSpPr>
          <p:cNvPr id="35" name="Text 27"/>
          <p:cNvSpPr txBox="1"/>
          <p:nvPr/>
        </p:nvSpPr>
        <p:spPr>
          <a:xfrm>
            <a:off x="8394192" y="53492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Naive, ARIMA, Prophet, Random Forest/GBT and LSTM tested on the same unseen data.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E9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·  SCOPE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F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levels of market data, 10 years deep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Data Architecture  |  Stock Market &amp; Mutual Fund Risk Analytics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183112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3520440" cy="3246120"/>
          </a:xfrm>
          <a:prstGeom prst="roundRect">
            <a:avLst>
              <a:gd name="adj" fmla="val 3380"/>
            </a:avLst>
          </a:prstGeom>
          <a:solidFill>
            <a:srgbClr val="F2F6F8"/>
          </a:solidFill>
          <a:ln w="12700">
            <a:solidFill>
              <a:srgbClr val="F2F6F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920240"/>
            <a:ext cx="566928" cy="566928"/>
          </a:xfrm>
          <a:prstGeom prst="ellipse">
            <a:avLst/>
          </a:prstGeom>
          <a:solidFill>
            <a:srgbClr val="0E9F6E"/>
          </a:solidFill>
          <a:ln w="12700">
            <a:solidFill>
              <a:srgbClr val="0E9F6E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0361" y="2067641"/>
            <a:ext cx="272125" cy="272125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554480" y="1993392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indices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2697480"/>
            <a:ext cx="30632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Nifty 50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Sensex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Nifty Next 50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Nifty Midcap 150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4206240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1F6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Benchmarks for beta, alpha and market trend.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334256" y="1645920"/>
            <a:ext cx="3520440" cy="3246120"/>
          </a:xfrm>
          <a:prstGeom prst="roundRect">
            <a:avLst>
              <a:gd name="adj" fmla="val 3380"/>
            </a:avLst>
          </a:prstGeom>
          <a:solidFill>
            <a:srgbClr val="F2F6F8"/>
          </a:solidFill>
          <a:ln w="12700">
            <a:solidFill>
              <a:srgbClr val="F2F6F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608576" y="1920240"/>
            <a:ext cx="566928" cy="566928"/>
          </a:xfrm>
          <a:prstGeom prst="ellipse">
            <a:avLst/>
          </a:prstGeom>
          <a:solidFill>
            <a:srgbClr val="0E9F6E"/>
          </a:solidFill>
          <a:ln w="12700">
            <a:solidFill>
              <a:srgbClr val="0E9F6E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5977" y="2067641"/>
            <a:ext cx="272125" cy="272125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5340096" y="1993392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Mutual fund schemes</a:t>
            </a:r>
            <a:endParaRPr lang="en-US" sz="1800" dirty="0"/>
          </a:p>
        </p:txBody>
      </p:sp>
      <p:sp>
        <p:nvSpPr>
          <p:cNvPr id="16" name="Text 12"/>
          <p:cNvSpPr txBox="1"/>
          <p:nvPr/>
        </p:nvSpPr>
        <p:spPr>
          <a:xfrm>
            <a:off x="4608576" y="2697480"/>
            <a:ext cx="30632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30–50 top-performing schemes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Large-cap and flexi-cap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Mid-cap funds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 funds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4608576" y="4206240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1F6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Direct-plan NAV history from AMFI.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8119872" y="1645920"/>
            <a:ext cx="3520440" cy="3246120"/>
          </a:xfrm>
          <a:prstGeom prst="roundRect">
            <a:avLst>
              <a:gd name="adj" fmla="val 3380"/>
            </a:avLst>
          </a:prstGeom>
          <a:solidFill>
            <a:srgbClr val="F2F6F8"/>
          </a:solidFill>
          <a:ln w="12700">
            <a:solidFill>
              <a:srgbClr val="F2F6F8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8394192" y="1920240"/>
            <a:ext cx="566928" cy="566928"/>
          </a:xfrm>
          <a:prstGeom prst="ellipse">
            <a:avLst/>
          </a:prstGeom>
          <a:solidFill>
            <a:srgbClr val="0E9F6E"/>
          </a:solidFill>
          <a:ln w="12700">
            <a:solidFill>
              <a:srgbClr val="0E9F6E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1593" y="2067641"/>
            <a:ext cx="272125" cy="272125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9125712" y="1993392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 stocks</a:t>
            </a:r>
            <a:endParaRPr lang="en-US" sz="1800" dirty="0"/>
          </a:p>
        </p:txBody>
      </p:sp>
      <p:sp>
        <p:nvSpPr>
          <p:cNvPr id="22" name="Text 17"/>
          <p:cNvSpPr txBox="1"/>
          <p:nvPr/>
        </p:nvSpPr>
        <p:spPr>
          <a:xfrm>
            <a:off x="8394192" y="2697480"/>
            <a:ext cx="30632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Nifty 50 constituents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prices and volumes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Debt, equity, interest cover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 entry and exit dates</a:t>
            </a:r>
            <a:endParaRPr lang="en-US" sz="1400" dirty="0"/>
          </a:p>
        </p:txBody>
      </p:sp>
      <p:sp>
        <p:nvSpPr>
          <p:cNvPr id="23" name="Text 18"/>
          <p:cNvSpPr txBox="1"/>
          <p:nvPr/>
        </p:nvSpPr>
        <p:spPr>
          <a:xfrm>
            <a:off x="8394192" y="4206240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1F6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Basis for debt health and index churn.</a:t>
            </a:r>
            <a:endParaRPr lang="en-US" sz="1200" dirty="0"/>
          </a:p>
        </p:txBody>
      </p:sp>
      <p:sp>
        <p:nvSpPr>
          <p:cNvPr id="24" name="Text 19"/>
          <p:cNvSpPr txBox="1"/>
          <p:nvPr/>
        </p:nvSpPr>
        <p:spPr>
          <a:xfrm>
            <a:off x="548640" y="512064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E9F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yrs</a:t>
            </a:r>
            <a:endParaRPr lang="en-US" sz="3200" dirty="0"/>
          </a:p>
        </p:txBody>
      </p:sp>
      <p:sp>
        <p:nvSpPr>
          <p:cNvPr id="25" name="Text 20"/>
          <p:cNvSpPr txBox="1"/>
          <p:nvPr/>
        </p:nvSpPr>
        <p:spPr>
          <a:xfrm>
            <a:off x="548640" y="571500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daily history (2016–2026)</a:t>
            </a:r>
            <a:endParaRPr lang="en-US" sz="1300" dirty="0"/>
          </a:p>
        </p:txBody>
      </p:sp>
      <p:sp>
        <p:nvSpPr>
          <p:cNvPr id="26" name="Text 21"/>
          <p:cNvSpPr txBox="1"/>
          <p:nvPr/>
        </p:nvSpPr>
        <p:spPr>
          <a:xfrm>
            <a:off x="3364992" y="512064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E9F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~2,500</a:t>
            </a:r>
            <a:endParaRPr lang="en-US" sz="3200" dirty="0"/>
          </a:p>
        </p:txBody>
      </p:sp>
      <p:sp>
        <p:nvSpPr>
          <p:cNvPr id="27" name="Text 22"/>
          <p:cNvSpPr txBox="1"/>
          <p:nvPr/>
        </p:nvSpPr>
        <p:spPr>
          <a:xfrm>
            <a:off x="3364992" y="571500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trading days per series</a:t>
            </a:r>
            <a:endParaRPr lang="en-US" sz="1300" dirty="0"/>
          </a:p>
        </p:txBody>
      </p:sp>
      <p:sp>
        <p:nvSpPr>
          <p:cNvPr id="28" name="Text 23"/>
          <p:cNvSpPr txBox="1"/>
          <p:nvPr/>
        </p:nvSpPr>
        <p:spPr>
          <a:xfrm>
            <a:off x="6181344" y="512064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E9F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3200" dirty="0"/>
          </a:p>
        </p:txBody>
      </p:sp>
      <p:sp>
        <p:nvSpPr>
          <p:cNvPr id="29" name="Text 24"/>
          <p:cNvSpPr txBox="1"/>
          <p:nvPr/>
        </p:nvSpPr>
        <p:spPr>
          <a:xfrm>
            <a:off x="6181344" y="571500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 levels analysed</a:t>
            </a:r>
            <a:endParaRPr lang="en-US" sz="1300" dirty="0"/>
          </a:p>
        </p:txBody>
      </p:sp>
      <p:sp>
        <p:nvSpPr>
          <p:cNvPr id="30" name="Text 25"/>
          <p:cNvSpPr txBox="1"/>
          <p:nvPr/>
        </p:nvSpPr>
        <p:spPr>
          <a:xfrm>
            <a:off x="8997696" y="512064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E9F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Millions</a:t>
            </a:r>
            <a:endParaRPr lang="en-US" sz="3200" dirty="0"/>
          </a:p>
        </p:txBody>
      </p:sp>
      <p:sp>
        <p:nvSpPr>
          <p:cNvPr id="31" name="Text 26"/>
          <p:cNvSpPr txBox="1"/>
          <p:nvPr/>
        </p:nvSpPr>
        <p:spPr>
          <a:xfrm>
            <a:off x="8997696" y="571500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rows from full AMFI + NSE archives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E9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·  BIG DATA CHARACTERISTICS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F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this is a Big Data problem: the 5 Vs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Data Architecture  |  Stock Market &amp; Mutual Fund Risk Analytics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183112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2075688" cy="3017520"/>
          </a:xfrm>
          <a:prstGeom prst="roundRect">
            <a:avLst>
              <a:gd name="adj" fmla="val 5286"/>
            </a:avLst>
          </a:prstGeom>
          <a:solidFill>
            <a:srgbClr val="F2F6F8"/>
          </a:solidFill>
          <a:ln w="12700">
            <a:solidFill>
              <a:srgbClr val="F2F6F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77240" y="1947672"/>
            <a:ext cx="566928" cy="566928"/>
          </a:xfrm>
          <a:prstGeom prst="ellipse">
            <a:avLst/>
          </a:prstGeom>
          <a:solidFill>
            <a:srgbClr val="0E9F6E"/>
          </a:solidFill>
          <a:ln w="12700">
            <a:solidFill>
              <a:srgbClr val="0E9F6E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4641" y="2095073"/>
            <a:ext cx="272125" cy="272125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777240" y="265176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3063240"/>
            <a:ext cx="1691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AMFI NAV history for all schemes plus NSE daily bhavcopy for all equities: millions of rows.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2807208" y="1691640"/>
            <a:ext cx="2075688" cy="3017520"/>
          </a:xfrm>
          <a:prstGeom prst="roundRect">
            <a:avLst>
              <a:gd name="adj" fmla="val 5286"/>
            </a:avLst>
          </a:prstGeom>
          <a:solidFill>
            <a:srgbClr val="F2F6F8"/>
          </a:solidFill>
          <a:ln w="12700">
            <a:solidFill>
              <a:srgbClr val="F2F6F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035808" y="1947672"/>
            <a:ext cx="566928" cy="566928"/>
          </a:xfrm>
          <a:prstGeom prst="ellipse">
            <a:avLst/>
          </a:prstGeom>
          <a:solidFill>
            <a:srgbClr val="0E9F6E"/>
          </a:solidFill>
          <a:ln w="12700">
            <a:solidFill>
              <a:srgbClr val="0E9F6E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3209" y="2095073"/>
            <a:ext cx="272125" cy="272125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3035808" y="265176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Velocity</a:t>
            </a:r>
            <a:endParaRPr lang="en-US" sz="1800" dirty="0"/>
          </a:p>
        </p:txBody>
      </p:sp>
      <p:sp>
        <p:nvSpPr>
          <p:cNvPr id="15" name="Text 11"/>
          <p:cNvSpPr txBox="1"/>
          <p:nvPr/>
        </p:nvSpPr>
        <p:spPr>
          <a:xfrm>
            <a:off x="3035808" y="3063240"/>
            <a:ext cx="1691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NAVs and prices change every trading day; the pipeline loads new data incrementally on a schedule.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5065776" y="1691640"/>
            <a:ext cx="2075688" cy="3017520"/>
          </a:xfrm>
          <a:prstGeom prst="roundRect">
            <a:avLst>
              <a:gd name="adj" fmla="val 5286"/>
            </a:avLst>
          </a:prstGeom>
          <a:solidFill>
            <a:srgbClr val="F2F6F8"/>
          </a:solidFill>
          <a:ln w="12700">
            <a:solidFill>
              <a:srgbClr val="F2F6F8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5294376" y="1947672"/>
            <a:ext cx="566928" cy="566928"/>
          </a:xfrm>
          <a:prstGeom prst="ellipse">
            <a:avLst/>
          </a:prstGeom>
          <a:solidFill>
            <a:srgbClr val="0E9F6E"/>
          </a:solidFill>
          <a:ln w="12700">
            <a:solidFill>
              <a:srgbClr val="0E9F6E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1777" y="2095073"/>
            <a:ext cx="272125" cy="272125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5294376" y="265176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Variety</a:t>
            </a:r>
            <a:endParaRPr lang="en-US" sz="1800" dirty="0"/>
          </a:p>
        </p:txBody>
      </p:sp>
      <p:sp>
        <p:nvSpPr>
          <p:cNvPr id="20" name="Text 15"/>
          <p:cNvSpPr txBox="1"/>
          <p:nvPr/>
        </p:nvSpPr>
        <p:spPr>
          <a:xfrm>
            <a:off x="5294376" y="3063240"/>
            <a:ext cx="1691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 bhavcopies, JSON APIs, Excel factsheets and PDF annual-report financials.</a:t>
            </a:r>
            <a:endParaRPr lang="en-US" sz="1250" dirty="0"/>
          </a:p>
        </p:txBody>
      </p:sp>
      <p:sp>
        <p:nvSpPr>
          <p:cNvPr id="21" name="Shape 16"/>
          <p:cNvSpPr/>
          <p:nvPr/>
        </p:nvSpPr>
        <p:spPr>
          <a:xfrm>
            <a:off x="7324344" y="1691640"/>
            <a:ext cx="2075688" cy="3017520"/>
          </a:xfrm>
          <a:prstGeom prst="roundRect">
            <a:avLst>
              <a:gd name="adj" fmla="val 5286"/>
            </a:avLst>
          </a:prstGeom>
          <a:solidFill>
            <a:srgbClr val="F2F6F8"/>
          </a:solidFill>
          <a:ln w="12700">
            <a:solidFill>
              <a:srgbClr val="F2F6F8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7552944" y="1947672"/>
            <a:ext cx="566928" cy="566928"/>
          </a:xfrm>
          <a:prstGeom prst="ellipse">
            <a:avLst/>
          </a:prstGeom>
          <a:solidFill>
            <a:srgbClr val="0E9F6E"/>
          </a:solidFill>
          <a:ln w="12700">
            <a:solidFill>
              <a:srgbClr val="0E9F6E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00345" y="2095073"/>
            <a:ext cx="272125" cy="272125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7552944" y="265176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Veracity</a:t>
            </a:r>
            <a:endParaRPr lang="en-US" sz="1800" dirty="0"/>
          </a:p>
        </p:txBody>
      </p:sp>
      <p:sp>
        <p:nvSpPr>
          <p:cNvPr id="25" name="Text 19"/>
          <p:cNvSpPr txBox="1"/>
          <p:nvPr/>
        </p:nvSpPr>
        <p:spPr>
          <a:xfrm>
            <a:off x="7552944" y="3063240"/>
            <a:ext cx="1691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days, scheme mergers, stock splits and bonus issues must be cleaned and adjusted.</a:t>
            </a:r>
            <a:endParaRPr lang="en-US" sz="1250" dirty="0"/>
          </a:p>
        </p:txBody>
      </p:sp>
      <p:sp>
        <p:nvSpPr>
          <p:cNvPr id="26" name="Shape 20"/>
          <p:cNvSpPr/>
          <p:nvPr/>
        </p:nvSpPr>
        <p:spPr>
          <a:xfrm>
            <a:off x="9582912" y="1691640"/>
            <a:ext cx="2075688" cy="3017520"/>
          </a:xfrm>
          <a:prstGeom prst="roundRect">
            <a:avLst>
              <a:gd name="adj" fmla="val 5286"/>
            </a:avLst>
          </a:prstGeom>
          <a:solidFill>
            <a:srgbClr val="F2F6F8"/>
          </a:solidFill>
          <a:ln w="12700">
            <a:solidFill>
              <a:srgbClr val="F2F6F8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9811512" y="1947672"/>
            <a:ext cx="566928" cy="566928"/>
          </a:xfrm>
          <a:prstGeom prst="ellipse">
            <a:avLst/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58913" y="2095073"/>
            <a:ext cx="272125" cy="272125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9811512" y="265176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</a:t>
            </a:r>
            <a:endParaRPr lang="en-US" sz="1800" dirty="0"/>
          </a:p>
        </p:txBody>
      </p:sp>
      <p:sp>
        <p:nvSpPr>
          <p:cNvPr id="30" name="Text 23"/>
          <p:cNvSpPr txBox="1"/>
          <p:nvPr/>
        </p:nvSpPr>
        <p:spPr>
          <a:xfrm>
            <a:off x="9811512" y="3063240"/>
            <a:ext cx="1691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prices become risk scores, return ranges and forecasts investors can act on.</a:t>
            </a:r>
            <a:endParaRPr lang="en-US" sz="1250" dirty="0"/>
          </a:p>
        </p:txBody>
      </p:sp>
      <p:sp>
        <p:nvSpPr>
          <p:cNvPr id="31" name="Shape 24"/>
          <p:cNvSpPr/>
          <p:nvPr/>
        </p:nvSpPr>
        <p:spPr>
          <a:xfrm>
            <a:off x="548640" y="4983480"/>
            <a:ext cx="11091672" cy="1097280"/>
          </a:xfrm>
          <a:prstGeom prst="roundRect">
            <a:avLst>
              <a:gd name="adj" fmla="val 10000"/>
            </a:avLst>
          </a:prstGeom>
          <a:solidFill>
            <a:srgbClr val="0B1F2A"/>
          </a:solidFill>
          <a:ln w="12700">
            <a:solidFill>
              <a:srgbClr val="0B1F2A"/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868680" y="50749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 broadly, analyse deeply.  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 processes the full AMFI and NSE archives; the curated set of indices, funds and stocks then gets the detailed risk and machine-learning analysis.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E9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·  DATA SOURCES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F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sources and ingestion plan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Data Architecture  |  Stock Market &amp; Mutual Fund Risk Analytics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183112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1109167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4206240"/>
                <a:gridCol w="1828800"/>
                <a:gridCol w="1764792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Refresh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2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B1F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Mutual fund NAV history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B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AMFI NAV archive, mfapi.in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B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TXT / JSON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B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Daily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B1F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Index history (Nifty 50, Sensex, …)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B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NSE Indices, yfinance (^NSEI, ^BSESN)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B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CSV / API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B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Daily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B1F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Stock prices and volumes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B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NSE bhavcopy archive, yfinance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B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CSV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B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Daily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B1F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Company fundamentals and debt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B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reports, Screener.in exports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B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Excel / PDF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B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Yearly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B1F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Index constituent changes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B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NSE index rebalancing notices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B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PDF / HTML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B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Semi-annual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B1F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Category-wise fund flows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B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AMFI monthly reports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B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Excel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B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Monthly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B1F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Risk-free rate (for Sharpe)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B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RBI 91-day T-bill yield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B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CSV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B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Weekly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5806440"/>
            <a:ext cx="384048" cy="384048"/>
          </a:xfrm>
          <a:prstGeom prst="ellipse">
            <a:avLst/>
          </a:prstGeom>
          <a:solidFill>
            <a:srgbClr val="E6F5EE"/>
          </a:solidFill>
          <a:ln w="12700">
            <a:solidFill>
              <a:srgbClr val="E6F5EE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8492" y="5906292"/>
            <a:ext cx="184343" cy="184343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051560" y="5806440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sources are free and public. Raw files land unchanged in the Bronze layer, so every metric can be traced back to its source.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E9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·  ARCHITECTURE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F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End-to-end system architecture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Data Architecture  |  Stock Market &amp; Mutual Fund Risk Analytics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183112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1344168" cy="2697480"/>
          </a:xfrm>
          <a:prstGeom prst="roundRect">
            <a:avLst>
              <a:gd name="adj" fmla="val 8163"/>
            </a:avLst>
          </a:prstGeom>
          <a:solidFill>
            <a:srgbClr val="F2F6F8"/>
          </a:solidFill>
          <a:ln w="12700">
            <a:solidFill>
              <a:srgbClr val="F2F6F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46404" y="1920240"/>
            <a:ext cx="548640" cy="548640"/>
          </a:xfrm>
          <a:prstGeom prst="ellipse">
            <a:avLst/>
          </a:prstGeom>
          <a:solidFill>
            <a:srgbClr val="0E9F6E"/>
          </a:solidFill>
          <a:ln w="12700">
            <a:solidFill>
              <a:srgbClr val="0E9F6E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9050" y="2062886"/>
            <a:ext cx="263347" cy="263347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8640" y="2560320"/>
            <a:ext cx="1344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9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621792" y="2807208"/>
            <a:ext cx="1197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658368" y="3291840"/>
            <a:ext cx="11247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AMFI, NSE, BSE, RBI, annual reports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1929384" y="3040380"/>
            <a:ext cx="210312" cy="0"/>
          </a:xfrm>
          <a:prstGeom prst="line">
            <a:avLst/>
          </a:prstGeom>
          <a:noFill/>
          <a:ln w="25400">
            <a:solidFill>
              <a:srgbClr val="0E9F6E"/>
            </a:solidFill>
            <a:prstDash val="solid"/>
            <a:tailEnd type="triangle"/>
          </a:ln>
        </p:spPr>
      </p:sp>
      <p:sp>
        <p:nvSpPr>
          <p:cNvPr id="13" name="Shape 10"/>
          <p:cNvSpPr/>
          <p:nvPr/>
        </p:nvSpPr>
        <p:spPr>
          <a:xfrm>
            <a:off x="2176272" y="1691640"/>
            <a:ext cx="1344168" cy="2697480"/>
          </a:xfrm>
          <a:prstGeom prst="roundRect">
            <a:avLst>
              <a:gd name="adj" fmla="val 8163"/>
            </a:avLst>
          </a:prstGeom>
          <a:solidFill>
            <a:srgbClr val="F2F6F8"/>
          </a:solidFill>
          <a:ln w="12700">
            <a:solidFill>
              <a:srgbClr val="F2F6F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574036" y="1920240"/>
            <a:ext cx="548640" cy="548640"/>
          </a:xfrm>
          <a:prstGeom prst="ellipse">
            <a:avLst/>
          </a:prstGeom>
          <a:solidFill>
            <a:srgbClr val="0E9F6E"/>
          </a:solidFill>
          <a:ln w="12700">
            <a:solidFill>
              <a:srgbClr val="0E9F6E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6682" y="2062886"/>
            <a:ext cx="263347" cy="263347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2176272" y="2560320"/>
            <a:ext cx="1344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9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17" name="Text 13"/>
          <p:cNvSpPr txBox="1"/>
          <p:nvPr/>
        </p:nvSpPr>
        <p:spPr>
          <a:xfrm>
            <a:off x="2249424" y="2807208"/>
            <a:ext cx="1197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Ingestion</a:t>
            </a:r>
            <a:endParaRPr lang="en-US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2286000" y="3291840"/>
            <a:ext cx="11247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connectors, retries and logging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3557016" y="3040380"/>
            <a:ext cx="210312" cy="0"/>
          </a:xfrm>
          <a:prstGeom prst="line">
            <a:avLst/>
          </a:prstGeom>
          <a:noFill/>
          <a:ln w="25400">
            <a:solidFill>
              <a:srgbClr val="0E9F6E"/>
            </a:solidFill>
            <a:prstDash val="solid"/>
            <a:tailEnd type="triangle"/>
          </a:ln>
        </p:spPr>
      </p:sp>
      <p:sp>
        <p:nvSpPr>
          <p:cNvPr id="20" name="Shape 16"/>
          <p:cNvSpPr/>
          <p:nvPr/>
        </p:nvSpPr>
        <p:spPr>
          <a:xfrm>
            <a:off x="3803904" y="1691640"/>
            <a:ext cx="1344168" cy="2697480"/>
          </a:xfrm>
          <a:prstGeom prst="roundRect">
            <a:avLst>
              <a:gd name="adj" fmla="val 8163"/>
            </a:avLst>
          </a:prstGeom>
          <a:solidFill>
            <a:srgbClr val="0B1F2A"/>
          </a:solidFill>
          <a:ln w="12700">
            <a:solidFill>
              <a:srgbClr val="0B1F2A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4201668" y="1920240"/>
            <a:ext cx="548640" cy="548640"/>
          </a:xfrm>
          <a:prstGeom prst="ellipse">
            <a:avLst/>
          </a:prstGeom>
          <a:solidFill>
            <a:srgbClr val="0E9F6E"/>
          </a:solidFill>
          <a:ln w="12700">
            <a:solidFill>
              <a:srgbClr val="0E9F6E"/>
            </a:solidFill>
            <a:prstDash val="solid"/>
          </a:ln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4314" y="2062886"/>
            <a:ext cx="263347" cy="263347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3803904" y="2560320"/>
            <a:ext cx="1344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24" name="Text 19"/>
          <p:cNvSpPr txBox="1"/>
          <p:nvPr/>
        </p:nvSpPr>
        <p:spPr>
          <a:xfrm>
            <a:off x="3877056" y="2807208"/>
            <a:ext cx="1197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lake</a:t>
            </a:r>
            <a:endParaRPr lang="en-US" sz="1400" dirty="0"/>
          </a:p>
        </p:txBody>
      </p:sp>
      <p:sp>
        <p:nvSpPr>
          <p:cNvPr id="25" name="Text 20"/>
          <p:cNvSpPr txBox="1"/>
          <p:nvPr/>
        </p:nvSpPr>
        <p:spPr>
          <a:xfrm>
            <a:off x="3913632" y="3291840"/>
            <a:ext cx="11247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C7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HDFS / DBFS, Parquet, Bronze → Silver → Gold</a:t>
            </a:r>
            <a:endParaRPr lang="en-US" sz="1100" dirty="0"/>
          </a:p>
        </p:txBody>
      </p:sp>
      <p:sp>
        <p:nvSpPr>
          <p:cNvPr id="26" name="Shape 21"/>
          <p:cNvSpPr/>
          <p:nvPr/>
        </p:nvSpPr>
        <p:spPr>
          <a:xfrm>
            <a:off x="5184648" y="3040380"/>
            <a:ext cx="210312" cy="0"/>
          </a:xfrm>
          <a:prstGeom prst="line">
            <a:avLst/>
          </a:prstGeom>
          <a:noFill/>
          <a:ln w="25400">
            <a:solidFill>
              <a:srgbClr val="0E9F6E"/>
            </a:solidFill>
            <a:prstDash val="solid"/>
            <a:tailEnd type="triangle"/>
          </a:ln>
        </p:spPr>
      </p:sp>
      <p:sp>
        <p:nvSpPr>
          <p:cNvPr id="27" name="Shape 22"/>
          <p:cNvSpPr/>
          <p:nvPr/>
        </p:nvSpPr>
        <p:spPr>
          <a:xfrm>
            <a:off x="5431536" y="1691640"/>
            <a:ext cx="1344168" cy="2697480"/>
          </a:xfrm>
          <a:prstGeom prst="roundRect">
            <a:avLst>
              <a:gd name="adj" fmla="val 8163"/>
            </a:avLst>
          </a:prstGeom>
          <a:solidFill>
            <a:srgbClr val="0B1F2A"/>
          </a:solidFill>
          <a:ln w="12700">
            <a:solidFill>
              <a:srgbClr val="0B1F2A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28" name="Shape 23"/>
          <p:cNvSpPr/>
          <p:nvPr/>
        </p:nvSpPr>
        <p:spPr>
          <a:xfrm>
            <a:off x="5829300" y="1920240"/>
            <a:ext cx="548640" cy="548640"/>
          </a:xfrm>
          <a:prstGeom prst="ellipse">
            <a:avLst/>
          </a:prstGeom>
          <a:solidFill>
            <a:srgbClr val="0E9F6E"/>
          </a:solidFill>
          <a:ln w="12700">
            <a:solidFill>
              <a:srgbClr val="0E9F6E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71946" y="2062886"/>
            <a:ext cx="263347" cy="263347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5431536" y="2560320"/>
            <a:ext cx="1344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31" name="Text 25"/>
          <p:cNvSpPr txBox="1"/>
          <p:nvPr/>
        </p:nvSpPr>
        <p:spPr>
          <a:xfrm>
            <a:off x="5504688" y="2807208"/>
            <a:ext cx="1197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Processing</a:t>
            </a:r>
            <a:endParaRPr lang="en-US" sz="1400" dirty="0"/>
          </a:p>
        </p:txBody>
      </p:sp>
      <p:sp>
        <p:nvSpPr>
          <p:cNvPr id="32" name="Text 26"/>
          <p:cNvSpPr txBox="1"/>
          <p:nvPr/>
        </p:nvSpPr>
        <p:spPr>
          <a:xfrm>
            <a:off x="5541264" y="3291840"/>
            <a:ext cx="11247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C7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Apache Spark: PySpark, Spark SQL, window functions</a:t>
            </a:r>
            <a:endParaRPr lang="en-US" sz="1100" dirty="0"/>
          </a:p>
        </p:txBody>
      </p:sp>
      <p:sp>
        <p:nvSpPr>
          <p:cNvPr id="33" name="Shape 27"/>
          <p:cNvSpPr/>
          <p:nvPr/>
        </p:nvSpPr>
        <p:spPr>
          <a:xfrm>
            <a:off x="6812280" y="3040380"/>
            <a:ext cx="210312" cy="0"/>
          </a:xfrm>
          <a:prstGeom prst="line">
            <a:avLst/>
          </a:prstGeom>
          <a:noFill/>
          <a:ln w="25400">
            <a:solidFill>
              <a:srgbClr val="0E9F6E"/>
            </a:solidFill>
            <a:prstDash val="solid"/>
            <a:tailEnd type="triangle"/>
          </a:ln>
        </p:spPr>
      </p:sp>
      <p:sp>
        <p:nvSpPr>
          <p:cNvPr id="34" name="Shape 28"/>
          <p:cNvSpPr/>
          <p:nvPr/>
        </p:nvSpPr>
        <p:spPr>
          <a:xfrm>
            <a:off x="7059168" y="1691640"/>
            <a:ext cx="1344168" cy="2697480"/>
          </a:xfrm>
          <a:prstGeom prst="roundRect">
            <a:avLst>
              <a:gd name="adj" fmla="val 8163"/>
            </a:avLst>
          </a:prstGeom>
          <a:solidFill>
            <a:srgbClr val="F2F6F8"/>
          </a:solidFill>
          <a:ln w="12700">
            <a:solidFill>
              <a:srgbClr val="F2F6F8"/>
            </a:solidFill>
            <a:prstDash val="solid"/>
          </a:ln>
        </p:spPr>
      </p:sp>
      <p:sp>
        <p:nvSpPr>
          <p:cNvPr id="35" name="Shape 29"/>
          <p:cNvSpPr/>
          <p:nvPr/>
        </p:nvSpPr>
        <p:spPr>
          <a:xfrm>
            <a:off x="7456932" y="1920240"/>
            <a:ext cx="548640" cy="548640"/>
          </a:xfrm>
          <a:prstGeom prst="ellipse">
            <a:avLst/>
          </a:prstGeom>
          <a:solidFill>
            <a:srgbClr val="0E9F6E"/>
          </a:solidFill>
          <a:ln w="12700">
            <a:solidFill>
              <a:srgbClr val="0E9F6E"/>
            </a:solidFill>
            <a:prstDash val="solid"/>
          </a:ln>
        </p:spPr>
      </p:sp>
      <p:pic>
        <p:nvPicPr>
          <p:cNvPr id="3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99578" y="2062886"/>
            <a:ext cx="263347" cy="263347"/>
          </a:xfrm>
          <a:prstGeom prst="rect">
            <a:avLst/>
          </a:prstGeom>
        </p:spPr>
      </p:pic>
      <p:sp>
        <p:nvSpPr>
          <p:cNvPr id="37" name="Text 30"/>
          <p:cNvSpPr txBox="1"/>
          <p:nvPr/>
        </p:nvSpPr>
        <p:spPr>
          <a:xfrm>
            <a:off x="7059168" y="2560320"/>
            <a:ext cx="1344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9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38" name="Text 31"/>
          <p:cNvSpPr txBox="1"/>
          <p:nvPr/>
        </p:nvSpPr>
        <p:spPr>
          <a:xfrm>
            <a:off x="7132320" y="2807208"/>
            <a:ext cx="1197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&amp; ML</a:t>
            </a:r>
            <a:endParaRPr lang="en-US" sz="1400" dirty="0"/>
          </a:p>
        </p:txBody>
      </p:sp>
      <p:sp>
        <p:nvSpPr>
          <p:cNvPr id="39" name="Text 32"/>
          <p:cNvSpPr txBox="1"/>
          <p:nvPr/>
        </p:nvSpPr>
        <p:spPr>
          <a:xfrm>
            <a:off x="7168896" y="3291840"/>
            <a:ext cx="11247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metrics, risk score, MLlib, ARIMA, Prophet, LSTM</a:t>
            </a:r>
            <a:endParaRPr lang="en-US" sz="1100" dirty="0"/>
          </a:p>
        </p:txBody>
      </p:sp>
      <p:sp>
        <p:nvSpPr>
          <p:cNvPr id="40" name="Shape 33"/>
          <p:cNvSpPr/>
          <p:nvPr/>
        </p:nvSpPr>
        <p:spPr>
          <a:xfrm>
            <a:off x="8439912" y="3040380"/>
            <a:ext cx="210312" cy="0"/>
          </a:xfrm>
          <a:prstGeom prst="line">
            <a:avLst/>
          </a:prstGeom>
          <a:noFill/>
          <a:ln w="25400">
            <a:solidFill>
              <a:srgbClr val="0E9F6E"/>
            </a:solidFill>
            <a:prstDash val="solid"/>
            <a:tailEnd type="triangle"/>
          </a:ln>
        </p:spPr>
      </p:sp>
      <p:sp>
        <p:nvSpPr>
          <p:cNvPr id="41" name="Shape 34"/>
          <p:cNvSpPr/>
          <p:nvPr/>
        </p:nvSpPr>
        <p:spPr>
          <a:xfrm>
            <a:off x="8686800" y="1691640"/>
            <a:ext cx="1344168" cy="2697480"/>
          </a:xfrm>
          <a:prstGeom prst="roundRect">
            <a:avLst>
              <a:gd name="adj" fmla="val 8163"/>
            </a:avLst>
          </a:prstGeom>
          <a:solidFill>
            <a:srgbClr val="F2F6F8"/>
          </a:solidFill>
          <a:ln w="12700">
            <a:solidFill>
              <a:srgbClr val="F2F6F8"/>
            </a:solidFill>
            <a:prstDash val="solid"/>
          </a:ln>
        </p:spPr>
      </p:sp>
      <p:sp>
        <p:nvSpPr>
          <p:cNvPr id="42" name="Shape 35"/>
          <p:cNvSpPr/>
          <p:nvPr/>
        </p:nvSpPr>
        <p:spPr>
          <a:xfrm>
            <a:off x="9084564" y="1920240"/>
            <a:ext cx="548640" cy="548640"/>
          </a:xfrm>
          <a:prstGeom prst="ellipse">
            <a:avLst/>
          </a:prstGeom>
          <a:solidFill>
            <a:srgbClr val="0E9F6E"/>
          </a:solidFill>
          <a:ln w="12700">
            <a:solidFill>
              <a:srgbClr val="0E9F6E"/>
            </a:solidFill>
            <a:prstDash val="solid"/>
          </a:ln>
        </p:spPr>
      </p:sp>
      <p:pic>
        <p:nvPicPr>
          <p:cNvPr id="4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27210" y="2062886"/>
            <a:ext cx="263347" cy="263347"/>
          </a:xfrm>
          <a:prstGeom prst="rect">
            <a:avLst/>
          </a:prstGeom>
        </p:spPr>
      </p:pic>
      <p:sp>
        <p:nvSpPr>
          <p:cNvPr id="44" name="Text 36"/>
          <p:cNvSpPr txBox="1"/>
          <p:nvPr/>
        </p:nvSpPr>
        <p:spPr>
          <a:xfrm>
            <a:off x="8686800" y="2560320"/>
            <a:ext cx="1344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9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  <p:sp>
        <p:nvSpPr>
          <p:cNvPr id="45" name="Text 37"/>
          <p:cNvSpPr txBox="1"/>
          <p:nvPr/>
        </p:nvSpPr>
        <p:spPr>
          <a:xfrm>
            <a:off x="8759952" y="2807208"/>
            <a:ext cx="1197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Serving</a:t>
            </a:r>
            <a:endParaRPr lang="en-US" sz="1400" dirty="0"/>
          </a:p>
        </p:txBody>
      </p:sp>
      <p:sp>
        <p:nvSpPr>
          <p:cNvPr id="46" name="Text 38"/>
          <p:cNvSpPr txBox="1"/>
          <p:nvPr/>
        </p:nvSpPr>
        <p:spPr>
          <a:xfrm>
            <a:off x="8796528" y="3291840"/>
            <a:ext cx="11247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FastAPI, API-key auth, HTTPS on Render</a:t>
            </a:r>
            <a:endParaRPr lang="en-US" sz="1100" dirty="0"/>
          </a:p>
        </p:txBody>
      </p:sp>
      <p:sp>
        <p:nvSpPr>
          <p:cNvPr id="47" name="Shape 39"/>
          <p:cNvSpPr/>
          <p:nvPr/>
        </p:nvSpPr>
        <p:spPr>
          <a:xfrm>
            <a:off x="10067544" y="3040380"/>
            <a:ext cx="210312" cy="0"/>
          </a:xfrm>
          <a:prstGeom prst="line">
            <a:avLst/>
          </a:prstGeom>
          <a:noFill/>
          <a:ln w="25400">
            <a:solidFill>
              <a:srgbClr val="0E9F6E"/>
            </a:solidFill>
            <a:prstDash val="solid"/>
            <a:tailEnd type="triangle"/>
          </a:ln>
        </p:spPr>
      </p:sp>
      <p:sp>
        <p:nvSpPr>
          <p:cNvPr id="48" name="Shape 40"/>
          <p:cNvSpPr/>
          <p:nvPr/>
        </p:nvSpPr>
        <p:spPr>
          <a:xfrm>
            <a:off x="10314432" y="1691640"/>
            <a:ext cx="1344168" cy="2697480"/>
          </a:xfrm>
          <a:prstGeom prst="roundRect">
            <a:avLst>
              <a:gd name="adj" fmla="val 8163"/>
            </a:avLst>
          </a:prstGeom>
          <a:solidFill>
            <a:srgbClr val="F2F6F8"/>
          </a:solidFill>
          <a:ln w="12700">
            <a:solidFill>
              <a:srgbClr val="F2F6F8"/>
            </a:solidFill>
            <a:prstDash val="solid"/>
          </a:ln>
        </p:spPr>
      </p:sp>
      <p:sp>
        <p:nvSpPr>
          <p:cNvPr id="49" name="Shape 41"/>
          <p:cNvSpPr/>
          <p:nvPr/>
        </p:nvSpPr>
        <p:spPr>
          <a:xfrm>
            <a:off x="10712196" y="1920240"/>
            <a:ext cx="548640" cy="548640"/>
          </a:xfrm>
          <a:prstGeom prst="ellipse">
            <a:avLst/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pic>
        <p:nvPicPr>
          <p:cNvPr id="5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854842" y="2062886"/>
            <a:ext cx="263347" cy="263347"/>
          </a:xfrm>
          <a:prstGeom prst="rect">
            <a:avLst/>
          </a:prstGeom>
        </p:spPr>
      </p:pic>
      <p:sp>
        <p:nvSpPr>
          <p:cNvPr id="51" name="Text 42"/>
          <p:cNvSpPr txBox="1"/>
          <p:nvPr/>
        </p:nvSpPr>
        <p:spPr>
          <a:xfrm>
            <a:off x="10314432" y="2560320"/>
            <a:ext cx="1344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9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  <p:sp>
        <p:nvSpPr>
          <p:cNvPr id="52" name="Text 43"/>
          <p:cNvSpPr txBox="1"/>
          <p:nvPr/>
        </p:nvSpPr>
        <p:spPr>
          <a:xfrm>
            <a:off x="10387584" y="2807208"/>
            <a:ext cx="1197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Visualization</a:t>
            </a:r>
            <a:endParaRPr lang="en-US" sz="1400" dirty="0"/>
          </a:p>
        </p:txBody>
      </p:sp>
      <p:sp>
        <p:nvSpPr>
          <p:cNvPr id="53" name="Text 44"/>
          <p:cNvSpPr txBox="1"/>
          <p:nvPr/>
        </p:nvSpPr>
        <p:spPr>
          <a:xfrm>
            <a:off x="10424160" y="3291840"/>
            <a:ext cx="11247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Desktop and Service, scheduled refresh</a:t>
            </a:r>
            <a:endParaRPr lang="en-US" sz="1100" dirty="0"/>
          </a:p>
        </p:txBody>
      </p:sp>
      <p:sp>
        <p:nvSpPr>
          <p:cNvPr id="54" name="Text 45"/>
          <p:cNvSpPr txBox="1"/>
          <p:nvPr/>
        </p:nvSpPr>
        <p:spPr>
          <a:xfrm>
            <a:off x="3803904" y="4462272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0E9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DATA CORE</a:t>
            </a:r>
            <a:endParaRPr lang="en-US" sz="1000" dirty="0"/>
          </a:p>
        </p:txBody>
      </p:sp>
      <p:sp>
        <p:nvSpPr>
          <p:cNvPr id="55" name="Shape 46"/>
          <p:cNvSpPr/>
          <p:nvPr/>
        </p:nvSpPr>
        <p:spPr>
          <a:xfrm>
            <a:off x="548640" y="4846320"/>
            <a:ext cx="3520440" cy="1234440"/>
          </a:xfrm>
          <a:prstGeom prst="roundRect">
            <a:avLst>
              <a:gd name="adj" fmla="val 8889"/>
            </a:avLst>
          </a:prstGeom>
          <a:solidFill>
            <a:srgbClr val="E6F5EE"/>
          </a:solidFill>
          <a:ln w="12700">
            <a:solidFill>
              <a:srgbClr val="E6F5EE"/>
            </a:solidFill>
            <a:prstDash val="solid"/>
          </a:ln>
        </p:spPr>
      </p:sp>
      <p:sp>
        <p:nvSpPr>
          <p:cNvPr id="56" name="Shape 47"/>
          <p:cNvSpPr/>
          <p:nvPr/>
        </p:nvSpPr>
        <p:spPr>
          <a:xfrm>
            <a:off x="777240" y="5148072"/>
            <a:ext cx="566928" cy="566928"/>
          </a:xfrm>
          <a:prstGeom prst="ellipse">
            <a:avLst/>
          </a:prstGeom>
          <a:solidFill>
            <a:srgbClr val="0E9F6E"/>
          </a:solidFill>
          <a:ln w="12700">
            <a:solidFill>
              <a:srgbClr val="0E9F6E"/>
            </a:solidFill>
            <a:prstDash val="solid"/>
          </a:ln>
        </p:spPr>
      </p:sp>
      <p:pic>
        <p:nvPicPr>
          <p:cNvPr id="5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4641" y="5295473"/>
            <a:ext cx="272125" cy="272125"/>
          </a:xfrm>
          <a:prstGeom prst="rect">
            <a:avLst/>
          </a:prstGeom>
        </p:spPr>
      </p:pic>
      <p:sp>
        <p:nvSpPr>
          <p:cNvPr id="58" name="Text 48"/>
          <p:cNvSpPr txBox="1"/>
          <p:nvPr/>
        </p:nvSpPr>
        <p:spPr>
          <a:xfrm>
            <a:off x="1508760" y="50292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Orchestration</a:t>
            </a:r>
            <a:endParaRPr lang="en-US" sz="1400" dirty="0"/>
          </a:p>
        </p:txBody>
      </p:sp>
      <p:sp>
        <p:nvSpPr>
          <p:cNvPr id="59" name="Text 49"/>
          <p:cNvSpPr txBox="1"/>
          <p:nvPr/>
        </p:nvSpPr>
        <p:spPr>
          <a:xfrm>
            <a:off x="1508760" y="5349240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Apache Airflow schedules the daily incremental loads and Spark jobs.</a:t>
            </a:r>
            <a:endParaRPr lang="en-US" sz="1200" dirty="0"/>
          </a:p>
        </p:txBody>
      </p:sp>
      <p:sp>
        <p:nvSpPr>
          <p:cNvPr id="60" name="Shape 50"/>
          <p:cNvSpPr/>
          <p:nvPr/>
        </p:nvSpPr>
        <p:spPr>
          <a:xfrm>
            <a:off x="4334256" y="4846320"/>
            <a:ext cx="3520440" cy="1234440"/>
          </a:xfrm>
          <a:prstGeom prst="roundRect">
            <a:avLst>
              <a:gd name="adj" fmla="val 8889"/>
            </a:avLst>
          </a:prstGeom>
          <a:solidFill>
            <a:srgbClr val="E6F5EE"/>
          </a:solidFill>
          <a:ln w="12700">
            <a:solidFill>
              <a:srgbClr val="E6F5EE"/>
            </a:solidFill>
            <a:prstDash val="solid"/>
          </a:ln>
        </p:spPr>
      </p:sp>
      <p:sp>
        <p:nvSpPr>
          <p:cNvPr id="61" name="Shape 51"/>
          <p:cNvSpPr/>
          <p:nvPr/>
        </p:nvSpPr>
        <p:spPr>
          <a:xfrm>
            <a:off x="4562856" y="5148072"/>
            <a:ext cx="566928" cy="566928"/>
          </a:xfrm>
          <a:prstGeom prst="ellipse">
            <a:avLst/>
          </a:prstGeom>
          <a:solidFill>
            <a:srgbClr val="0E9F6E"/>
          </a:solidFill>
          <a:ln w="12700">
            <a:solidFill>
              <a:srgbClr val="0E9F6E"/>
            </a:solidFill>
            <a:prstDash val="solid"/>
          </a:ln>
        </p:spPr>
      </p:sp>
      <p:pic>
        <p:nvPicPr>
          <p:cNvPr id="62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10257" y="5295473"/>
            <a:ext cx="272125" cy="272125"/>
          </a:xfrm>
          <a:prstGeom prst="rect">
            <a:avLst/>
          </a:prstGeom>
        </p:spPr>
      </p:pic>
      <p:sp>
        <p:nvSpPr>
          <p:cNvPr id="63" name="Text 52"/>
          <p:cNvSpPr txBox="1"/>
          <p:nvPr/>
        </p:nvSpPr>
        <p:spPr>
          <a:xfrm>
            <a:off x="5294376" y="50292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quality</a:t>
            </a:r>
            <a:endParaRPr lang="en-US" sz="1400" dirty="0"/>
          </a:p>
        </p:txBody>
      </p:sp>
      <p:sp>
        <p:nvSpPr>
          <p:cNvPr id="64" name="Text 53"/>
          <p:cNvSpPr txBox="1"/>
          <p:nvPr/>
        </p:nvSpPr>
        <p:spPr>
          <a:xfrm>
            <a:off x="5294376" y="5349240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 checks, row-count logs and lineage from Bronze to Gold.</a:t>
            </a:r>
            <a:endParaRPr lang="en-US" sz="1200" dirty="0"/>
          </a:p>
        </p:txBody>
      </p:sp>
      <p:sp>
        <p:nvSpPr>
          <p:cNvPr id="65" name="Shape 54"/>
          <p:cNvSpPr/>
          <p:nvPr/>
        </p:nvSpPr>
        <p:spPr>
          <a:xfrm>
            <a:off x="8119872" y="4846320"/>
            <a:ext cx="3520440" cy="1234440"/>
          </a:xfrm>
          <a:prstGeom prst="roundRect">
            <a:avLst>
              <a:gd name="adj" fmla="val 8889"/>
            </a:avLst>
          </a:prstGeom>
          <a:solidFill>
            <a:srgbClr val="E6F5EE"/>
          </a:solidFill>
          <a:ln w="12700">
            <a:solidFill>
              <a:srgbClr val="E6F5EE"/>
            </a:solidFill>
            <a:prstDash val="solid"/>
          </a:ln>
        </p:spPr>
      </p:sp>
      <p:sp>
        <p:nvSpPr>
          <p:cNvPr id="66" name="Shape 55"/>
          <p:cNvSpPr/>
          <p:nvPr/>
        </p:nvSpPr>
        <p:spPr>
          <a:xfrm>
            <a:off x="8348472" y="5148072"/>
            <a:ext cx="566928" cy="566928"/>
          </a:xfrm>
          <a:prstGeom prst="ellipse">
            <a:avLst/>
          </a:prstGeom>
          <a:solidFill>
            <a:srgbClr val="0E9F6E"/>
          </a:solidFill>
          <a:ln w="12700">
            <a:solidFill>
              <a:srgbClr val="0E9F6E"/>
            </a:solidFill>
            <a:prstDash val="solid"/>
          </a:ln>
        </p:spPr>
      </p:sp>
      <p:pic>
        <p:nvPicPr>
          <p:cNvPr id="67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495873" y="5295473"/>
            <a:ext cx="272125" cy="272125"/>
          </a:xfrm>
          <a:prstGeom prst="rect">
            <a:avLst/>
          </a:prstGeom>
        </p:spPr>
      </p:pic>
      <p:sp>
        <p:nvSpPr>
          <p:cNvPr id="68" name="Text 56"/>
          <p:cNvSpPr txBox="1"/>
          <p:nvPr/>
        </p:nvSpPr>
        <p:spPr>
          <a:xfrm>
            <a:off x="9079992" y="50292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1400" dirty="0"/>
          </a:p>
        </p:txBody>
      </p:sp>
      <p:sp>
        <p:nvSpPr>
          <p:cNvPr id="69" name="Text 57"/>
          <p:cNvSpPr txBox="1"/>
          <p:nvPr/>
        </p:nvSpPr>
        <p:spPr>
          <a:xfrm>
            <a:off x="9079992" y="5349240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keys, HTTPS only, secrets kept out of code and the .pbix file.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E9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 ·  STORAGE LAYER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F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lake design: the Medallion architecture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Data Architecture  |  Stock Market &amp; Mutual Fund Risk Analytics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183112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3383280" cy="3931920"/>
          </a:xfrm>
          <a:prstGeom prst="roundRect">
            <a:avLst>
              <a:gd name="adj" fmla="val 3243"/>
            </a:avLst>
          </a:prstGeom>
          <a:solidFill>
            <a:srgbClr val="F2F6F8"/>
          </a:solidFill>
          <a:ln w="12700">
            <a:solidFill>
              <a:srgbClr val="F2F6F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920240"/>
            <a:ext cx="566928" cy="566928"/>
          </a:xfrm>
          <a:prstGeom prst="ellipse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19202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554480" y="190195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B1F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Bronze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1554480" y="226771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B87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and immutable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269748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 exactly as downloaded, never edited, so any result can be rebuilt.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36576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TABLES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3904488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1F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raw_amfi_nav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0B1F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raw_nse_bhavcopy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0B1F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raw_fundamentals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51206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Partitioned by: </a:t>
            </a:r>
            <a:pPr indent="0" marL="0">
              <a:buNone/>
            </a:pPr>
            <a:r>
              <a:rPr lang="en-US" sz="1100" dirty="0">
                <a:solidFill>
                  <a:srgbClr val="0B1F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 / ingest_date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005072" y="3611880"/>
            <a:ext cx="324612" cy="0"/>
          </a:xfrm>
          <a:prstGeom prst="line">
            <a:avLst/>
          </a:prstGeom>
          <a:noFill/>
          <a:ln w="31750">
            <a:solidFill>
              <a:srgbClr val="0E9F6E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4402836" y="1645920"/>
            <a:ext cx="3383280" cy="3931920"/>
          </a:xfrm>
          <a:prstGeom prst="roundRect">
            <a:avLst>
              <a:gd name="adj" fmla="val 3243"/>
            </a:avLst>
          </a:prstGeom>
          <a:solidFill>
            <a:srgbClr val="F2F6F8"/>
          </a:solidFill>
          <a:ln w="12700">
            <a:solidFill>
              <a:srgbClr val="F2F6F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677156" y="1920240"/>
            <a:ext cx="566928" cy="566928"/>
          </a:xfrm>
          <a:prstGeom prst="ellipse">
            <a:avLst/>
          </a:prstGeom>
          <a:solidFill>
            <a:srgbClr val="7D8C98"/>
          </a:solidFill>
          <a:ln w="12700">
            <a:solidFill>
              <a:srgbClr val="7D8C9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677156" y="19202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5408676" y="190195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B1F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Silver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5408676" y="226771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7D8C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and conformed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677156" y="269748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Typed, de-duplicated, aligned to the trading calendar; splits, bonuses and scheme mergers adjusted.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4677156" y="36576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TABLES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4677156" y="3904488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1F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nav_daily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0B1F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stock_prices_adj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0B1F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company_financials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4677156" y="51206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Partitioned by: </a:t>
            </a:r>
            <a:pPr indent="0" marL="0">
              <a:buNone/>
            </a:pPr>
            <a:r>
              <a:rPr lang="en-US" sz="1100" dirty="0">
                <a:solidFill>
                  <a:srgbClr val="0B1F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year / scheme_code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859268" y="3611880"/>
            <a:ext cx="324612" cy="0"/>
          </a:xfrm>
          <a:prstGeom prst="line">
            <a:avLst/>
          </a:prstGeom>
          <a:noFill/>
          <a:ln w="31750">
            <a:solidFill>
              <a:srgbClr val="0E9F6E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8257032" y="1645920"/>
            <a:ext cx="3383280" cy="3931920"/>
          </a:xfrm>
          <a:prstGeom prst="roundRect">
            <a:avLst>
              <a:gd name="adj" fmla="val 3243"/>
            </a:avLst>
          </a:prstGeom>
          <a:solidFill>
            <a:srgbClr val="F2F6F8"/>
          </a:solidFill>
          <a:ln w="12700">
            <a:solidFill>
              <a:srgbClr val="F2F6F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531352" y="1920240"/>
            <a:ext cx="566928" cy="566928"/>
          </a:xfrm>
          <a:prstGeom prst="ellipse">
            <a:avLst/>
          </a:prstGeom>
          <a:solidFill>
            <a:srgbClr val="C8960C"/>
          </a:solidFill>
          <a:ln w="12700">
            <a:solidFill>
              <a:srgbClr val="C8960C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531352" y="19202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29" name="Text 27"/>
          <p:cNvSpPr txBox="1"/>
          <p:nvPr/>
        </p:nvSpPr>
        <p:spPr>
          <a:xfrm>
            <a:off x="9262872" y="190195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B1F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Gold</a:t>
            </a:r>
            <a:endParaRPr lang="en-US" sz="2000" dirty="0"/>
          </a:p>
        </p:txBody>
      </p:sp>
      <p:sp>
        <p:nvSpPr>
          <p:cNvPr id="30" name="Text 28"/>
          <p:cNvSpPr txBox="1"/>
          <p:nvPr/>
        </p:nvSpPr>
        <p:spPr>
          <a:xfrm>
            <a:off x="9262872" y="226771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896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Analysis-ready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8531352" y="269748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 and model outputs consumed by the API and Power BI.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8531352" y="36576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TABLES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8531352" y="3904488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1F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fund_metrics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0B1F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risk_scores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0B1F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holding_period_stats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0B1F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churn_events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0B1F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model_results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8531352" y="51206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Partitioned by: </a:t>
            </a:r>
            <a:pPr indent="0" marL="0">
              <a:buNone/>
            </a:pPr>
            <a:r>
              <a:rPr lang="en-US" sz="1100" dirty="0">
                <a:solidFill>
                  <a:srgbClr val="0B1F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as_of_date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548640" y="5760720"/>
            <a:ext cx="384048" cy="384048"/>
          </a:xfrm>
          <a:prstGeom prst="ellipse">
            <a:avLst/>
          </a:prstGeom>
          <a:solidFill>
            <a:srgbClr val="E6F5EE"/>
          </a:solidFill>
          <a:ln w="12700">
            <a:solidFill>
              <a:srgbClr val="E6F5EE"/>
            </a:solidFill>
            <a:prstDash val="solid"/>
          </a:ln>
        </p:spPr>
      </p:sp>
      <p:pic>
        <p:nvPicPr>
          <p:cNvPr id="3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8492" y="5860572"/>
            <a:ext cx="184343" cy="184343"/>
          </a:xfrm>
          <a:prstGeom prst="rect">
            <a:avLst/>
          </a:prstGeom>
        </p:spPr>
      </p:pic>
      <p:sp>
        <p:nvSpPr>
          <p:cNvPr id="37" name="Text 34"/>
          <p:cNvSpPr txBox="1"/>
          <p:nvPr/>
        </p:nvSpPr>
        <p:spPr>
          <a:xfrm>
            <a:off x="1051560" y="5760720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Apache Parquet </a:t>
            </a:r>
            <a:pPr indent="0" marL="0">
              <a:buNone/>
            </a:pPr>
            <a:r>
              <a:rPr lang="en-US" sz="13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(columnar and compressed) lets Spark read only the columns and partitions a query needs.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E9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 ·  PROCESSING LAYER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F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Distributed computation with Apache Spark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Data Architecture  |  Stock Market &amp; Mutual Fund Risk Analytics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183112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457200" cy="457200"/>
          </a:xfrm>
          <a:prstGeom prst="ellipse">
            <a:avLst/>
          </a:prstGeom>
          <a:solidFill>
            <a:srgbClr val="E6F5EE"/>
          </a:solidFill>
          <a:ln w="12700">
            <a:solidFill>
              <a:srgbClr val="E6F5E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9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188720" y="1664208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and adjust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88720" y="1984248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 trading-calendar gaps, drop duplicates, apply corporate actions.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2560320"/>
            <a:ext cx="457200" cy="457200"/>
          </a:xfrm>
          <a:prstGeom prst="ellipse">
            <a:avLst/>
          </a:prstGeom>
          <a:solidFill>
            <a:srgbClr val="E6F5EE"/>
          </a:solidFill>
          <a:ln w="12700">
            <a:solidFill>
              <a:srgbClr val="E6F5E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2560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9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188720" y="2532888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returns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188720" y="2852928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functions over each fund and stock, partitioned by code.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429000"/>
            <a:ext cx="457200" cy="457200"/>
          </a:xfrm>
          <a:prstGeom prst="ellipse">
            <a:avLst/>
          </a:prstGeom>
          <a:solidFill>
            <a:srgbClr val="E6F5EE"/>
          </a:solidFill>
          <a:ln w="12700">
            <a:solidFill>
              <a:srgbClr val="E6F5E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3429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9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3401568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Rolling metrics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188720" y="3721608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252-day volatility, rolling 1/3/5-year returns, drawdowns.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48640" y="4297680"/>
            <a:ext cx="457200" cy="457200"/>
          </a:xfrm>
          <a:prstGeom prst="ellipse">
            <a:avLst/>
          </a:prstGeom>
          <a:solidFill>
            <a:srgbClr val="E6F5EE"/>
          </a:solidFill>
          <a:ln w="12700">
            <a:solidFill>
              <a:srgbClr val="E6F5E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297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9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188720" y="4270248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Joins and enrichment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188720" y="4590288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Broadcast-join small tables: scheme, sector, index membership.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48640" y="5166360"/>
            <a:ext cx="457200" cy="457200"/>
          </a:xfrm>
          <a:prstGeom prst="ellipse">
            <a:avLst/>
          </a:prstGeom>
          <a:solidFill>
            <a:srgbClr val="E6F5EE"/>
          </a:solidFill>
          <a:ln w="12700">
            <a:solidFill>
              <a:srgbClr val="E6F5E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5166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9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1188720" y="5138928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tables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1188720" y="5458968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Lagged features for ML, written to Gold as Parquet.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035040" y="1645920"/>
            <a:ext cx="5605272" cy="3749040"/>
          </a:xfrm>
          <a:prstGeom prst="roundRect">
            <a:avLst>
              <a:gd name="adj" fmla="val 2927"/>
            </a:avLst>
          </a:prstGeom>
          <a:solidFill>
            <a:srgbClr val="0B1F2A"/>
          </a:solidFill>
          <a:ln w="12700">
            <a:solidFill>
              <a:srgbClr val="0B1F2A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6309360" y="182880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rolling 1-year volatility in PySpark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6309360" y="2286000"/>
            <a:ext cx="51206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D7E6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pyspark.sql import Window, functions as F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7E6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 = Window.partitionBy("scheme_code").orderBy("date")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7E6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nav = nav.withColumn("ret",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7E6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F.col("nav") / F.lag("nav").over(w) - 1)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7E6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w1y = w.rowsBetween(-251, 0)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7E6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nav = nav.withColumn("vol_1y",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7E6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F.stddev("ret").over(w1y) * F.sqrt(F.lit(252)))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6035040" y="5577840"/>
            <a:ext cx="56052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1F6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 partitions the work by scheme_code, so each fund's 10-year history is processed in parallel across executors.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E9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 ·  ANALYTICS LAYER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F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Return and risk metrics for every fund, index and stock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Data Architecture  |  Stock Market &amp; Mutual Fund Risk Analytics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183112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5440680" cy="4526280"/>
          </a:xfrm>
          <a:prstGeom prst="roundRect">
            <a:avLst>
              <a:gd name="adj" fmla="val 2424"/>
            </a:avLst>
          </a:prstGeom>
          <a:solidFill>
            <a:srgbClr val="F2F6F8"/>
          </a:solidFill>
          <a:ln w="12700">
            <a:solidFill>
              <a:srgbClr val="F2F6F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874520"/>
            <a:ext cx="502920" cy="502920"/>
          </a:xfrm>
          <a:prstGeom prst="ellipse">
            <a:avLst/>
          </a:prstGeom>
          <a:solidFill>
            <a:srgbClr val="0E9F6E"/>
          </a:solidFill>
          <a:ln w="12700">
            <a:solidFill>
              <a:srgbClr val="0E9F6E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3719" y="2005279"/>
            <a:ext cx="241402" cy="24140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508760" y="192024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1F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Returns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260604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0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Absolute return</a:t>
            </a:r>
            <a:endParaRPr lang="en-US" sz="145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2898648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% change over the period.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3300984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0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CAGR</a:t>
            </a:r>
            <a:endParaRPr lang="en-US" sz="1450" dirty="0"/>
          </a:p>
        </p:txBody>
      </p:sp>
      <p:sp>
        <p:nvSpPr>
          <p:cNvPr id="13" name="Text 10"/>
          <p:cNvSpPr txBox="1"/>
          <p:nvPr/>
        </p:nvSpPr>
        <p:spPr>
          <a:xfrm>
            <a:off x="868680" y="3593592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(End value ÷ Start value)^(1 / years) − 1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868680" y="3995928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0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Rolling returns</a:t>
            </a:r>
            <a:endParaRPr lang="en-US" sz="1450" dirty="0"/>
          </a:p>
        </p:txBody>
      </p:sp>
      <p:sp>
        <p:nvSpPr>
          <p:cNvPr id="15" name="Text 12"/>
          <p:cNvSpPr txBox="1"/>
          <p:nvPr/>
        </p:nvSpPr>
        <p:spPr>
          <a:xfrm>
            <a:off x="868680" y="4288536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 3 and 5-year returns from every start date.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868680" y="4690872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0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SIP XIRR</a:t>
            </a:r>
            <a:endParaRPr lang="en-US" sz="1450" dirty="0"/>
          </a:p>
        </p:txBody>
      </p:sp>
      <p:sp>
        <p:nvSpPr>
          <p:cNvPr id="17" name="Text 14"/>
          <p:cNvSpPr txBox="1"/>
          <p:nvPr/>
        </p:nvSpPr>
        <p:spPr>
          <a:xfrm>
            <a:off x="868680" y="4983480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on fixed monthly investments, e.g. ₹5,000 per month.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6199632" y="1645920"/>
            <a:ext cx="5440680" cy="4526280"/>
          </a:xfrm>
          <a:prstGeom prst="roundRect">
            <a:avLst>
              <a:gd name="adj" fmla="val 2424"/>
            </a:avLst>
          </a:prstGeom>
          <a:solidFill>
            <a:srgbClr val="F2F6F8"/>
          </a:solidFill>
          <a:ln w="12700">
            <a:solidFill>
              <a:srgbClr val="F2F6F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473952" y="1874520"/>
            <a:ext cx="502920" cy="502920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4711" y="2005279"/>
            <a:ext cx="241402" cy="241402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7159752" y="192024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1F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2000" dirty="0"/>
          </a:p>
        </p:txBody>
      </p:sp>
      <p:sp>
        <p:nvSpPr>
          <p:cNvPr id="22" name="Text 18"/>
          <p:cNvSpPr txBox="1"/>
          <p:nvPr/>
        </p:nvSpPr>
        <p:spPr>
          <a:xfrm>
            <a:off x="6519672" y="260604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0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Volatility</a:t>
            </a:r>
            <a:endParaRPr lang="en-US" sz="1450" dirty="0"/>
          </a:p>
        </p:txBody>
      </p:sp>
      <p:sp>
        <p:nvSpPr>
          <p:cNvPr id="23" name="Text 19"/>
          <p:cNvSpPr txBox="1"/>
          <p:nvPr/>
        </p:nvSpPr>
        <p:spPr>
          <a:xfrm>
            <a:off x="6519672" y="2898648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Annualised standard deviation of daily returns.</a:t>
            </a:r>
            <a:endParaRPr lang="en-US" sz="1250" dirty="0"/>
          </a:p>
        </p:txBody>
      </p:sp>
      <p:sp>
        <p:nvSpPr>
          <p:cNvPr id="24" name="Text 20"/>
          <p:cNvSpPr txBox="1"/>
          <p:nvPr/>
        </p:nvSpPr>
        <p:spPr>
          <a:xfrm>
            <a:off x="6519672" y="3300984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0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Maximum drawdown</a:t>
            </a:r>
            <a:endParaRPr lang="en-US" sz="1450" dirty="0"/>
          </a:p>
        </p:txBody>
      </p:sp>
      <p:sp>
        <p:nvSpPr>
          <p:cNvPr id="25" name="Text 21"/>
          <p:cNvSpPr txBox="1"/>
          <p:nvPr/>
        </p:nvSpPr>
        <p:spPr>
          <a:xfrm>
            <a:off x="6519672" y="3593592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peak-to-trough fall in value.</a:t>
            </a:r>
            <a:endParaRPr lang="en-US" sz="1250" dirty="0"/>
          </a:p>
        </p:txBody>
      </p:sp>
      <p:sp>
        <p:nvSpPr>
          <p:cNvPr id="26" name="Text 22"/>
          <p:cNvSpPr txBox="1"/>
          <p:nvPr/>
        </p:nvSpPr>
        <p:spPr>
          <a:xfrm>
            <a:off x="6519672" y="3995928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0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Beta and Alpha</a:t>
            </a:r>
            <a:endParaRPr lang="en-US" sz="1450" dirty="0"/>
          </a:p>
        </p:txBody>
      </p:sp>
      <p:sp>
        <p:nvSpPr>
          <p:cNvPr id="27" name="Text 23"/>
          <p:cNvSpPr txBox="1"/>
          <p:nvPr/>
        </p:nvSpPr>
        <p:spPr>
          <a:xfrm>
            <a:off x="6519672" y="4288536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Sensitivity to, and excess return over, the Nifty 50.</a:t>
            </a:r>
            <a:endParaRPr lang="en-US" sz="1250" dirty="0"/>
          </a:p>
        </p:txBody>
      </p:sp>
      <p:sp>
        <p:nvSpPr>
          <p:cNvPr id="28" name="Text 24"/>
          <p:cNvSpPr txBox="1"/>
          <p:nvPr/>
        </p:nvSpPr>
        <p:spPr>
          <a:xfrm>
            <a:off x="6519672" y="4690872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0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Sharpe and Sortino</a:t>
            </a:r>
            <a:endParaRPr lang="en-US" sz="1450" dirty="0"/>
          </a:p>
        </p:txBody>
      </p:sp>
      <p:sp>
        <p:nvSpPr>
          <p:cNvPr id="29" name="Text 25"/>
          <p:cNvSpPr txBox="1"/>
          <p:nvPr/>
        </p:nvSpPr>
        <p:spPr>
          <a:xfrm>
            <a:off x="6519672" y="4983480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per unit of total / downside risk.</a:t>
            </a:r>
            <a:endParaRPr lang="en-US" sz="1250" dirty="0"/>
          </a:p>
        </p:txBody>
      </p:sp>
      <p:sp>
        <p:nvSpPr>
          <p:cNvPr id="30" name="Text 26"/>
          <p:cNvSpPr txBox="1"/>
          <p:nvPr/>
        </p:nvSpPr>
        <p:spPr>
          <a:xfrm>
            <a:off x="6519672" y="5385816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0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 and CVaR (95%)</a:t>
            </a:r>
            <a:endParaRPr lang="en-US" sz="1450" dirty="0"/>
          </a:p>
        </p:txBody>
      </p:sp>
      <p:sp>
        <p:nvSpPr>
          <p:cNvPr id="31" name="Text 27"/>
          <p:cNvSpPr txBox="1"/>
          <p:nvPr/>
        </p:nvSpPr>
        <p:spPr>
          <a:xfrm>
            <a:off x="6519672" y="5678424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Worst expected daily loss, and average loss beyond it.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E9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 ·  RISK SCORING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F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Composite risk score (0–100)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Data Architecture  |  Stock Market &amp; Mutual Fund Risk Analytics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183112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4846320" cy="4526280"/>
          </a:xfrm>
          <a:prstGeom prst="roundRect">
            <a:avLst>
              <a:gd name="adj" fmla="val 2424"/>
            </a:avLst>
          </a:prstGeom>
          <a:solidFill>
            <a:srgbClr val="F2F6F8"/>
          </a:solidFill>
          <a:ln w="12700">
            <a:solidFill>
              <a:srgbClr val="F2F6F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181051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 weights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731520" y="2148840"/>
          <a:ext cx="448056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760720" y="1691640"/>
            <a:ext cx="457200" cy="457200"/>
          </a:xfrm>
          <a:prstGeom prst="ellipse">
            <a:avLst/>
          </a:prstGeom>
          <a:solidFill>
            <a:srgbClr val="0B1F2A"/>
          </a:solidFill>
          <a:ln w="12700">
            <a:solidFill>
              <a:srgbClr val="0B1F2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76072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6400800" y="1673352"/>
            <a:ext cx="5212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Percentile-rank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6400800" y="198424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metric is ranked 0–100 within its peer group: funds against funds, stocks against stocks.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5760720" y="2624328"/>
            <a:ext cx="457200" cy="457200"/>
          </a:xfrm>
          <a:prstGeom prst="ellipse">
            <a:avLst/>
          </a:prstGeom>
          <a:solidFill>
            <a:srgbClr val="0B1F2A"/>
          </a:solidFill>
          <a:ln w="12700">
            <a:solidFill>
              <a:srgbClr val="0B1F2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760720" y="2624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6400800" y="2606040"/>
            <a:ext cx="5212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and combine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6400800" y="2916936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Ranks are combined with the weights shown; a higher score means higher risk.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5760720" y="3557016"/>
            <a:ext cx="457200" cy="457200"/>
          </a:xfrm>
          <a:prstGeom prst="ellipse">
            <a:avLst/>
          </a:prstGeom>
          <a:solidFill>
            <a:srgbClr val="0B1F2A"/>
          </a:solidFill>
          <a:ln w="12700">
            <a:solidFill>
              <a:srgbClr val="0B1F2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760720" y="35570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0" y="3538728"/>
            <a:ext cx="5212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Adjust for funds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6400800" y="3849624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Funds have no debt-to-equity, so its 15% is spread proportionally over the other four metrics.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5760720" y="4489704"/>
            <a:ext cx="457200" cy="457200"/>
          </a:xfrm>
          <a:prstGeom prst="ellipse">
            <a:avLst/>
          </a:prstGeom>
          <a:solidFill>
            <a:srgbClr val="0B1F2A"/>
          </a:solidFill>
          <a:ln w="12700">
            <a:solidFill>
              <a:srgbClr val="0B1F2A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760720" y="44897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6400800" y="4471416"/>
            <a:ext cx="5212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Band the score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6400800" y="4782312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Scores are grouped into three bands used by the dashboard and the ML model.</a:t>
            </a:r>
            <a:endParaRPr lang="en-US" sz="1250" dirty="0"/>
          </a:p>
        </p:txBody>
      </p:sp>
      <p:sp>
        <p:nvSpPr>
          <p:cNvPr id="25" name="Shape 22"/>
          <p:cNvSpPr/>
          <p:nvPr/>
        </p:nvSpPr>
        <p:spPr>
          <a:xfrm>
            <a:off x="6400800" y="5532120"/>
            <a:ext cx="1645920" cy="566928"/>
          </a:xfrm>
          <a:prstGeom prst="roundRect">
            <a:avLst>
              <a:gd name="adj" fmla="val 16129"/>
            </a:avLst>
          </a:prstGeom>
          <a:solidFill>
            <a:srgbClr val="0E9F6E"/>
          </a:solidFill>
          <a:ln w="12700">
            <a:solidFill>
              <a:srgbClr val="0E9F6E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400800" y="5532120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 </a:t>
            </a:r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0–33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8183880" y="5532120"/>
            <a:ext cx="1645920" cy="566928"/>
          </a:xfrm>
          <a:prstGeom prst="roundRect">
            <a:avLst>
              <a:gd name="adj" fmla="val 16129"/>
            </a:avLst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183880" y="5532120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  </a:t>
            </a:r>
            <a:pPr algn="ctr" indent="0" marL="0">
              <a:buNone/>
            </a:pPr>
            <a:r>
              <a:rPr lang="en-US" sz="1400" dirty="0">
                <a:solidFill>
                  <a:srgbClr val="0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34–66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9966960" y="5532120"/>
            <a:ext cx="1645920" cy="566928"/>
          </a:xfrm>
          <a:prstGeom prst="roundRect">
            <a:avLst>
              <a:gd name="adj" fmla="val 16129"/>
            </a:avLst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9966960" y="5532120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 </a:t>
            </a:r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67–100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E9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 ·  CHURN AND DEBT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F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Churn analysis and company debt health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Data Architecture  |  Stock Market &amp; Mutual Fund Risk Analytics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183112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5440680" cy="4526280"/>
          </a:xfrm>
          <a:prstGeom prst="roundRect">
            <a:avLst>
              <a:gd name="adj" fmla="val 2424"/>
            </a:avLst>
          </a:prstGeom>
          <a:solidFill>
            <a:srgbClr val="F2F6F8"/>
          </a:solidFill>
          <a:ln w="12700">
            <a:solidFill>
              <a:srgbClr val="F2F6F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18288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B1F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Churn: three lenses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822960" y="2423160"/>
            <a:ext cx="502920" cy="502920"/>
          </a:xfrm>
          <a:prstGeom prst="ellipse">
            <a:avLst/>
          </a:prstGeom>
          <a:solidFill>
            <a:srgbClr val="0E9F6E"/>
          </a:solidFill>
          <a:ln w="12700">
            <a:solidFill>
              <a:srgbClr val="0E9F6E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3719" y="2553919"/>
            <a:ext cx="241402" cy="24140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508760" y="2395728"/>
            <a:ext cx="4251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 churn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1508760" y="2715768"/>
            <a:ext cx="4251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Stocks entering or leaving the Nifty 50 at each semi-annual rebalance, shown as a timeline.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822960" y="3639312"/>
            <a:ext cx="502920" cy="502920"/>
          </a:xfrm>
          <a:prstGeom prst="ellipse">
            <a:avLst/>
          </a:prstGeom>
          <a:solidFill>
            <a:srgbClr val="0E9F6E"/>
          </a:solidFill>
          <a:ln w="12700">
            <a:solidFill>
              <a:srgbClr val="0E9F6E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3719" y="3770071"/>
            <a:ext cx="241402" cy="241402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508760" y="3611880"/>
            <a:ext cx="4251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churn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1508760" y="3931920"/>
            <a:ext cx="4251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 turnover ratio from monthly factsheets: how actively a manager trades.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822960" y="4855464"/>
            <a:ext cx="502920" cy="502920"/>
          </a:xfrm>
          <a:prstGeom prst="ellipse">
            <a:avLst/>
          </a:prstGeom>
          <a:solidFill>
            <a:srgbClr val="0E9F6E"/>
          </a:solidFill>
          <a:ln w="12700">
            <a:solidFill>
              <a:srgbClr val="0E9F6E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3719" y="4986223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508760" y="4828032"/>
            <a:ext cx="4251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churn</a:t>
            </a:r>
            <a:endParaRPr lang="en-US" sz="1500" dirty="0"/>
          </a:p>
        </p:txBody>
      </p:sp>
      <p:sp>
        <p:nvSpPr>
          <p:cNvPr id="19" name="Text 14"/>
          <p:cNvSpPr txBox="1"/>
          <p:nvPr/>
        </p:nvSpPr>
        <p:spPr>
          <a:xfrm>
            <a:off x="1508760" y="5148072"/>
            <a:ext cx="4251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AMFI category-wise inflows versus redemptions: where money is moving.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6199632" y="1645920"/>
            <a:ext cx="5440680" cy="4526280"/>
          </a:xfrm>
          <a:prstGeom prst="roundRect">
            <a:avLst>
              <a:gd name="adj" fmla="val 2424"/>
            </a:avLst>
          </a:prstGeom>
          <a:solidFill>
            <a:srgbClr val="F2F6F8"/>
          </a:solidFill>
          <a:ln w="12700">
            <a:solidFill>
              <a:srgbClr val="F2F6F8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6473952" y="18288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B1F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Debt health: Nifty 50 companies</a:t>
            </a:r>
            <a:endParaRPr lang="en-US" sz="1800" dirty="0"/>
          </a:p>
        </p:txBody>
      </p:sp>
      <p:sp>
        <p:nvSpPr>
          <p:cNvPr id="22" name="Text 17"/>
          <p:cNvSpPr txBox="1"/>
          <p:nvPr/>
        </p:nvSpPr>
        <p:spPr>
          <a:xfrm>
            <a:off x="6473952" y="242316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Debt-to-equity</a:t>
            </a:r>
            <a:endParaRPr lang="en-US" sz="1500" dirty="0"/>
          </a:p>
        </p:txBody>
      </p:sp>
      <p:sp>
        <p:nvSpPr>
          <p:cNvPr id="23" name="Text 18"/>
          <p:cNvSpPr txBox="1"/>
          <p:nvPr/>
        </p:nvSpPr>
        <p:spPr>
          <a:xfrm>
            <a:off x="6473952" y="2724912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F6F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Total debt ÷ Shareholders' equity</a:t>
            </a:r>
            <a:endParaRPr lang="en-US" sz="1250" dirty="0"/>
          </a:p>
        </p:txBody>
      </p:sp>
      <p:sp>
        <p:nvSpPr>
          <p:cNvPr id="24" name="Text 19"/>
          <p:cNvSpPr txBox="1"/>
          <p:nvPr/>
        </p:nvSpPr>
        <p:spPr>
          <a:xfrm>
            <a:off x="6473952" y="329184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Interest coverage</a:t>
            </a:r>
            <a:endParaRPr lang="en-US" sz="1500" dirty="0"/>
          </a:p>
        </p:txBody>
      </p:sp>
      <p:sp>
        <p:nvSpPr>
          <p:cNvPr id="25" name="Text 20"/>
          <p:cNvSpPr txBox="1"/>
          <p:nvPr/>
        </p:nvSpPr>
        <p:spPr>
          <a:xfrm>
            <a:off x="6473952" y="3593592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F6F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EBIT ÷ Interest expense</a:t>
            </a:r>
            <a:endParaRPr lang="en-US" sz="1250" dirty="0"/>
          </a:p>
        </p:txBody>
      </p:sp>
      <p:sp>
        <p:nvSpPr>
          <p:cNvPr id="26" name="Text 21"/>
          <p:cNvSpPr txBox="1"/>
          <p:nvPr/>
        </p:nvSpPr>
        <p:spPr>
          <a:xfrm>
            <a:off x="6473952" y="42062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 FLAGS</a:t>
            </a:r>
            <a:endParaRPr lang="en-US" sz="1000" dirty="0"/>
          </a:p>
        </p:txBody>
      </p:sp>
      <p:sp>
        <p:nvSpPr>
          <p:cNvPr id="27" name="Shape 22"/>
          <p:cNvSpPr/>
          <p:nvPr/>
        </p:nvSpPr>
        <p:spPr>
          <a:xfrm>
            <a:off x="6473952" y="4498848"/>
            <a:ext cx="4892040" cy="384048"/>
          </a:xfrm>
          <a:prstGeom prst="roundRect">
            <a:avLst>
              <a:gd name="adj" fmla="val 19048"/>
            </a:avLst>
          </a:prstGeom>
          <a:solidFill>
            <a:srgbClr val="FDECEC"/>
          </a:solidFill>
          <a:ln w="12700">
            <a:solidFill>
              <a:srgbClr val="FDECEC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6629400" y="4498848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D/E above 1 and rising for 3 years</a:t>
            </a:r>
            <a:endParaRPr lang="en-US" sz="1250" dirty="0"/>
          </a:p>
        </p:txBody>
      </p:sp>
      <p:sp>
        <p:nvSpPr>
          <p:cNvPr id="29" name="Shape 24"/>
          <p:cNvSpPr/>
          <p:nvPr/>
        </p:nvSpPr>
        <p:spPr>
          <a:xfrm>
            <a:off x="6473952" y="4974336"/>
            <a:ext cx="4892040" cy="384048"/>
          </a:xfrm>
          <a:prstGeom prst="roundRect">
            <a:avLst>
              <a:gd name="adj" fmla="val 19048"/>
            </a:avLst>
          </a:prstGeom>
          <a:solidFill>
            <a:srgbClr val="FDECEC"/>
          </a:solidFill>
          <a:ln w="12700">
            <a:solidFill>
              <a:srgbClr val="FDECEC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6629400" y="4974336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Interest coverage below 3×</a:t>
            </a:r>
            <a:endParaRPr lang="en-US" sz="1250" dirty="0"/>
          </a:p>
        </p:txBody>
      </p:sp>
      <p:sp>
        <p:nvSpPr>
          <p:cNvPr id="31" name="Text 26"/>
          <p:cNvSpPr txBox="1"/>
          <p:nvPr/>
        </p:nvSpPr>
        <p:spPr>
          <a:xfrm>
            <a:off x="6473952" y="548640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Banks and NBFCs are assessed separately, since borrowing is their core business.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E9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 ·  HOLDING-PERIOD ANALYSIS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F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Does holding longer really pay? We test it with data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Data Architecture  |  Stock Market &amp; Mutual Fund Risk Analytics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183112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737360"/>
            <a:ext cx="438912" cy="438912"/>
          </a:xfrm>
          <a:prstGeom prst="ellipse">
            <a:avLst/>
          </a:prstGeom>
          <a:solidFill>
            <a:srgbClr val="0E9F6E"/>
          </a:solidFill>
          <a:ln w="12700">
            <a:solidFill>
              <a:srgbClr val="0E9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7373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188720" y="1719072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a holding period: 1, 3, 5, 7 or 10 years.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548640" y="2514600"/>
            <a:ext cx="438912" cy="438912"/>
          </a:xfrm>
          <a:prstGeom prst="ellipse">
            <a:avLst/>
          </a:prstGeom>
          <a:solidFill>
            <a:srgbClr val="0E9F6E"/>
          </a:solidFill>
          <a:ln w="12700">
            <a:solidFill>
              <a:srgbClr val="0E9F6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5146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496312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that window across every possible start date in the history.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548640" y="3291840"/>
            <a:ext cx="438912" cy="438912"/>
          </a:xfrm>
          <a:prstGeom prst="ellipse">
            <a:avLst/>
          </a:prstGeom>
          <a:solidFill>
            <a:srgbClr val="0E9F6E"/>
          </a:solidFill>
          <a:ln w="12700">
            <a:solidFill>
              <a:srgbClr val="0E9F6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29184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3273552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the return (CAGR) of each window.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548640" y="4069080"/>
            <a:ext cx="438912" cy="438912"/>
          </a:xfrm>
          <a:prstGeom prst="ellipse">
            <a:avLst/>
          </a:prstGeom>
          <a:solidFill>
            <a:srgbClr val="0E9F6E"/>
          </a:solidFill>
          <a:ln w="12700">
            <a:solidFill>
              <a:srgbClr val="0E9F6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40690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188720" y="4050792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the share of windows that made money, the median return and the range.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548640" y="4937760"/>
            <a:ext cx="4937760" cy="1188720"/>
          </a:xfrm>
          <a:prstGeom prst="roundRect">
            <a:avLst>
              <a:gd name="adj" fmla="val 9231"/>
            </a:avLst>
          </a:prstGeom>
          <a:solidFill>
            <a:srgbClr val="E6F5EE"/>
          </a:solidFill>
          <a:ln w="12700">
            <a:solidFill>
              <a:srgbClr val="E6F5E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77240" y="5029200"/>
            <a:ext cx="4526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Shown as a range (10th percentile, median, 90th percentile CAGR), never as a single guaranteed number.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852160" y="1645920"/>
            <a:ext cx="5788152" cy="4480560"/>
          </a:xfrm>
          <a:prstGeom prst="roundRect">
            <a:avLst>
              <a:gd name="adj" fmla="val 2449"/>
            </a:avLst>
          </a:prstGeom>
          <a:solidFill>
            <a:srgbClr val="F2F6F8"/>
          </a:solidFill>
          <a:ln w="12700">
            <a:solidFill>
              <a:srgbClr val="F2F6F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126480" y="182880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Rolling 5-year windows, one per start year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309360" y="2377440"/>
            <a:ext cx="2491740" cy="310896"/>
          </a:xfrm>
          <a:prstGeom prst="roundRect">
            <a:avLst>
              <a:gd name="adj" fmla="val 17647"/>
            </a:avLst>
          </a:prstGeom>
          <a:solidFill>
            <a:srgbClr val="0E9F6E"/>
          </a:solidFill>
          <a:ln w="12700">
            <a:solidFill>
              <a:srgbClr val="0E9F6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419088" y="2377440"/>
            <a:ext cx="23088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2016 → 2021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807708" y="2834640"/>
            <a:ext cx="2491740" cy="310896"/>
          </a:xfrm>
          <a:prstGeom prst="roundRect">
            <a:avLst>
              <a:gd name="adj" fmla="val 17647"/>
            </a:avLst>
          </a:prstGeom>
          <a:solidFill>
            <a:srgbClr val="1F6F8B"/>
          </a:solidFill>
          <a:ln w="12700">
            <a:solidFill>
              <a:srgbClr val="1F6F8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917436" y="2834640"/>
            <a:ext cx="23088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2017 → 2022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7306056" y="3291840"/>
            <a:ext cx="2491740" cy="310896"/>
          </a:xfrm>
          <a:prstGeom prst="roundRect">
            <a:avLst>
              <a:gd name="adj" fmla="val 17647"/>
            </a:avLst>
          </a:prstGeom>
          <a:solidFill>
            <a:srgbClr val="0E9F6E"/>
          </a:solidFill>
          <a:ln w="12700">
            <a:solidFill>
              <a:srgbClr val="0E9F6E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415784" y="3291840"/>
            <a:ext cx="23088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2018 → 2023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7804404" y="3749040"/>
            <a:ext cx="2491740" cy="310896"/>
          </a:xfrm>
          <a:prstGeom prst="roundRect">
            <a:avLst>
              <a:gd name="adj" fmla="val 17647"/>
            </a:avLst>
          </a:prstGeom>
          <a:solidFill>
            <a:srgbClr val="1F6F8B"/>
          </a:solidFill>
          <a:ln w="12700">
            <a:solidFill>
              <a:srgbClr val="1F6F8B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914132" y="3749040"/>
            <a:ext cx="23088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2019 → 2024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8302752" y="4206240"/>
            <a:ext cx="2491740" cy="310896"/>
          </a:xfrm>
          <a:prstGeom prst="roundRect">
            <a:avLst>
              <a:gd name="adj" fmla="val 17647"/>
            </a:avLst>
          </a:prstGeom>
          <a:solidFill>
            <a:srgbClr val="0E9F6E"/>
          </a:solidFill>
          <a:ln w="12700">
            <a:solidFill>
              <a:srgbClr val="0E9F6E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412480" y="4206240"/>
            <a:ext cx="23088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2020 → 2025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8801100" y="4663440"/>
            <a:ext cx="2491740" cy="310896"/>
          </a:xfrm>
          <a:prstGeom prst="roundRect">
            <a:avLst>
              <a:gd name="adj" fmla="val 17647"/>
            </a:avLst>
          </a:prstGeom>
          <a:solidFill>
            <a:srgbClr val="1F6F8B"/>
          </a:solidFill>
          <a:ln w="12700">
            <a:solidFill>
              <a:srgbClr val="1F6F8B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910828" y="4663440"/>
            <a:ext cx="23088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2021 → 2026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309360" y="5257800"/>
            <a:ext cx="4983480" cy="0"/>
          </a:xfrm>
          <a:prstGeom prst="line">
            <a:avLst/>
          </a:prstGeom>
          <a:noFill/>
          <a:ln w="15875">
            <a:solidFill>
              <a:srgbClr val="5B6B7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309360" y="5257800"/>
            <a:ext cx="0" cy="91440"/>
          </a:xfrm>
          <a:prstGeom prst="line">
            <a:avLst/>
          </a:prstGeom>
          <a:noFill/>
          <a:ln w="12700">
            <a:solidFill>
              <a:srgbClr val="5B6B75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989320" y="5385816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2016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7306056" y="5257800"/>
            <a:ext cx="0" cy="91440"/>
          </a:xfrm>
          <a:prstGeom prst="line">
            <a:avLst/>
          </a:prstGeom>
          <a:noFill/>
          <a:ln w="12700">
            <a:solidFill>
              <a:srgbClr val="5B6B75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986016" y="5385816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2018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8302752" y="5257800"/>
            <a:ext cx="0" cy="91440"/>
          </a:xfrm>
          <a:prstGeom prst="line">
            <a:avLst/>
          </a:prstGeom>
          <a:noFill/>
          <a:ln w="12700">
            <a:solidFill>
              <a:srgbClr val="5B6B75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7982712" y="5385816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2020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9299448" y="5257800"/>
            <a:ext cx="0" cy="91440"/>
          </a:xfrm>
          <a:prstGeom prst="line">
            <a:avLst/>
          </a:prstGeom>
          <a:noFill/>
          <a:ln w="12700">
            <a:solidFill>
              <a:srgbClr val="5B6B75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979408" y="5385816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2022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10296144" y="5257800"/>
            <a:ext cx="0" cy="91440"/>
          </a:xfrm>
          <a:prstGeom prst="line">
            <a:avLst/>
          </a:prstGeom>
          <a:noFill/>
          <a:ln w="12700">
            <a:solidFill>
              <a:srgbClr val="5B6B75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9976104" y="5385816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11292840" y="5257800"/>
            <a:ext cx="0" cy="91440"/>
          </a:xfrm>
          <a:prstGeom prst="line">
            <a:avLst/>
          </a:prstGeom>
          <a:noFill/>
          <a:ln w="12700">
            <a:solidFill>
              <a:srgbClr val="5B6B75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10972800" y="5385816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1050" dirty="0"/>
          </a:p>
        </p:txBody>
      </p:sp>
      <p:sp>
        <p:nvSpPr>
          <p:cNvPr id="47" name="Text 45"/>
          <p:cNvSpPr txBox="1"/>
          <p:nvPr/>
        </p:nvSpPr>
        <p:spPr>
          <a:xfrm>
            <a:off x="6126480" y="5669280"/>
            <a:ext cx="5303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1F6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Longer holds have fewer windows; indices with longer available history extend the 7 and 10-year tests.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E9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 ·  MACHINE LEARNING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F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Forecasting: which model performs better?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Data Architecture  |  Stock Market &amp; Mutual Fund Risk Analytics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183112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74066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828800"/>
                <a:gridCol w="1325880"/>
                <a:gridCol w="224028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Runs 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 include it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2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1F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Naive / historical mean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B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B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B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model must beat this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1F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ARIMA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B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Statistical time series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B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statsmodels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B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Classic linear benchmark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1F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Prophet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B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Trend + seasonality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B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Prophet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B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Handles trend shifts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1F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 Forest / GBT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B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Tree ensembles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B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Spark MLlib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B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Scales across all funds in parallel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1F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LSTM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B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 learning (RNN)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B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TensorFlow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B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Captures non-linear patterns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5349240"/>
            <a:ext cx="7406640" cy="777240"/>
          </a:xfrm>
          <a:prstGeom prst="roundRect">
            <a:avLst>
              <a:gd name="adj" fmla="val 14118"/>
            </a:avLst>
          </a:prstGeom>
          <a:solidFill>
            <a:srgbClr val="E6F5EE"/>
          </a:solidFill>
          <a:ln w="12700">
            <a:solidFill>
              <a:srgbClr val="E6F5E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" y="5349240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</a:t>
            </a:r>
            <a:pPr indent="0" marL="0">
              <a:buNone/>
            </a:pPr>
            <a:r>
              <a:rPr lang="en-US" sz="135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returns (not raw prices) over 1-month and 3-month horizons, for indices and selected funds.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8275320" y="16916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METRICS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8275320" y="2057400"/>
            <a:ext cx="3364992" cy="1188720"/>
          </a:xfrm>
          <a:prstGeom prst="roundRect">
            <a:avLst>
              <a:gd name="adj" fmla="val 9231"/>
            </a:avLst>
          </a:prstGeom>
          <a:solidFill>
            <a:srgbClr val="F2F6F8"/>
          </a:solidFill>
          <a:ln w="12700">
            <a:solidFill>
              <a:srgbClr val="F2F6F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503920" y="222199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E9F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RMSE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8503920" y="260604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Penalises large forecast errors.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8275320" y="3429000"/>
            <a:ext cx="3364992" cy="1188720"/>
          </a:xfrm>
          <a:prstGeom prst="roundRect">
            <a:avLst>
              <a:gd name="adj" fmla="val 9231"/>
            </a:avLst>
          </a:prstGeom>
          <a:solidFill>
            <a:srgbClr val="F2F6F8"/>
          </a:solidFill>
          <a:ln w="12700">
            <a:solidFill>
              <a:srgbClr val="F2F6F8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503920" y="359359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E9F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MAE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8503920" y="397764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size of the error.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8275320" y="4800600"/>
            <a:ext cx="3364992" cy="1188720"/>
          </a:xfrm>
          <a:prstGeom prst="roundRect">
            <a:avLst>
              <a:gd name="adj" fmla="val 9231"/>
            </a:avLst>
          </a:prstGeom>
          <a:solidFill>
            <a:srgbClr val="F2F6F8"/>
          </a:solidFill>
          <a:ln w="12700">
            <a:solidFill>
              <a:srgbClr val="F2F6F8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503920" y="496519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E9F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Directional accuracy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8503920" y="534924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of periods where up or down was called correctly.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E9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 ·  MACHINE LEARNING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F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Honest evaluation and risk prediction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Data Architecture  |  Stock Market &amp; Mutual Fund Risk Analytics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183112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5760720" cy="4526280"/>
          </a:xfrm>
          <a:prstGeom prst="roundRect">
            <a:avLst>
              <a:gd name="adj" fmla="val 2424"/>
            </a:avLst>
          </a:prstGeom>
          <a:solidFill>
            <a:srgbClr val="F2F6F8"/>
          </a:solidFill>
          <a:ln w="12700">
            <a:solidFill>
              <a:srgbClr val="F2F6F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18288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B1F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Walk-forward validation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46888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 1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1737360" y="2468880"/>
            <a:ext cx="1737360" cy="365760"/>
          </a:xfrm>
          <a:prstGeom prst="rect">
            <a:avLst/>
          </a:prstGeom>
          <a:solidFill>
            <a:srgbClr val="0E9F6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474720" y="2468880"/>
            <a:ext cx="640080" cy="365760"/>
          </a:xfrm>
          <a:prstGeom prst="rect">
            <a:avLst/>
          </a:prstGeom>
          <a:solidFill>
            <a:srgbClr val="F5A52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2960" y="3035808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 2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1737360" y="3035808"/>
            <a:ext cx="2377440" cy="365760"/>
          </a:xfrm>
          <a:prstGeom prst="rect">
            <a:avLst/>
          </a:prstGeom>
          <a:solidFill>
            <a:srgbClr val="0E9F6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14800" y="3035808"/>
            <a:ext cx="640080" cy="365760"/>
          </a:xfrm>
          <a:prstGeom prst="rect">
            <a:avLst/>
          </a:prstGeom>
          <a:solidFill>
            <a:srgbClr val="F5A52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3602736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 3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602736"/>
            <a:ext cx="3017520" cy="365760"/>
          </a:xfrm>
          <a:prstGeom prst="rect">
            <a:avLst/>
          </a:prstGeom>
          <a:solidFill>
            <a:srgbClr val="0E9F6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754880" y="3602736"/>
            <a:ext cx="640080" cy="365760"/>
          </a:xfrm>
          <a:prstGeom prst="rect">
            <a:avLst/>
          </a:prstGeom>
          <a:solidFill>
            <a:srgbClr val="F5A52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2960" y="416966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 4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1737360" y="4169664"/>
            <a:ext cx="3657600" cy="365760"/>
          </a:xfrm>
          <a:prstGeom prst="rect">
            <a:avLst/>
          </a:prstGeom>
          <a:solidFill>
            <a:srgbClr val="0E9F6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94960" y="4169664"/>
            <a:ext cx="640080" cy="365760"/>
          </a:xfrm>
          <a:prstGeom prst="rect">
            <a:avLst/>
          </a:prstGeom>
          <a:solidFill>
            <a:srgbClr val="F5A52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737360" y="4800600"/>
            <a:ext cx="4206240" cy="0"/>
          </a:xfrm>
          <a:prstGeom prst="line">
            <a:avLst/>
          </a:prstGeom>
          <a:noFill/>
          <a:ln w="15875">
            <a:solidFill>
              <a:srgbClr val="5B6B75"/>
            </a:solidFill>
            <a:prstDash val="solid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5394960" y="48463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1737360" y="4892040"/>
            <a:ext cx="228600" cy="182880"/>
          </a:xfrm>
          <a:prstGeom prst="rect">
            <a:avLst/>
          </a:prstGeom>
          <a:solidFill>
            <a:srgbClr val="0E9F6E"/>
          </a:solidFill>
          <a:ln w="12700">
            <a:solidFill>
              <a:srgbClr val="0E9F6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029968" y="48463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743200" y="4892040"/>
            <a:ext cx="228600" cy="182880"/>
          </a:xfrm>
          <a:prstGeom prst="rect">
            <a:avLst/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035808" y="48463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822960" y="5257800"/>
            <a:ext cx="5257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on the past, test on the next unseen period, then roll forward. Data is never shuffled, so no future information leaks into training.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519672" y="1645920"/>
            <a:ext cx="5120640" cy="4526280"/>
          </a:xfrm>
          <a:prstGeom prst="roundRect">
            <a:avLst>
              <a:gd name="adj" fmla="val 2424"/>
            </a:avLst>
          </a:prstGeom>
          <a:solidFill>
            <a:srgbClr val="0B1F2A"/>
          </a:solidFill>
          <a:ln w="12700">
            <a:solidFill>
              <a:srgbClr val="0B1F2A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793992" y="1874520"/>
            <a:ext cx="548640" cy="548640"/>
          </a:xfrm>
          <a:prstGeom prst="ellipse">
            <a:avLst/>
          </a:prstGeom>
          <a:solidFill>
            <a:srgbClr val="0E9F6E"/>
          </a:solidFill>
          <a:ln w="12700">
            <a:solidFill>
              <a:srgbClr val="0E9F6E"/>
            </a:solidFill>
            <a:prstDash val="solid"/>
          </a:ln>
        </p:spPr>
      </p:sp>
      <p:pic>
        <p:nvPicPr>
          <p:cNvPr id="2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36638" y="2017166"/>
            <a:ext cx="263347" cy="263347"/>
          </a:xfrm>
          <a:prstGeom prst="rect">
            <a:avLst/>
          </a:prstGeom>
        </p:spPr>
      </p:pic>
      <p:sp>
        <p:nvSpPr>
          <p:cNvPr id="30" name="Text 27"/>
          <p:cNvSpPr txBox="1"/>
          <p:nvPr/>
        </p:nvSpPr>
        <p:spPr>
          <a:xfrm>
            <a:off x="7498080" y="1938528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 prediction</a:t>
            </a:r>
            <a:endParaRPr lang="en-US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6793992" y="265176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</a:t>
            </a:r>
            <a:endParaRPr lang="en-US" sz="1050" dirty="0"/>
          </a:p>
        </p:txBody>
      </p:sp>
      <p:sp>
        <p:nvSpPr>
          <p:cNvPr id="32" name="Text 29"/>
          <p:cNvSpPr txBox="1"/>
          <p:nvPr/>
        </p:nvSpPr>
        <p:spPr>
          <a:xfrm>
            <a:off x="6793992" y="2898648"/>
            <a:ext cx="4617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 next quarter's risk band: Low, Medium or High.</a:t>
            </a:r>
            <a:endParaRPr lang="en-US" sz="1300" dirty="0"/>
          </a:p>
        </p:txBody>
      </p:sp>
      <p:sp>
        <p:nvSpPr>
          <p:cNvPr id="33" name="Text 30"/>
          <p:cNvSpPr txBox="1"/>
          <p:nvPr/>
        </p:nvSpPr>
        <p:spPr>
          <a:xfrm>
            <a:off x="6793992" y="350215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</a:t>
            </a:r>
            <a:endParaRPr lang="en-US" sz="1050" dirty="0"/>
          </a:p>
        </p:txBody>
      </p:sp>
      <p:sp>
        <p:nvSpPr>
          <p:cNvPr id="34" name="Text 31"/>
          <p:cNvSpPr txBox="1"/>
          <p:nvPr/>
        </p:nvSpPr>
        <p:spPr>
          <a:xfrm>
            <a:off x="6793992" y="3749040"/>
            <a:ext cx="4617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Lagged volatility and drawdown, rolling returns, beta, fund flows, D/E trend (stocks).</a:t>
            </a:r>
            <a:endParaRPr lang="en-US" sz="1300" dirty="0"/>
          </a:p>
        </p:txBody>
      </p:sp>
      <p:sp>
        <p:nvSpPr>
          <p:cNvPr id="35" name="Text 32"/>
          <p:cNvSpPr txBox="1"/>
          <p:nvPr/>
        </p:nvSpPr>
        <p:spPr>
          <a:xfrm>
            <a:off x="6793992" y="4352544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050" dirty="0"/>
          </a:p>
        </p:txBody>
      </p:sp>
      <p:sp>
        <p:nvSpPr>
          <p:cNvPr id="36" name="Text 33"/>
          <p:cNvSpPr txBox="1"/>
          <p:nvPr/>
        </p:nvSpPr>
        <p:spPr>
          <a:xfrm>
            <a:off x="6793992" y="4599432"/>
            <a:ext cx="4617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 MLlib Random Forest classifier vs. logistic-regression baseline.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6793992" y="5202936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</a:t>
            </a:r>
            <a:endParaRPr lang="en-US" sz="1050" dirty="0"/>
          </a:p>
        </p:txBody>
      </p:sp>
      <p:sp>
        <p:nvSpPr>
          <p:cNvPr id="38" name="Text 35"/>
          <p:cNvSpPr txBox="1"/>
          <p:nvPr/>
        </p:nvSpPr>
        <p:spPr>
          <a:xfrm>
            <a:off x="6793992" y="5449824"/>
            <a:ext cx="4617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 F1 score, confusion matrix, recall on the High band.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E9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 ·  SERVING LAYER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F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Secured API from the data lake to Power BI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Data Architecture  |  Stock Market &amp; Mutual Fund Risk Analytics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183112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5394960" cy="2651760"/>
          </a:xfrm>
          <a:prstGeom prst="roundRect">
            <a:avLst>
              <a:gd name="adj" fmla="val 4138"/>
            </a:avLst>
          </a:prstGeom>
          <a:solidFill>
            <a:srgbClr val="F2F6F8"/>
          </a:solidFill>
          <a:ln w="12700">
            <a:solidFill>
              <a:srgbClr val="F2F6F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77240" y="1828800"/>
            <a:ext cx="502920" cy="502920"/>
          </a:xfrm>
          <a:prstGeom prst="ellipse">
            <a:avLst/>
          </a:prstGeom>
          <a:solidFill>
            <a:srgbClr val="0E9F6E"/>
          </a:solidFill>
          <a:ln w="12700">
            <a:solidFill>
              <a:srgbClr val="0E9F6E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999" y="1959559"/>
            <a:ext cx="241402" cy="24140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463040" y="1892808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endpoints (read Gold tables)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2468880"/>
            <a:ext cx="4937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0B1F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/funds</a:t>
            </a:r>
            <a:endParaRPr lang="en-US" sz="12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0B1F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/funds/{code}/metrics</a:t>
            </a:r>
            <a:endParaRPr lang="en-US" sz="12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0B1F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/risk-scores</a:t>
            </a:r>
            <a:endParaRPr lang="en-US" sz="12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0B1F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/holding-period</a:t>
            </a:r>
            <a:endParaRPr lang="en-US" sz="12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0B1F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/churn</a:t>
            </a:r>
            <a:endParaRPr lang="en-US" sz="12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0B1F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/models/comparison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548640" y="4526280"/>
            <a:ext cx="402336" cy="402336"/>
          </a:xfrm>
          <a:prstGeom prst="ellipse">
            <a:avLst/>
          </a:prstGeom>
          <a:solidFill>
            <a:srgbClr val="E6F5EE"/>
          </a:solidFill>
          <a:ln w="12700">
            <a:solidFill>
              <a:srgbClr val="E6F5EE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247" y="4630887"/>
            <a:ext cx="193121" cy="193121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097280" y="4526280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request carries an X-API-Key header; invalid keys get 401.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548640" y="5074920"/>
            <a:ext cx="402336" cy="402336"/>
          </a:xfrm>
          <a:prstGeom prst="ellipse">
            <a:avLst/>
          </a:prstGeom>
          <a:solidFill>
            <a:srgbClr val="E6F5EE"/>
          </a:solidFill>
          <a:ln w="12700">
            <a:solidFill>
              <a:srgbClr val="E6F5EE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247" y="5179527"/>
            <a:ext cx="193121" cy="193121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097280" y="5074920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Hosted over HTTPS on Render, so Power BI Service can refresh on schedule.</a:t>
            </a:r>
            <a:endParaRPr lang="en-US" sz="1250" dirty="0"/>
          </a:p>
        </p:txBody>
      </p:sp>
      <p:sp>
        <p:nvSpPr>
          <p:cNvPr id="17" name="Shape 12"/>
          <p:cNvSpPr/>
          <p:nvPr/>
        </p:nvSpPr>
        <p:spPr>
          <a:xfrm>
            <a:off x="548640" y="5623560"/>
            <a:ext cx="402336" cy="402336"/>
          </a:xfrm>
          <a:prstGeom prst="ellipse">
            <a:avLst/>
          </a:prstGeom>
          <a:solidFill>
            <a:srgbClr val="E6F5EE"/>
          </a:solidFill>
          <a:ln w="12700">
            <a:solidFill>
              <a:srgbClr val="E6F5EE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247" y="5728167"/>
            <a:ext cx="193121" cy="193121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097280" y="5623560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key lives in a Power Query parameter, not in the shared .pbix.</a:t>
            </a:r>
            <a:endParaRPr lang="en-US" sz="1250" dirty="0"/>
          </a:p>
        </p:txBody>
      </p:sp>
      <p:sp>
        <p:nvSpPr>
          <p:cNvPr id="20" name="Shape 14"/>
          <p:cNvSpPr/>
          <p:nvPr/>
        </p:nvSpPr>
        <p:spPr>
          <a:xfrm>
            <a:off x="6217920" y="1645920"/>
            <a:ext cx="5422392" cy="3611880"/>
          </a:xfrm>
          <a:prstGeom prst="roundRect">
            <a:avLst>
              <a:gd name="adj" fmla="val 3038"/>
            </a:avLst>
          </a:prstGeom>
          <a:solidFill>
            <a:srgbClr val="0B1F2A"/>
          </a:solidFill>
          <a:ln w="12700">
            <a:solidFill>
              <a:srgbClr val="0B1F2A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21" name="Text 15"/>
          <p:cNvSpPr txBox="1"/>
          <p:nvPr/>
        </p:nvSpPr>
        <p:spPr>
          <a:xfrm>
            <a:off x="6492240" y="182880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Query (M) connection</a:t>
            </a:r>
            <a:endParaRPr lang="en-US" sz="1300" dirty="0"/>
          </a:p>
        </p:txBody>
      </p:sp>
      <p:sp>
        <p:nvSpPr>
          <p:cNvPr id="22" name="Text 16"/>
          <p:cNvSpPr txBox="1"/>
          <p:nvPr/>
        </p:nvSpPr>
        <p:spPr>
          <a:xfrm>
            <a:off x="6492240" y="2286000"/>
            <a:ext cx="49377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7E6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7E6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Source = Json.Document(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7E6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Web.Contents(ApiBaseUrl, [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7E6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RelativePath = "risk-scores",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7E6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Headers = [#"X-API-Key" = ApiKey]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7E6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])),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7E6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Result = Table.FromRecords(Source)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7E6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7E6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Result</a:t>
            </a:r>
            <a:endParaRPr lang="en-US" sz="1200" dirty="0"/>
          </a:p>
        </p:txBody>
      </p:sp>
      <p:sp>
        <p:nvSpPr>
          <p:cNvPr id="23" name="Text 17"/>
          <p:cNvSpPr txBox="1"/>
          <p:nvPr/>
        </p:nvSpPr>
        <p:spPr>
          <a:xfrm>
            <a:off x="6217920" y="5440680"/>
            <a:ext cx="54223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1F6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ApiBaseUrl and ApiKey are Power BI parameters. RelativePath keeps the base URL static, which scheduled refresh in Power BI Service requires.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E9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 ·  VISUALIZATION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F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 BI dashboard: six connected pages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Data Architecture  |  Stock Market &amp; Mutual Fund Risk Analytics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183112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5212080" cy="4526280"/>
          </a:xfrm>
          <a:prstGeom prst="roundRect">
            <a:avLst>
              <a:gd name="adj" fmla="val 2424"/>
            </a:avLst>
          </a:prstGeom>
          <a:solidFill>
            <a:srgbClr val="F2F6F8"/>
          </a:solidFill>
          <a:ln w="12700">
            <a:solidFill>
              <a:srgbClr val="F2F6F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78308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 PAGE LAYOUT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777240" y="2148840"/>
            <a:ext cx="109728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D6E0E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50392" y="2212848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Nifty 50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868680" y="2560320"/>
            <a:ext cx="640080" cy="164592"/>
          </a:xfrm>
          <a:prstGeom prst="rect">
            <a:avLst/>
          </a:prstGeom>
          <a:solidFill>
            <a:srgbClr val="0E9F6E"/>
          </a:solidFill>
          <a:ln w="12700">
            <a:solidFill>
              <a:srgbClr val="0E9F6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993392" y="2148840"/>
            <a:ext cx="109728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D6E0E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066544" y="2212848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Sensex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2084832" y="2560320"/>
            <a:ext cx="640080" cy="164592"/>
          </a:xfrm>
          <a:prstGeom prst="rect">
            <a:avLst/>
          </a:prstGeom>
          <a:solidFill>
            <a:srgbClr val="0E9F6E"/>
          </a:solidFill>
          <a:ln w="12700">
            <a:solidFill>
              <a:srgbClr val="0E9F6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09544" y="2148840"/>
            <a:ext cx="109728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D6E0E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282696" y="2212848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fund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300984" y="2560320"/>
            <a:ext cx="640080" cy="164592"/>
          </a:xfrm>
          <a:prstGeom prst="rect">
            <a:avLst/>
          </a:prstGeom>
          <a:solidFill>
            <a:srgbClr val="0E9F6E"/>
          </a:solidFill>
          <a:ln w="12700">
            <a:solidFill>
              <a:srgbClr val="0E9F6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425696" y="2148840"/>
            <a:ext cx="109728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D6E0E5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498848" y="2212848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 lakh, 10 yrs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517136" y="2560320"/>
            <a:ext cx="640080" cy="164592"/>
          </a:xfrm>
          <a:prstGeom prst="rect">
            <a:avLst/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77240" y="3017520"/>
            <a:ext cx="475488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D6E0E5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14400" y="30815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 trend (10 years)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 flipV="1">
            <a:off x="960120" y="3995928"/>
            <a:ext cx="475488" cy="137160"/>
          </a:xfrm>
          <a:prstGeom prst="line">
            <a:avLst/>
          </a:prstGeom>
          <a:noFill/>
          <a:ln w="28575">
            <a:solidFill>
              <a:srgbClr val="0E9F6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435608" y="3995928"/>
            <a:ext cx="475488" cy="45720"/>
          </a:xfrm>
          <a:prstGeom prst="line">
            <a:avLst/>
          </a:prstGeom>
          <a:noFill/>
          <a:ln w="28575">
            <a:solidFill>
              <a:srgbClr val="0E9F6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1911096" y="3858768"/>
            <a:ext cx="475488" cy="182880"/>
          </a:xfrm>
          <a:prstGeom prst="line">
            <a:avLst/>
          </a:prstGeom>
          <a:noFill/>
          <a:ln w="28575">
            <a:solidFill>
              <a:srgbClr val="0E9F6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86584" y="3858768"/>
            <a:ext cx="475488" cy="45720"/>
          </a:xfrm>
          <a:prstGeom prst="line">
            <a:avLst/>
          </a:prstGeom>
          <a:noFill/>
          <a:ln w="28575">
            <a:solidFill>
              <a:srgbClr val="0E9F6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2862072" y="3749040"/>
            <a:ext cx="475488" cy="155448"/>
          </a:xfrm>
          <a:prstGeom prst="line">
            <a:avLst/>
          </a:prstGeom>
          <a:noFill/>
          <a:ln w="28575">
            <a:solidFill>
              <a:srgbClr val="0E9F6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337560" y="3749040"/>
            <a:ext cx="475488" cy="36576"/>
          </a:xfrm>
          <a:prstGeom prst="line">
            <a:avLst/>
          </a:prstGeom>
          <a:noFill/>
          <a:ln w="28575">
            <a:solidFill>
              <a:srgbClr val="0E9F6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3813048" y="3584448"/>
            <a:ext cx="475488" cy="201168"/>
          </a:xfrm>
          <a:prstGeom prst="line">
            <a:avLst/>
          </a:prstGeom>
          <a:noFill/>
          <a:ln w="28575">
            <a:solidFill>
              <a:srgbClr val="0E9F6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288536" y="3584448"/>
            <a:ext cx="475488" cy="45720"/>
          </a:xfrm>
          <a:prstGeom prst="line">
            <a:avLst/>
          </a:prstGeom>
          <a:noFill/>
          <a:ln w="28575">
            <a:solidFill>
              <a:srgbClr val="0E9F6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V="1">
            <a:off x="4764024" y="3447288"/>
            <a:ext cx="475488" cy="182880"/>
          </a:xfrm>
          <a:prstGeom prst="line">
            <a:avLst/>
          </a:prstGeom>
          <a:noFill/>
          <a:ln w="28575">
            <a:solidFill>
              <a:srgbClr val="0E9F6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77240" y="4572000"/>
            <a:ext cx="475488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D6E0E5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14400" y="46360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performing funds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914400" y="4956048"/>
            <a:ext cx="3566160" cy="164592"/>
          </a:xfrm>
          <a:prstGeom prst="rect">
            <a:avLst/>
          </a:prstGeom>
          <a:solidFill>
            <a:srgbClr val="0E9F6E"/>
          </a:solidFill>
          <a:ln w="12700">
            <a:solidFill>
              <a:srgbClr val="0E9F6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14400" y="5202936"/>
            <a:ext cx="3108960" cy="164592"/>
          </a:xfrm>
          <a:prstGeom prst="rect">
            <a:avLst/>
          </a:prstGeom>
          <a:solidFill>
            <a:srgbClr val="1F6F8B">
              <a:alpha val="85000"/>
            </a:srgbClr>
          </a:solidFill>
          <a:ln w="12700">
            <a:solidFill>
              <a:srgbClr val="1F6F8B">
                <a:alpha val="8500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14400" y="5449824"/>
            <a:ext cx="2743200" cy="164592"/>
          </a:xfrm>
          <a:prstGeom prst="rect">
            <a:avLst/>
          </a:prstGeom>
          <a:solidFill>
            <a:srgbClr val="1F6F8B">
              <a:alpha val="70000"/>
            </a:srgbClr>
          </a:solidFill>
          <a:ln w="12700">
            <a:solidFill>
              <a:srgbClr val="1F6F8B">
                <a:alpha val="7000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14400" y="5696712"/>
            <a:ext cx="2286000" cy="164592"/>
          </a:xfrm>
          <a:prstGeom prst="rect">
            <a:avLst/>
          </a:prstGeom>
          <a:solidFill>
            <a:srgbClr val="1F6F8B">
              <a:alpha val="55000"/>
            </a:srgbClr>
          </a:solidFill>
          <a:ln w="12700">
            <a:solidFill>
              <a:srgbClr val="1F6F8B">
                <a:alpha val="5500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080760" y="1691640"/>
            <a:ext cx="457200" cy="457200"/>
          </a:xfrm>
          <a:prstGeom prst="ellipse">
            <a:avLst/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08076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6720840" y="1655064"/>
            <a:ext cx="4892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6720840" y="1947672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Top-performing funds, index KPIs, “₹1 lakh invested 10 years ago” card</a:t>
            </a:r>
            <a:endParaRPr lang="en-US" sz="1250" dirty="0"/>
          </a:p>
        </p:txBody>
      </p:sp>
      <p:sp>
        <p:nvSpPr>
          <p:cNvPr id="41" name="Shape 39"/>
          <p:cNvSpPr/>
          <p:nvPr/>
        </p:nvSpPr>
        <p:spPr>
          <a:xfrm>
            <a:off x="6080760" y="2423160"/>
            <a:ext cx="457200" cy="457200"/>
          </a:xfrm>
          <a:prstGeom prst="ellipse">
            <a:avLst/>
          </a:prstGeom>
          <a:solidFill>
            <a:srgbClr val="0E9F6E"/>
          </a:solidFill>
          <a:ln w="12700">
            <a:solidFill>
              <a:srgbClr val="0E9F6E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080760" y="2423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6720840" y="2386584"/>
            <a:ext cx="4892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 Explorer</a:t>
            </a:r>
            <a:endParaRPr lang="en-US" sz="1500" dirty="0"/>
          </a:p>
        </p:txBody>
      </p:sp>
      <p:sp>
        <p:nvSpPr>
          <p:cNvPr id="44" name="Text 42"/>
          <p:cNvSpPr txBox="1"/>
          <p:nvPr/>
        </p:nvSpPr>
        <p:spPr>
          <a:xfrm>
            <a:off x="6720840" y="2679192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Returns, rolling returns and SIP calculator per fund</a:t>
            </a:r>
            <a:endParaRPr lang="en-US" sz="1250" dirty="0"/>
          </a:p>
        </p:txBody>
      </p:sp>
      <p:sp>
        <p:nvSpPr>
          <p:cNvPr id="45" name="Shape 43"/>
          <p:cNvSpPr/>
          <p:nvPr/>
        </p:nvSpPr>
        <p:spPr>
          <a:xfrm>
            <a:off x="6080760" y="3154680"/>
            <a:ext cx="457200" cy="457200"/>
          </a:xfrm>
          <a:prstGeom prst="ellipse">
            <a:avLst/>
          </a:prstGeom>
          <a:solidFill>
            <a:srgbClr val="0E9F6E"/>
          </a:solidFill>
          <a:ln w="12700">
            <a:solidFill>
              <a:srgbClr val="0E9F6E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6080760" y="3154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6720840" y="3118104"/>
            <a:ext cx="4892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</a:t>
            </a:r>
            <a:endParaRPr lang="en-US" sz="1500" dirty="0"/>
          </a:p>
        </p:txBody>
      </p:sp>
      <p:sp>
        <p:nvSpPr>
          <p:cNvPr id="48" name="Text 46"/>
          <p:cNvSpPr txBox="1"/>
          <p:nvPr/>
        </p:nvSpPr>
        <p:spPr>
          <a:xfrm>
            <a:off x="6720840" y="3410712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score, drawdown chart, risk-versus-return scatter</a:t>
            </a:r>
            <a:endParaRPr lang="en-US" sz="1250" dirty="0"/>
          </a:p>
        </p:txBody>
      </p:sp>
      <p:sp>
        <p:nvSpPr>
          <p:cNvPr id="49" name="Shape 47"/>
          <p:cNvSpPr/>
          <p:nvPr/>
        </p:nvSpPr>
        <p:spPr>
          <a:xfrm>
            <a:off x="6080760" y="3886200"/>
            <a:ext cx="457200" cy="457200"/>
          </a:xfrm>
          <a:prstGeom prst="ellipse">
            <a:avLst/>
          </a:prstGeom>
          <a:solidFill>
            <a:srgbClr val="0E9F6E"/>
          </a:solidFill>
          <a:ln w="12700">
            <a:solidFill>
              <a:srgbClr val="0E9F6E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6080760" y="3886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6720840" y="3849624"/>
            <a:ext cx="4892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Holding Period</a:t>
            </a:r>
            <a:endParaRPr lang="en-US" sz="1500" dirty="0"/>
          </a:p>
        </p:txBody>
      </p:sp>
      <p:sp>
        <p:nvSpPr>
          <p:cNvPr id="52" name="Text 50"/>
          <p:cNvSpPr txBox="1"/>
          <p:nvPr/>
        </p:nvSpPr>
        <p:spPr>
          <a:xfrm>
            <a:off x="6720840" y="4142232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Probability of gain and return range by years held</a:t>
            </a:r>
            <a:endParaRPr lang="en-US" sz="1250" dirty="0"/>
          </a:p>
        </p:txBody>
      </p:sp>
      <p:sp>
        <p:nvSpPr>
          <p:cNvPr id="53" name="Shape 51"/>
          <p:cNvSpPr/>
          <p:nvPr/>
        </p:nvSpPr>
        <p:spPr>
          <a:xfrm>
            <a:off x="6080760" y="4617720"/>
            <a:ext cx="457200" cy="457200"/>
          </a:xfrm>
          <a:prstGeom prst="ellipse">
            <a:avLst/>
          </a:prstGeom>
          <a:solidFill>
            <a:srgbClr val="0E9F6E"/>
          </a:solidFill>
          <a:ln w="12700">
            <a:solidFill>
              <a:srgbClr val="0E9F6E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6080760" y="4617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6720840" y="4581144"/>
            <a:ext cx="4892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 Health</a:t>
            </a:r>
            <a:endParaRPr lang="en-US" sz="1500" dirty="0"/>
          </a:p>
        </p:txBody>
      </p:sp>
      <p:sp>
        <p:nvSpPr>
          <p:cNvPr id="56" name="Text 54"/>
          <p:cNvSpPr txBox="1"/>
          <p:nvPr/>
        </p:nvSpPr>
        <p:spPr>
          <a:xfrm>
            <a:off x="6720840" y="4873752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Debt-to-equity trends and Nifty 50 churn timeline</a:t>
            </a:r>
            <a:endParaRPr lang="en-US" sz="1250" dirty="0"/>
          </a:p>
        </p:txBody>
      </p:sp>
      <p:sp>
        <p:nvSpPr>
          <p:cNvPr id="57" name="Shape 55"/>
          <p:cNvSpPr/>
          <p:nvPr/>
        </p:nvSpPr>
        <p:spPr>
          <a:xfrm>
            <a:off x="6080760" y="5349240"/>
            <a:ext cx="457200" cy="457200"/>
          </a:xfrm>
          <a:prstGeom prst="ellipse">
            <a:avLst/>
          </a:prstGeom>
          <a:solidFill>
            <a:srgbClr val="0E9F6E"/>
          </a:solidFill>
          <a:ln w="12700">
            <a:solidFill>
              <a:srgbClr val="0E9F6E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6080760" y="5349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6720840" y="5312664"/>
            <a:ext cx="4892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Comparison</a:t>
            </a:r>
            <a:endParaRPr lang="en-US" sz="1500" dirty="0"/>
          </a:p>
        </p:txBody>
      </p:sp>
      <p:sp>
        <p:nvSpPr>
          <p:cNvPr id="60" name="Text 58"/>
          <p:cNvSpPr txBox="1"/>
          <p:nvPr/>
        </p:nvSpPr>
        <p:spPr>
          <a:xfrm>
            <a:off x="6720840" y="5605272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metrics and actual-versus-predicted charts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E9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 ·  TECHNOLOGY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F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Technology stack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Data Architecture  |  Stock Market &amp; Mutual Fund Risk Analytics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183112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2651760" cy="2057400"/>
          </a:xfrm>
          <a:prstGeom prst="roundRect">
            <a:avLst>
              <a:gd name="adj" fmla="val 5333"/>
            </a:avLst>
          </a:prstGeom>
          <a:solidFill>
            <a:srgbClr val="F2F6F8"/>
          </a:solidFill>
          <a:ln w="12700">
            <a:solidFill>
              <a:srgbClr val="F2F6F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04672" y="1947672"/>
            <a:ext cx="548640" cy="548640"/>
          </a:xfrm>
          <a:prstGeom prst="ellipse">
            <a:avLst/>
          </a:prstGeom>
          <a:solidFill>
            <a:srgbClr val="0E9F6E"/>
          </a:solidFill>
          <a:ln w="12700">
            <a:solidFill>
              <a:srgbClr val="0E9F6E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7318" y="2090318"/>
            <a:ext cx="263347" cy="263347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04672" y="260604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E9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INGESTION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804672" y="288036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0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Python, requests, yfinance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3364992" y="1691640"/>
            <a:ext cx="2651760" cy="2057400"/>
          </a:xfrm>
          <a:prstGeom prst="roundRect">
            <a:avLst>
              <a:gd name="adj" fmla="val 5333"/>
            </a:avLst>
          </a:prstGeom>
          <a:solidFill>
            <a:srgbClr val="F2F6F8"/>
          </a:solidFill>
          <a:ln w="12700">
            <a:solidFill>
              <a:srgbClr val="F2F6F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621024" y="1947672"/>
            <a:ext cx="548640" cy="548640"/>
          </a:xfrm>
          <a:prstGeom prst="ellipse">
            <a:avLst/>
          </a:prstGeom>
          <a:solidFill>
            <a:srgbClr val="0B1F2A"/>
          </a:solidFill>
          <a:ln w="12700">
            <a:solidFill>
              <a:srgbClr val="0B1F2A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3670" y="2090318"/>
            <a:ext cx="263347" cy="263347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3621024" y="260604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E9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</a:t>
            </a:r>
            <a:endParaRPr lang="en-US" sz="1050" dirty="0"/>
          </a:p>
        </p:txBody>
      </p:sp>
      <p:sp>
        <p:nvSpPr>
          <p:cNvPr id="15" name="Text 11"/>
          <p:cNvSpPr txBox="1"/>
          <p:nvPr/>
        </p:nvSpPr>
        <p:spPr>
          <a:xfrm>
            <a:off x="3621024" y="288036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0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HDFS / Databricks DBFS, Apache Parquet</a:t>
            </a:r>
            <a:endParaRPr lang="en-US" sz="1450" dirty="0"/>
          </a:p>
        </p:txBody>
      </p:sp>
      <p:sp>
        <p:nvSpPr>
          <p:cNvPr id="16" name="Shape 12"/>
          <p:cNvSpPr/>
          <p:nvPr/>
        </p:nvSpPr>
        <p:spPr>
          <a:xfrm>
            <a:off x="6181344" y="1691640"/>
            <a:ext cx="2651760" cy="2057400"/>
          </a:xfrm>
          <a:prstGeom prst="roundRect">
            <a:avLst>
              <a:gd name="adj" fmla="val 5333"/>
            </a:avLst>
          </a:prstGeom>
          <a:solidFill>
            <a:srgbClr val="F2F6F8"/>
          </a:solidFill>
          <a:ln w="12700">
            <a:solidFill>
              <a:srgbClr val="F2F6F8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6437376" y="1947672"/>
            <a:ext cx="548640" cy="548640"/>
          </a:xfrm>
          <a:prstGeom prst="ellipse">
            <a:avLst/>
          </a:prstGeom>
          <a:solidFill>
            <a:srgbClr val="0B1F2A"/>
          </a:solidFill>
          <a:ln w="12700">
            <a:solidFill>
              <a:srgbClr val="0B1F2A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0022" y="2090318"/>
            <a:ext cx="263347" cy="263347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6437376" y="260604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E9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PROCESSING</a:t>
            </a:r>
            <a:endParaRPr lang="en-US" sz="1050" dirty="0"/>
          </a:p>
        </p:txBody>
      </p:sp>
      <p:sp>
        <p:nvSpPr>
          <p:cNvPr id="20" name="Text 15"/>
          <p:cNvSpPr txBox="1"/>
          <p:nvPr/>
        </p:nvSpPr>
        <p:spPr>
          <a:xfrm>
            <a:off x="6437376" y="288036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0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Apache Spark (PySpark, Spark SQL)</a:t>
            </a:r>
            <a:endParaRPr lang="en-US" sz="1450" dirty="0"/>
          </a:p>
        </p:txBody>
      </p:sp>
      <p:sp>
        <p:nvSpPr>
          <p:cNvPr id="21" name="Shape 16"/>
          <p:cNvSpPr/>
          <p:nvPr/>
        </p:nvSpPr>
        <p:spPr>
          <a:xfrm>
            <a:off x="8997696" y="1691640"/>
            <a:ext cx="2651760" cy="2057400"/>
          </a:xfrm>
          <a:prstGeom prst="roundRect">
            <a:avLst>
              <a:gd name="adj" fmla="val 5333"/>
            </a:avLst>
          </a:prstGeom>
          <a:solidFill>
            <a:srgbClr val="F2F6F8"/>
          </a:solidFill>
          <a:ln w="12700">
            <a:solidFill>
              <a:srgbClr val="F2F6F8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9253728" y="1947672"/>
            <a:ext cx="548640" cy="548640"/>
          </a:xfrm>
          <a:prstGeom prst="ellipse">
            <a:avLst/>
          </a:prstGeom>
          <a:solidFill>
            <a:srgbClr val="0E9F6E"/>
          </a:solidFill>
          <a:ln w="12700">
            <a:solidFill>
              <a:srgbClr val="0E9F6E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6374" y="2090318"/>
            <a:ext cx="263347" cy="263347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9253728" y="260604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E9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ORCHESTRATION</a:t>
            </a:r>
            <a:endParaRPr lang="en-US" sz="1050" dirty="0"/>
          </a:p>
        </p:txBody>
      </p:sp>
      <p:sp>
        <p:nvSpPr>
          <p:cNvPr id="25" name="Text 19"/>
          <p:cNvSpPr txBox="1"/>
          <p:nvPr/>
        </p:nvSpPr>
        <p:spPr>
          <a:xfrm>
            <a:off x="9253728" y="288036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0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Apache Airflow</a:t>
            </a:r>
            <a:endParaRPr lang="en-US" sz="1450" dirty="0"/>
          </a:p>
        </p:txBody>
      </p:sp>
      <p:sp>
        <p:nvSpPr>
          <p:cNvPr id="26" name="Shape 20"/>
          <p:cNvSpPr/>
          <p:nvPr/>
        </p:nvSpPr>
        <p:spPr>
          <a:xfrm>
            <a:off x="548640" y="3977640"/>
            <a:ext cx="2651760" cy="2057400"/>
          </a:xfrm>
          <a:prstGeom prst="roundRect">
            <a:avLst>
              <a:gd name="adj" fmla="val 5333"/>
            </a:avLst>
          </a:prstGeom>
          <a:solidFill>
            <a:srgbClr val="F2F6F8"/>
          </a:solidFill>
          <a:ln w="12700">
            <a:solidFill>
              <a:srgbClr val="F2F6F8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804672" y="4233672"/>
            <a:ext cx="548640" cy="548640"/>
          </a:xfrm>
          <a:prstGeom prst="ellipse">
            <a:avLst/>
          </a:prstGeom>
          <a:solidFill>
            <a:srgbClr val="0E9F6E"/>
          </a:solidFill>
          <a:ln w="12700">
            <a:solidFill>
              <a:srgbClr val="0E9F6E"/>
            </a:solidFill>
            <a:prstDash val="solid"/>
          </a:ln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7318" y="4376318"/>
            <a:ext cx="263347" cy="263347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804672" y="489204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E9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LEARNING</a:t>
            </a:r>
            <a:endParaRPr lang="en-US" sz="1050" dirty="0"/>
          </a:p>
        </p:txBody>
      </p:sp>
      <p:sp>
        <p:nvSpPr>
          <p:cNvPr id="30" name="Text 23"/>
          <p:cNvSpPr txBox="1"/>
          <p:nvPr/>
        </p:nvSpPr>
        <p:spPr>
          <a:xfrm>
            <a:off x="804672" y="516636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0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 MLlib, statsmodels, Prophet, TensorFlow</a:t>
            </a:r>
            <a:endParaRPr lang="en-US" sz="1450" dirty="0"/>
          </a:p>
        </p:txBody>
      </p:sp>
      <p:sp>
        <p:nvSpPr>
          <p:cNvPr id="31" name="Shape 24"/>
          <p:cNvSpPr/>
          <p:nvPr/>
        </p:nvSpPr>
        <p:spPr>
          <a:xfrm>
            <a:off x="3364992" y="3977640"/>
            <a:ext cx="2651760" cy="2057400"/>
          </a:xfrm>
          <a:prstGeom prst="roundRect">
            <a:avLst>
              <a:gd name="adj" fmla="val 5333"/>
            </a:avLst>
          </a:prstGeom>
          <a:solidFill>
            <a:srgbClr val="F2F6F8"/>
          </a:solidFill>
          <a:ln w="12700">
            <a:solidFill>
              <a:srgbClr val="F2F6F8"/>
            </a:solidFill>
            <a:prstDash val="solid"/>
          </a:ln>
        </p:spPr>
      </p:sp>
      <p:sp>
        <p:nvSpPr>
          <p:cNvPr id="32" name="Shape 25"/>
          <p:cNvSpPr/>
          <p:nvPr/>
        </p:nvSpPr>
        <p:spPr>
          <a:xfrm>
            <a:off x="3621024" y="4233672"/>
            <a:ext cx="548640" cy="548640"/>
          </a:xfrm>
          <a:prstGeom prst="ellipse">
            <a:avLst/>
          </a:prstGeom>
          <a:solidFill>
            <a:srgbClr val="0E9F6E"/>
          </a:solidFill>
          <a:ln w="12700">
            <a:solidFill>
              <a:srgbClr val="0E9F6E"/>
            </a:solidFill>
            <a:prstDash val="solid"/>
          </a:ln>
        </p:spPr>
      </p:sp>
      <p:pic>
        <p:nvPicPr>
          <p:cNvPr id="3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63670" y="4376318"/>
            <a:ext cx="263347" cy="263347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3621024" y="489204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E9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SERVING</a:t>
            </a:r>
            <a:endParaRPr lang="en-US" sz="1050" dirty="0"/>
          </a:p>
        </p:txBody>
      </p:sp>
      <p:sp>
        <p:nvSpPr>
          <p:cNvPr id="35" name="Text 27"/>
          <p:cNvSpPr txBox="1"/>
          <p:nvPr/>
        </p:nvSpPr>
        <p:spPr>
          <a:xfrm>
            <a:off x="3621024" y="516636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0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FastAPI, Uvicorn, Render</a:t>
            </a:r>
            <a:endParaRPr lang="en-US" sz="1450" dirty="0"/>
          </a:p>
        </p:txBody>
      </p:sp>
      <p:sp>
        <p:nvSpPr>
          <p:cNvPr id="36" name="Shape 28"/>
          <p:cNvSpPr/>
          <p:nvPr/>
        </p:nvSpPr>
        <p:spPr>
          <a:xfrm>
            <a:off x="6181344" y="3977640"/>
            <a:ext cx="2651760" cy="2057400"/>
          </a:xfrm>
          <a:prstGeom prst="roundRect">
            <a:avLst>
              <a:gd name="adj" fmla="val 5333"/>
            </a:avLst>
          </a:prstGeom>
          <a:solidFill>
            <a:srgbClr val="F2F6F8"/>
          </a:solidFill>
          <a:ln w="12700">
            <a:solidFill>
              <a:srgbClr val="F2F6F8"/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6437376" y="4233672"/>
            <a:ext cx="548640" cy="548640"/>
          </a:xfrm>
          <a:prstGeom prst="ellipse">
            <a:avLst/>
          </a:prstGeom>
          <a:solidFill>
            <a:srgbClr val="0E9F6E"/>
          </a:solidFill>
          <a:ln w="12700">
            <a:solidFill>
              <a:srgbClr val="0E9F6E"/>
            </a:solidFill>
            <a:prstDash val="solid"/>
          </a:ln>
        </p:spPr>
      </p:sp>
      <p:pic>
        <p:nvPicPr>
          <p:cNvPr id="3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80022" y="4376318"/>
            <a:ext cx="263347" cy="263347"/>
          </a:xfrm>
          <a:prstGeom prst="rect">
            <a:avLst/>
          </a:prstGeom>
        </p:spPr>
      </p:pic>
      <p:sp>
        <p:nvSpPr>
          <p:cNvPr id="39" name="Text 30"/>
          <p:cNvSpPr txBox="1"/>
          <p:nvPr/>
        </p:nvSpPr>
        <p:spPr>
          <a:xfrm>
            <a:off x="6437376" y="489204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E9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VISUALIZATION</a:t>
            </a:r>
            <a:endParaRPr lang="en-US" sz="1050" dirty="0"/>
          </a:p>
        </p:txBody>
      </p:sp>
      <p:sp>
        <p:nvSpPr>
          <p:cNvPr id="40" name="Text 31"/>
          <p:cNvSpPr txBox="1"/>
          <p:nvPr/>
        </p:nvSpPr>
        <p:spPr>
          <a:xfrm>
            <a:off x="6437376" y="516636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0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Desktop and Service</a:t>
            </a:r>
            <a:endParaRPr lang="en-US" sz="1450" dirty="0"/>
          </a:p>
        </p:txBody>
      </p:sp>
      <p:sp>
        <p:nvSpPr>
          <p:cNvPr id="41" name="Shape 32"/>
          <p:cNvSpPr/>
          <p:nvPr/>
        </p:nvSpPr>
        <p:spPr>
          <a:xfrm>
            <a:off x="8997696" y="3977640"/>
            <a:ext cx="2651760" cy="2057400"/>
          </a:xfrm>
          <a:prstGeom prst="roundRect">
            <a:avLst>
              <a:gd name="adj" fmla="val 5333"/>
            </a:avLst>
          </a:prstGeom>
          <a:solidFill>
            <a:srgbClr val="F2F6F8"/>
          </a:solidFill>
          <a:ln w="12700">
            <a:solidFill>
              <a:srgbClr val="F2F6F8"/>
            </a:solidFill>
            <a:prstDash val="solid"/>
          </a:ln>
        </p:spPr>
      </p:sp>
      <p:sp>
        <p:nvSpPr>
          <p:cNvPr id="42" name="Shape 33"/>
          <p:cNvSpPr/>
          <p:nvPr/>
        </p:nvSpPr>
        <p:spPr>
          <a:xfrm>
            <a:off x="9253728" y="4233672"/>
            <a:ext cx="548640" cy="548640"/>
          </a:xfrm>
          <a:prstGeom prst="ellipse">
            <a:avLst/>
          </a:prstGeom>
          <a:solidFill>
            <a:srgbClr val="0E9F6E"/>
          </a:solidFill>
          <a:ln w="12700">
            <a:solidFill>
              <a:srgbClr val="0E9F6E"/>
            </a:solidFill>
            <a:prstDash val="solid"/>
          </a:ln>
        </p:spPr>
      </p:sp>
      <p:pic>
        <p:nvPicPr>
          <p:cNvPr id="43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96374" y="4376318"/>
            <a:ext cx="263347" cy="263347"/>
          </a:xfrm>
          <a:prstGeom prst="rect">
            <a:avLst/>
          </a:prstGeom>
        </p:spPr>
      </p:pic>
      <p:sp>
        <p:nvSpPr>
          <p:cNvPr id="44" name="Text 34"/>
          <p:cNvSpPr txBox="1"/>
          <p:nvPr/>
        </p:nvSpPr>
        <p:spPr>
          <a:xfrm>
            <a:off x="9253728" y="489204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E9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COLLABORATION</a:t>
            </a:r>
            <a:endParaRPr lang="en-US" sz="1050" dirty="0"/>
          </a:p>
        </p:txBody>
      </p:sp>
      <p:sp>
        <p:nvSpPr>
          <p:cNvPr id="45" name="Text 35"/>
          <p:cNvSpPr txBox="1"/>
          <p:nvPr/>
        </p:nvSpPr>
        <p:spPr>
          <a:xfrm>
            <a:off x="9253728" y="516636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0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GitHub, Jupyter notebooks</a:t>
            </a:r>
            <a:endParaRPr lang="en-US" sz="14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E9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 ·  TEAM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F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and responsibilities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Data Architecture  |  Stock Market &amp; Mutual Fund Risk Analytics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183112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3520440" cy="3931920"/>
          </a:xfrm>
          <a:prstGeom prst="roundRect">
            <a:avLst>
              <a:gd name="adj" fmla="val 3117"/>
            </a:avLst>
          </a:prstGeom>
          <a:solidFill>
            <a:srgbClr val="F2F6F8"/>
          </a:solidFill>
          <a:ln w="12700">
            <a:solidFill>
              <a:srgbClr val="F2F6F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920240"/>
            <a:ext cx="868680" cy="868680"/>
          </a:xfrm>
          <a:prstGeom prst="ellipse">
            <a:avLst/>
          </a:prstGeom>
          <a:solidFill>
            <a:srgbClr val="0B1F2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192024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97180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0B1F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Suseendar Hari Krishnan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40156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E9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Architecture &amp; Engineering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3886200"/>
            <a:ext cx="3017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architecture design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Ingestion connectors and Airflow DAGs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 pipeline and Medallion data lake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334256" y="1645920"/>
            <a:ext cx="3520440" cy="3931920"/>
          </a:xfrm>
          <a:prstGeom prst="roundRect">
            <a:avLst>
              <a:gd name="adj" fmla="val 3117"/>
            </a:avLst>
          </a:prstGeom>
          <a:solidFill>
            <a:srgbClr val="F2F6F8"/>
          </a:solidFill>
          <a:ln w="12700">
            <a:solidFill>
              <a:srgbClr val="F2F6F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08576" y="1920240"/>
            <a:ext cx="868680" cy="868680"/>
          </a:xfrm>
          <a:prstGeom prst="ellipse">
            <a:avLst/>
          </a:prstGeom>
          <a:solidFill>
            <a:srgbClr val="0E9F6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608576" y="192024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4608576" y="297180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0B1F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Lakshan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4608576" y="340156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E9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&amp; Machine Learning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608576" y="3886200"/>
            <a:ext cx="3017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and risk metrics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score, churn and debt analysis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Forecasting models and validation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8119872" y="1645920"/>
            <a:ext cx="3520440" cy="3931920"/>
          </a:xfrm>
          <a:prstGeom prst="roundRect">
            <a:avLst>
              <a:gd name="adj" fmla="val 3117"/>
            </a:avLst>
          </a:prstGeom>
          <a:solidFill>
            <a:srgbClr val="F2F6F8"/>
          </a:solidFill>
          <a:ln w="12700">
            <a:solidFill>
              <a:srgbClr val="F2F6F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394192" y="1920240"/>
            <a:ext cx="868680" cy="868680"/>
          </a:xfrm>
          <a:prstGeom prst="ellipse">
            <a:avLst/>
          </a:prstGeom>
          <a:solidFill>
            <a:srgbClr val="1F6F8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394192" y="192024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endParaRPr lang="en-US" sz="2200" dirty="0"/>
          </a:p>
        </p:txBody>
      </p:sp>
      <p:sp>
        <p:nvSpPr>
          <p:cNvPr id="21" name="Text 19"/>
          <p:cNvSpPr txBox="1"/>
          <p:nvPr/>
        </p:nvSpPr>
        <p:spPr>
          <a:xfrm>
            <a:off x="8394192" y="297180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0B1F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Viswesh</a:t>
            </a:r>
            <a:endParaRPr lang="en-US" sz="1900" dirty="0"/>
          </a:p>
        </p:txBody>
      </p:sp>
      <p:sp>
        <p:nvSpPr>
          <p:cNvPr id="22" name="Text 20"/>
          <p:cNvSpPr txBox="1"/>
          <p:nvPr/>
        </p:nvSpPr>
        <p:spPr>
          <a:xfrm>
            <a:off x="8394192" y="340156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E9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&amp; Visualization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8394192" y="3886200"/>
            <a:ext cx="3017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service with API-key security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deployment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dashboard and reports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548640" y="5760720"/>
            <a:ext cx="384048" cy="384048"/>
          </a:xfrm>
          <a:prstGeom prst="ellipse">
            <a:avLst/>
          </a:prstGeom>
          <a:solidFill>
            <a:srgbClr val="E6F5EE"/>
          </a:solidFill>
          <a:ln w="12700">
            <a:solidFill>
              <a:srgbClr val="E6F5EE"/>
            </a:solidFill>
            <a:prstDash val="solid"/>
          </a:ln>
        </p:spPr>
      </p:sp>
      <p:pic>
        <p:nvPicPr>
          <p:cNvPr id="2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8492" y="5860572"/>
            <a:ext cx="184343" cy="184343"/>
          </a:xfrm>
          <a:prstGeom prst="rect">
            <a:avLst/>
          </a:prstGeom>
        </p:spPr>
      </p:pic>
      <p:sp>
        <p:nvSpPr>
          <p:cNvPr id="26" name="Text 23"/>
          <p:cNvSpPr txBox="1"/>
          <p:nvPr/>
        </p:nvSpPr>
        <p:spPr>
          <a:xfrm>
            <a:off x="1051560" y="5760720"/>
            <a:ext cx="10058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by all: documentation, testing and the final presentation.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E9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 ·  RISKS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F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challenges and how we handle them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Data Architecture  |  Stock Market &amp; Mutual Fund Risk Analytics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183112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6675120" y="164592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5394960" cy="713232"/>
          </a:xfrm>
          <a:prstGeom prst="roundRect">
            <a:avLst>
              <a:gd name="adj" fmla="val 15385"/>
            </a:avLst>
          </a:prstGeom>
          <a:solidFill>
            <a:srgbClr val="FDF1F1"/>
          </a:solidFill>
          <a:ln w="12700">
            <a:solidFill>
              <a:srgbClr val="FDF1F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201168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Survivorship bias   </a:t>
            </a:r>
            <a:pPr indent="0" marL="0">
              <a:buNone/>
            </a:pPr>
            <a:r>
              <a:rPr lang="en-US" sz="13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and merged funds disappear from current lists.</a:t>
            </a:r>
            <a:endParaRPr lang="en-US" sz="13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44768" y="2231136"/>
            <a:ext cx="274320" cy="27432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6629400" y="2011680"/>
            <a:ext cx="5010912" cy="713232"/>
          </a:xfrm>
          <a:prstGeom prst="roundRect">
            <a:avLst>
              <a:gd name="adj" fmla="val 15385"/>
            </a:avLst>
          </a:prstGeom>
          <a:solidFill>
            <a:srgbClr val="E6F5EE"/>
          </a:solidFill>
          <a:ln w="12700">
            <a:solidFill>
              <a:srgbClr val="E6F5E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0" y="2011680"/>
            <a:ext cx="4663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closed and merged schemes from AMFI history in the Bronze layer.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48640" y="2852928"/>
            <a:ext cx="5394960" cy="713232"/>
          </a:xfrm>
          <a:prstGeom prst="roundRect">
            <a:avLst>
              <a:gd name="adj" fmla="val 15385"/>
            </a:avLst>
          </a:prstGeom>
          <a:solidFill>
            <a:srgbClr val="FDF1F1"/>
          </a:solidFill>
          <a:ln w="12700">
            <a:solidFill>
              <a:srgbClr val="FDF1F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77240" y="2852928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 actions   </a:t>
            </a:r>
            <a:pPr indent="0" marL="0">
              <a:buNone/>
            </a:pPr>
            <a:r>
              <a:rPr lang="en-US" sz="13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Splits and bonus issues distort raw prices.</a:t>
            </a:r>
            <a:endParaRPr lang="en-US" sz="1300" dirty="0"/>
          </a:p>
        </p:txBody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4768" y="3072384"/>
            <a:ext cx="274320" cy="27432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29400" y="2852928"/>
            <a:ext cx="5010912" cy="713232"/>
          </a:xfrm>
          <a:prstGeom prst="roundRect">
            <a:avLst>
              <a:gd name="adj" fmla="val 15385"/>
            </a:avLst>
          </a:prstGeom>
          <a:solidFill>
            <a:srgbClr val="E6F5EE"/>
          </a:solidFill>
          <a:ln w="12700">
            <a:solidFill>
              <a:srgbClr val="E6F5EE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858000" y="2852928"/>
            <a:ext cx="4663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adjusted prices and verify them against known split dates.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548640" y="3694176"/>
            <a:ext cx="5394960" cy="713232"/>
          </a:xfrm>
          <a:prstGeom prst="roundRect">
            <a:avLst>
              <a:gd name="adj" fmla="val 15385"/>
            </a:avLst>
          </a:prstGeom>
          <a:solidFill>
            <a:srgbClr val="FDF1F1"/>
          </a:solidFill>
          <a:ln w="12700">
            <a:solidFill>
              <a:srgbClr val="FDF1F1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777240" y="3694176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leakage   </a:t>
            </a:r>
            <a:pPr indent="0" marL="0">
              <a:buNone/>
            </a:pPr>
            <a:r>
              <a:rPr lang="en-US" sz="13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look accurate by seeing the future.</a:t>
            </a:r>
            <a:endParaRPr lang="en-US" sz="1300" dirty="0"/>
          </a:p>
        </p:txBody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4768" y="3913632"/>
            <a:ext cx="274320" cy="274320"/>
          </a:xfrm>
          <a:prstGeom prst="rect">
            <a:avLst/>
          </a:prstGeom>
        </p:spPr>
      </p:pic>
      <p:sp>
        <p:nvSpPr>
          <p:cNvPr id="21" name="Shape 16"/>
          <p:cNvSpPr/>
          <p:nvPr/>
        </p:nvSpPr>
        <p:spPr>
          <a:xfrm>
            <a:off x="6629400" y="3694176"/>
            <a:ext cx="5010912" cy="713232"/>
          </a:xfrm>
          <a:prstGeom prst="roundRect">
            <a:avLst>
              <a:gd name="adj" fmla="val 15385"/>
            </a:avLst>
          </a:prstGeom>
          <a:solidFill>
            <a:srgbClr val="E6F5EE"/>
          </a:solidFill>
          <a:ln w="12700">
            <a:solidFill>
              <a:srgbClr val="E6F5EE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6858000" y="3694176"/>
            <a:ext cx="4663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Walk-forward validation; features use only past data.</a:t>
            </a:r>
            <a:endParaRPr lang="en-US" sz="1300" dirty="0"/>
          </a:p>
        </p:txBody>
      </p:sp>
      <p:sp>
        <p:nvSpPr>
          <p:cNvPr id="23" name="Shape 18"/>
          <p:cNvSpPr/>
          <p:nvPr/>
        </p:nvSpPr>
        <p:spPr>
          <a:xfrm>
            <a:off x="548640" y="4535424"/>
            <a:ext cx="5394960" cy="713232"/>
          </a:xfrm>
          <a:prstGeom prst="roundRect">
            <a:avLst>
              <a:gd name="adj" fmla="val 15385"/>
            </a:avLst>
          </a:prstGeom>
          <a:solidFill>
            <a:srgbClr val="FDF1F1"/>
          </a:solidFill>
          <a:ln w="12700">
            <a:solidFill>
              <a:srgbClr val="FDF1F1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777240" y="4535424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changes   </a:t>
            </a:r>
            <a:pPr indent="0" marL="0">
              <a:buNone/>
            </a:pPr>
            <a:r>
              <a:rPr lang="en-US" sz="13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Websites go down or change file formats.</a:t>
            </a:r>
            <a:endParaRPr lang="en-US" sz="1300" dirty="0"/>
          </a:p>
        </p:txBody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44768" y="4754880"/>
            <a:ext cx="274320" cy="274320"/>
          </a:xfrm>
          <a:prstGeom prst="rect">
            <a:avLst/>
          </a:prstGeom>
        </p:spPr>
      </p:pic>
      <p:sp>
        <p:nvSpPr>
          <p:cNvPr id="26" name="Shape 20"/>
          <p:cNvSpPr/>
          <p:nvPr/>
        </p:nvSpPr>
        <p:spPr>
          <a:xfrm>
            <a:off x="6629400" y="4535424"/>
            <a:ext cx="5010912" cy="713232"/>
          </a:xfrm>
          <a:prstGeom prst="roundRect">
            <a:avLst>
              <a:gd name="adj" fmla="val 15385"/>
            </a:avLst>
          </a:prstGeom>
          <a:solidFill>
            <a:srgbClr val="E6F5EE"/>
          </a:solidFill>
          <a:ln w="12700">
            <a:solidFill>
              <a:srgbClr val="E6F5EE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6858000" y="4535424"/>
            <a:ext cx="4663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Bronze keeps every raw file; connectors retry and log failures.</a:t>
            </a:r>
            <a:endParaRPr lang="en-US" sz="1300" dirty="0"/>
          </a:p>
        </p:txBody>
      </p:sp>
      <p:sp>
        <p:nvSpPr>
          <p:cNvPr id="28" name="Shape 22"/>
          <p:cNvSpPr/>
          <p:nvPr/>
        </p:nvSpPr>
        <p:spPr>
          <a:xfrm>
            <a:off x="548640" y="5376672"/>
            <a:ext cx="5394960" cy="713232"/>
          </a:xfrm>
          <a:prstGeom prst="roundRect">
            <a:avLst>
              <a:gd name="adj" fmla="val 15385"/>
            </a:avLst>
          </a:prstGeom>
          <a:solidFill>
            <a:srgbClr val="FDF1F1"/>
          </a:solidFill>
          <a:ln w="12700">
            <a:solidFill>
              <a:srgbClr val="FDF1F1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777240" y="5376672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refresh   </a:t>
            </a:r>
            <a:pPr indent="0" marL="0">
              <a:buNone/>
            </a:pPr>
            <a:r>
              <a:rPr lang="en-US" sz="13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Service cannot reach localhost.</a:t>
            </a:r>
            <a:endParaRPr lang="en-US" sz="1300" dirty="0"/>
          </a:p>
        </p:txBody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44768" y="5596128"/>
            <a:ext cx="274320" cy="274320"/>
          </a:xfrm>
          <a:prstGeom prst="rect">
            <a:avLst/>
          </a:prstGeom>
        </p:spPr>
      </p:pic>
      <p:sp>
        <p:nvSpPr>
          <p:cNvPr id="31" name="Shape 24"/>
          <p:cNvSpPr/>
          <p:nvPr/>
        </p:nvSpPr>
        <p:spPr>
          <a:xfrm>
            <a:off x="6629400" y="5376672"/>
            <a:ext cx="5010912" cy="713232"/>
          </a:xfrm>
          <a:prstGeom prst="roundRect">
            <a:avLst>
              <a:gd name="adj" fmla="val 15385"/>
            </a:avLst>
          </a:prstGeom>
          <a:solidFill>
            <a:srgbClr val="E6F5EE"/>
          </a:solidFill>
          <a:ln w="12700">
            <a:solidFill>
              <a:srgbClr val="E6F5EE"/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6858000" y="5376672"/>
            <a:ext cx="4663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HTTPS API with RelativePath-based queries.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B1F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E9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OUTCOMES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68680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will hand over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2560320" cy="2514600"/>
          </a:xfrm>
          <a:prstGeom prst="roundRect">
            <a:avLst>
              <a:gd name="adj" fmla="val 4364"/>
            </a:avLst>
          </a:prstGeom>
          <a:solidFill>
            <a:srgbClr val="16313F"/>
          </a:solidFill>
          <a:ln w="12700">
            <a:solidFill>
              <a:srgbClr val="16313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96112" y="2084832"/>
            <a:ext cx="548640" cy="548640"/>
          </a:xfrm>
          <a:prstGeom prst="ellipse">
            <a:avLst/>
          </a:prstGeom>
          <a:solidFill>
            <a:srgbClr val="0E9F6E"/>
          </a:solidFill>
          <a:ln w="12700">
            <a:solidFill>
              <a:srgbClr val="0E9F6E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8758" y="2227478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96112" y="274320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10-year Medallion data lake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896112" y="333756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8C7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 index, fund and stock data, cleaned and partitioned in Parquet.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3401568" y="1828800"/>
            <a:ext cx="2560320" cy="2514600"/>
          </a:xfrm>
          <a:prstGeom prst="roundRect">
            <a:avLst>
              <a:gd name="adj" fmla="val 4364"/>
            </a:avLst>
          </a:prstGeom>
          <a:solidFill>
            <a:srgbClr val="16313F"/>
          </a:solidFill>
          <a:ln w="12700">
            <a:solidFill>
              <a:srgbClr val="16313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657600" y="2084832"/>
            <a:ext cx="548640" cy="548640"/>
          </a:xfrm>
          <a:prstGeom prst="ellipse">
            <a:avLst/>
          </a:prstGeom>
          <a:solidFill>
            <a:srgbClr val="0E9F6E"/>
          </a:solidFill>
          <a:ln w="12700">
            <a:solidFill>
              <a:srgbClr val="0E9F6E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0246" y="2227478"/>
            <a:ext cx="263347" cy="26334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657600" y="274320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Explainable risk score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3657600" y="333756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8C7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0–100 score and predicted risk band for every fund and stock.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6163056" y="1828800"/>
            <a:ext cx="2560320" cy="2514600"/>
          </a:xfrm>
          <a:prstGeom prst="roundRect">
            <a:avLst>
              <a:gd name="adj" fmla="val 4364"/>
            </a:avLst>
          </a:prstGeom>
          <a:solidFill>
            <a:srgbClr val="16313F"/>
          </a:solidFill>
          <a:ln w="12700">
            <a:solidFill>
              <a:srgbClr val="16313F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419088" y="2084832"/>
            <a:ext cx="548640" cy="548640"/>
          </a:xfrm>
          <a:prstGeom prst="ellipse">
            <a:avLst/>
          </a:prstGeom>
          <a:solidFill>
            <a:srgbClr val="0E9F6E"/>
          </a:solidFill>
          <a:ln w="12700">
            <a:solidFill>
              <a:srgbClr val="0E9F6E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1734" y="2227478"/>
            <a:ext cx="263347" cy="26334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419088" y="274320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 model benchmark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6419088" y="333756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8C7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forecasting models compared with walk-forward validation.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8924544" y="1828800"/>
            <a:ext cx="2560320" cy="2514600"/>
          </a:xfrm>
          <a:prstGeom prst="roundRect">
            <a:avLst>
              <a:gd name="adj" fmla="val 4364"/>
            </a:avLst>
          </a:prstGeom>
          <a:solidFill>
            <a:srgbClr val="16313F"/>
          </a:solidFill>
          <a:ln w="12700">
            <a:solidFill>
              <a:srgbClr val="16313F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9180576" y="2084832"/>
            <a:ext cx="548640" cy="548640"/>
          </a:xfrm>
          <a:prstGeom prst="ellipse">
            <a:avLst/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3222" y="2227478"/>
            <a:ext cx="263347" cy="263347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9180576" y="274320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Power BI dashboard</a:t>
            </a:r>
            <a:endParaRPr lang="en-US" sz="1500" dirty="0"/>
          </a:p>
        </p:txBody>
      </p:sp>
      <p:sp>
        <p:nvSpPr>
          <p:cNvPr id="23" name="Text 17"/>
          <p:cNvSpPr txBox="1"/>
          <p:nvPr/>
        </p:nvSpPr>
        <p:spPr>
          <a:xfrm>
            <a:off x="9180576" y="333756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8C7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pages fed by a secured API with scheduled refresh.</a:t>
            </a:r>
            <a:endParaRPr lang="en-US" sz="1200" dirty="0"/>
          </a:p>
        </p:txBody>
      </p:sp>
      <p:sp>
        <p:nvSpPr>
          <p:cNvPr id="24" name="Text 18"/>
          <p:cNvSpPr txBox="1"/>
          <p:nvPr/>
        </p:nvSpPr>
        <p:spPr>
          <a:xfrm>
            <a:off x="640080" y="480060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4000" dirty="0"/>
          </a:p>
        </p:txBody>
      </p:sp>
      <p:sp>
        <p:nvSpPr>
          <p:cNvPr id="25" name="Text 19"/>
          <p:cNvSpPr txBox="1"/>
          <p:nvPr/>
        </p:nvSpPr>
        <p:spPr>
          <a:xfrm>
            <a:off x="640080" y="55321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B8C7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and feedback are welcome.</a:t>
            </a:r>
            <a:endParaRPr lang="en-US" sz="1600" dirty="0"/>
          </a:p>
        </p:txBody>
      </p:sp>
      <p:sp>
        <p:nvSpPr>
          <p:cNvPr id="26" name="Text 20"/>
          <p:cNvSpPr txBox="1"/>
          <p:nvPr/>
        </p:nvSpPr>
        <p:spPr>
          <a:xfrm>
            <a:off x="7589520" y="4800600"/>
            <a:ext cx="40233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Suseendar Hari Krishnan</a:t>
            </a:r>
            <a:endParaRPr lang="en-US" sz="1600" dirty="0"/>
          </a:p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Lakshan</a:t>
            </a:r>
            <a:endParaRPr lang="en-US" sz="1600" dirty="0"/>
          </a:p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Viswesh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Stock Market &amp; Mutual Fund Risk Analytics Platform</dc:title>
  <dc:subject>PptxGenJS Presentation</dc:subject>
  <dc:creator>Suseendar Hari Krishnan, Lakshan, Viswesh</dc:creator>
  <cp:lastModifiedBy>Suseendar Hari Krishnan, Lakshan, Viswesh</cp:lastModifiedBy>
  <cp:revision>1</cp:revision>
  <dcterms:created xsi:type="dcterms:W3CDTF">2026-09-24T16:23:44Z</dcterms:created>
  <dcterms:modified xsi:type="dcterms:W3CDTF">2026-09-24T16:23:44Z</dcterms:modified>
</cp:coreProperties>
</file>