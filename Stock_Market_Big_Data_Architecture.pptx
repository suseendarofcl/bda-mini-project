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4.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5.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Weight</c:v>
                </c:pt>
              </c:strCache>
            </c:strRef>
          </c:tx>
          <c:spPr>
            <a:solidFill>
              <a:schemeClr val="accent1"/>
            </a:solidFill>
            <a:ln w="9525" cap="flat">
              <a:solidFill>
                <a:srgbClr val="F9F9F9"/>
              </a:solidFill>
              <a:prstDash val="solid"/>
              <a:round/>
            </a:ln>
            <a:effectLst/>
          </c:spPr>
          <c:dPt>
            <c:idx val="0"/>
            <c:bubble3D val="0"/>
            <c:spPr>
              <a:solidFill>
                <a:srgbClr val="0E9F6E"/>
              </a:solidFill>
              <a:effectLst/>
            </c:spPr>
          </c:dPt>
          <c:dPt>
            <c:idx val="1"/>
            <c:bubble3D val="0"/>
            <c:spPr>
              <a:solidFill>
                <a:srgbClr val="1F6F8B"/>
              </a:solidFill>
              <a:effectLst/>
            </c:spPr>
          </c:dPt>
          <c:dPt>
            <c:idx val="2"/>
            <c:bubble3D val="0"/>
            <c:spPr>
              <a:solidFill>
                <a:srgbClr val="F5A524"/>
              </a:solidFill>
              <a:effectLst/>
            </c:spPr>
          </c:dPt>
          <c:dPt>
            <c:idx val="3"/>
            <c:bubble3D val="0"/>
            <c:spPr>
              <a:solidFill>
                <a:srgbClr val="E5484D"/>
              </a:solidFill>
              <a:effectLst/>
            </c:spPr>
          </c:dPt>
          <c:dLbls>
            <c:dLbl>
              <c:idx val="0"/>
              <c:numFmt formatCode="0%" sourceLinked="0"/>
              <c:spPr/>
              <c:txPr>
                <a:bodyPr/>
                <a:lstStyle/>
                <a:p>
                  <a:pPr>
                    <a:defRPr sz="1100" b="1"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100" b="1"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100" b="1"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1100" b="1"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Volatility</c:v>
                </c:pt>
                <c:pt idx="1">
                  <c:v>Max drawdown</c:v>
                </c:pt>
                <c:pt idx="2">
                  <c:v>VaR (95%)</c:v>
                </c:pt>
                <c:pt idx="3">
                  <c:v>Beta</c:v>
                </c:pt>
              </c:strCache>
            </c:strRef>
          </c:cat>
          <c:val>
            <c:numRef>
              <c:f>Sheet1!$B$2:$B$5</c:f>
              <c:numCache>
                <c:ptCount val="4"/>
                <c:pt idx="0">
                  <c:v>35.3</c:v>
                </c:pt>
                <c:pt idx="1">
                  <c:v>29.4</c:v>
                </c:pt>
                <c:pt idx="2">
                  <c:v>17.65</c:v>
                </c:pt>
                <c:pt idx="3">
                  <c:v>17.65</c:v>
                </c:pt>
              </c:numCache>
            </c:numRef>
          </c:val>
        </c:ser>
        <c:firstSliceAng val="0"/>
        <c:holeSize val="52"/>
      </c:doughnutChart>
      <c:spPr>
        <a:noFill/>
        <a:ln>
          <a:noFill/>
        </a:ln>
        <a:effectLst/>
      </c:spPr>
    </c:plotArea>
    <c:legend>
      <c:legendPos val="b"/>
      <c:overlay val="0"/>
      <c:txPr>
        <a:bodyPr/>
        <a:lstStyle/>
        <a:p>
          <a:pPr>
            <a:defRPr sz="1100">
              <a:solidFill>
                <a:srgbClr val="1B2B34"/>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1F2A"/>
                </a:solidFill>
                <a:latin typeface="Calibri"/>
              </a:defRPr>
            </a:pPr>
            <a:r>
              <a:rPr sz="1300" b="0" i="0" u="none" strike="noStrike">
                <a:solidFill>
                  <a:srgbClr val="0B1F2A"/>
                </a:solidFill>
                <a:latin typeface="Calibri"/>
              </a:rPr>
              <a:t>Top 10 funds by 10-year CAGR (%)</a:t>
            </a:r>
          </a:p>
        </c:rich>
      </c:tx>
      <c:layout/>
      <c:overlay val="0"/>
    </c:title>
    <c:autoTitleDeleted val="0"/>
    <c:plotArea>
      <c:layout/>
      <c:barChart>
        <c:barDir val="bar"/>
        <c:grouping val="clustered"/>
        <c:varyColors val="0"/>
        <c:ser>
          <c:idx val="0"/>
          <c:order val="0"/>
          <c:tx>
            <c:strRef>
              <c:f>Sheet1!$B$1</c:f>
              <c:strCache>
                <c:ptCount val="1"/>
                <c:pt idx="0">
                  <c:v>10-year CAGR (%)</c:v>
                </c:pt>
              </c:strCache>
            </c:strRef>
          </c:tx>
          <c:spPr>
            <a:solidFill>
              <a:srgbClr val="0E9F6E"/>
            </a:solidFill>
            <a:effectLst/>
          </c:spPr>
          <c:invertIfNegative val="0"/>
          <c:dLbls>
            <c:numFmt formatCode="0.0" sourceLinked="0"/>
            <c:txPr>
              <a:bodyPr/>
              <a:lstStyle/>
              <a:p>
                <a:pPr>
                  <a:defRPr b="0" i="0" strike="noStrike" sz="1050" u="none">
                    <a:solidFill>
                      <a:srgbClr val="1B2B34"/>
                    </a:solidFill>
                    <a:latin typeface="Arial"/>
                  </a:defRPr>
                </a:pPr>
              </a:p>
            </c:txPr>
            <c:showLegendKey val="0"/>
            <c:showVal val="1"/>
            <c:showCatName val="0"/>
            <c:showSerName val="0"/>
            <c:showPercent val="0"/>
            <c:showBubbleSize val="0"/>
            <c:showLeaderLines val="0"/>
          </c:dLbls>
          <c:cat>
            <c:multiLvlStrRef>
              <c:f>Sheet1!$A$2:$A$11</c:f>
              <c:multiLvlStrCache>
                <c:ptCount val="10"/>
                <c:lvl>
                  <c:pt idx="0">
                    <c:v>Canara Robeco Flexicap</c:v>
                  </c:pt>
                  <c:pt idx="1">
                    <c:v>Franklin India Mid Cap</c:v>
                  </c:pt>
                  <c:pt idx="2">
                    <c:v>Tata Mid Cap</c:v>
                  </c:pt>
                  <c:pt idx="3">
                    <c:v>ICICI Prudential MidCap</c:v>
                  </c:pt>
                  <c:pt idx="4">
                    <c:v>Motilal Oswal Midcap</c:v>
                  </c:pt>
                  <c:pt idx="5">
                    <c:v>Parag Parikh Flexi Cap</c:v>
                  </c:pt>
                  <c:pt idx="6">
                    <c:v>Axis Midcap</c:v>
                  </c:pt>
                  <c:pt idx="7">
                    <c:v>Kotak Midcap</c:v>
                  </c:pt>
                  <c:pt idx="8">
                    <c:v>Nippon India Growth Mid Cap</c:v>
                  </c:pt>
                  <c:pt idx="9">
                    <c:v>Invesco India Midcap</c:v>
                  </c:pt>
                </c:lvl>
              </c:multiLvlStrCache>
            </c:multiLvlStrRef>
          </c:cat>
          <c:val>
            <c:numRef>
              <c:f>Sheet1!$B$2:$B$11</c:f>
              <c:numCache>
                <c:formatCode>General</c:formatCode>
                <c:ptCount val="10"/>
                <c:pt idx="0">
                  <c:v>13.83</c:v>
                </c:pt>
                <c:pt idx="1">
                  <c:v>13.9</c:v>
                </c:pt>
                <c:pt idx="2">
                  <c:v>15.9</c:v>
                </c:pt>
                <c:pt idx="3">
                  <c:v>16.41</c:v>
                </c:pt>
                <c:pt idx="4">
                  <c:v>16.68</c:v>
                </c:pt>
                <c:pt idx="5">
                  <c:v>16.85</c:v>
                </c:pt>
                <c:pt idx="6">
                  <c:v>17.15</c:v>
                </c:pt>
                <c:pt idx="7">
                  <c:v>17.23</c:v>
                </c:pt>
                <c:pt idx="8">
                  <c:v>17.67</c:v>
                </c:pt>
                <c:pt idx="9">
                  <c:v>18.96</c:v>
                </c:pt>
              </c:numCache>
            </c:numRef>
          </c:val>
        </c:ser>
        <c:dLbls>
          <c:numFmt formatCode="0.0" sourceLinked="0"/>
          <c:txPr>
            <a:bodyPr/>
            <a:lstStyle/>
            <a:p>
              <a:pPr>
                <a:defRPr b="0" i="0" strike="noStrike" sz="1050" u="none">
                  <a:solidFill>
                    <a:srgbClr val="1B2B34"/>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1B2B34"/>
                </a:solidFill>
                <a:latin typeface="Calibri"/>
              </a:defRPr>
            </a:pPr>
            <a:endParaRPr lang="en-US"/>
          </a:p>
        </c:txPr>
        <c:crossAx val="2094734552"/>
        <c:crosses val="autoZero"/>
        <c:auto val="1"/>
        <c:lblAlgn val="ctr"/>
        <c:noMultiLvlLbl val="1"/>
      </c:catAx>
      <c:valAx>
        <c:axId val="2094734552"/>
        <c:scaling>
          <c:orientation val="minMax"/>
          <c:max val="2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1F2A"/>
                </a:solidFill>
                <a:latin typeface="Calibri"/>
              </a:defRPr>
            </a:pPr>
            <a:r>
              <a:rPr sz="1300" b="0" i="0" u="none" strike="noStrike">
                <a:solidFill>
                  <a:srgbClr val="0B1F2A"/>
                </a:solidFill>
                <a:latin typeface="Calibri"/>
              </a:rPr>
              <a:t>Share of holding windows that made money (%)</a:t>
            </a:r>
          </a:p>
        </c:rich>
      </c:tx>
      <c:layout/>
      <c:overlay val="0"/>
    </c:title>
    <c:autoTitleDeleted val="0"/>
    <c:plotArea>
      <c:layout/>
      <c:barChart>
        <c:barDir val="col"/>
        <c:grouping val="clustered"/>
        <c:varyColors val="0"/>
        <c:ser>
          <c:idx val="0"/>
          <c:order val="0"/>
          <c:tx>
            <c:strRef>
              <c:f>Sheet1!$B$1</c:f>
              <c:strCache>
                <c:ptCount val="1"/>
                <c:pt idx="0">
                  <c:v>Windows with a gain (%)</c:v>
                </c:pt>
              </c:strCache>
            </c:strRef>
          </c:tx>
          <c:spPr>
            <a:solidFill>
              <a:srgbClr val="0E9F6E"/>
            </a:solidFill>
            <a:effectLst/>
          </c:spPr>
          <c:invertIfNegative val="0"/>
          <c:dLbls>
            <c:numFmt formatCode="0.0" sourceLinked="0"/>
            <c:txPr>
              <a:bodyPr/>
              <a:lstStyle/>
              <a:p>
                <a:pPr>
                  <a:defRPr b="0" i="0" strike="noStrike" sz="1100" u="none">
                    <a:solidFill>
                      <a:srgbClr val="1B2B34"/>
                    </a:solidFill>
                    <a:latin typeface="Arial"/>
                  </a:defRPr>
                </a:pPr>
              </a:p>
            </c:txPr>
            <c:showLegendKey val="0"/>
            <c:showVal val="1"/>
            <c:showCatName val="0"/>
            <c:showSerName val="0"/>
            <c:showPercent val="0"/>
            <c:showBubbleSize val="0"/>
            <c:showLeaderLines val="0"/>
          </c:dLbls>
          <c:cat>
            <c:multiLvlStrRef>
              <c:f>Sheet1!$A$2:$A$6</c:f>
              <c:multiLvlStrCache>
                <c:ptCount val="5"/>
                <c:lvl>
                  <c:pt idx="0">
                    <c:v>1 year</c:v>
                  </c:pt>
                  <c:pt idx="1">
                    <c:v>3 years</c:v>
                  </c:pt>
                  <c:pt idx="2">
                    <c:v>5 years</c:v>
                  </c:pt>
                  <c:pt idx="3">
                    <c:v>7 years</c:v>
                  </c:pt>
                  <c:pt idx="4">
                    <c:v>10 years</c:v>
                  </c:pt>
                </c:lvl>
              </c:multiLvlStrCache>
            </c:multiLvlStrRef>
          </c:cat>
          <c:val>
            <c:numRef>
              <c:f>Sheet1!$B$2:$B$6</c:f>
              <c:numCache>
                <c:formatCode>General</c:formatCode>
                <c:ptCount val="5"/>
                <c:pt idx="0">
                  <c:v>83</c:v>
                </c:pt>
                <c:pt idx="1">
                  <c:v>97.8</c:v>
                </c:pt>
                <c:pt idx="2">
                  <c:v>99.9</c:v>
                </c:pt>
                <c:pt idx="3">
                  <c:v>100</c:v>
                </c:pt>
                <c:pt idx="4">
                  <c:v>100</c:v>
                </c:pt>
              </c:numCache>
            </c:numRef>
          </c:val>
        </c:ser>
        <c:dLbls>
          <c:numFmt formatCode="0.0" sourceLinked="0"/>
          <c:txPr>
            <a:bodyPr/>
            <a:lstStyle/>
            <a:p>
              <a:pPr>
                <a:defRPr b="0" i="0" strike="noStrike" sz="1100" u="none">
                  <a:solidFill>
                    <a:srgbClr val="1B2B34"/>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B34"/>
                </a:solidFill>
                <a:latin typeface="Arial"/>
              </a:defRPr>
            </a:pPr>
            <a:endParaRPr lang="en-US"/>
          </a:p>
        </c:txPr>
        <c:crossAx val="2094734552"/>
        <c:crosses val="autoZero"/>
        <c:auto val="1"/>
        <c:lblAlgn val="ctr"/>
        <c:noMultiLvlLbl val="1"/>
      </c:catAx>
      <c:valAx>
        <c:axId val="2094734552"/>
        <c:scaling>
          <c:orientation val="minMax"/>
          <c:max val="11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1F2A"/>
                </a:solidFill>
                <a:latin typeface="Calibri"/>
              </a:defRPr>
            </a:pPr>
            <a:r>
              <a:rPr sz="1300" b="0" i="0" u="none" strike="noStrike">
                <a:solidFill>
                  <a:srgbClr val="0B1F2A"/>
                </a:solidFill>
                <a:latin typeface="Calibri"/>
              </a:rPr>
              <a:t>Top 5 Nifty 50 shares by 5-year CAGR (%)</a:t>
            </a:r>
          </a:p>
        </c:rich>
      </c:tx>
      <c:layout/>
      <c:overlay val="0"/>
    </c:title>
    <c:autoTitleDeleted val="0"/>
    <c:plotArea>
      <c:layout/>
      <c:barChart>
        <c:barDir val="bar"/>
        <c:grouping val="clustered"/>
        <c:varyColors val="0"/>
        <c:ser>
          <c:idx val="0"/>
          <c:order val="0"/>
          <c:tx>
            <c:strRef>
              <c:f>Sheet1!$B$1</c:f>
              <c:strCache>
                <c:ptCount val="1"/>
                <c:pt idx="0">
                  <c:v>5-year CAGR (%)</c:v>
                </c:pt>
              </c:strCache>
            </c:strRef>
          </c:tx>
          <c:spPr>
            <a:solidFill>
              <a:srgbClr val="0E9F6E"/>
            </a:solidFill>
            <a:effectLst/>
          </c:spPr>
          <c:invertIfNegative val="0"/>
          <c:dLbls>
            <c:numFmt formatCode="0.0" sourceLinked="0"/>
            <c:txPr>
              <a:bodyPr/>
              <a:lstStyle/>
              <a:p>
                <a:pPr>
                  <a:defRPr b="0" i="0" strike="noStrike" sz="1050" u="none">
                    <a:solidFill>
                      <a:srgbClr val="1B2B34"/>
                    </a:solidFill>
                    <a:latin typeface="Arial"/>
                  </a:defRPr>
                </a:pPr>
              </a:p>
            </c:txPr>
            <c:showLegendKey val="0"/>
            <c:showVal val="1"/>
            <c:showCatName val="0"/>
            <c:showSerName val="0"/>
            <c:showPercent val="0"/>
            <c:showBubbleSize val="0"/>
            <c:showLeaderLines val="0"/>
          </c:dLbls>
          <c:cat>
            <c:multiLvlStrRef>
              <c:f>Sheet1!$A$2:$A$6</c:f>
              <c:multiLvlStrCache>
                <c:ptCount val="5"/>
                <c:lvl>
                  <c:pt idx="0">
                    <c:v>Coal India</c:v>
                  </c:pt>
                  <c:pt idx="1">
                    <c:v>Mahindra &amp; Mahindra</c:v>
                  </c:pt>
                  <c:pt idx="2">
                    <c:v>Shriram Finance</c:v>
                  </c:pt>
                  <c:pt idx="3">
                    <c:v>Bharat Electronics</c:v>
                  </c:pt>
                  <c:pt idx="4">
                    <c:v>BSE</c:v>
                  </c:pt>
                </c:lvl>
              </c:multiLvlStrCache>
            </c:multiLvlStrRef>
          </c:cat>
          <c:val>
            <c:numRef>
              <c:f>Sheet1!$B$2:$B$6</c:f>
              <c:numCache>
                <c:formatCode>General</c:formatCode>
                <c:ptCount val="5"/>
                <c:pt idx="0">
                  <c:v>27.6</c:v>
                </c:pt>
                <c:pt idx="1">
                  <c:v>29.3</c:v>
                </c:pt>
                <c:pt idx="2">
                  <c:v>31.9</c:v>
                </c:pt>
                <c:pt idx="3">
                  <c:v>43.4</c:v>
                </c:pt>
                <c:pt idx="4">
                  <c:v>88.2</c:v>
                </c:pt>
              </c:numCache>
            </c:numRef>
          </c:val>
        </c:ser>
        <c:dLbls>
          <c:numFmt formatCode="0.0" sourceLinked="0"/>
          <c:txPr>
            <a:bodyPr/>
            <a:lstStyle/>
            <a:p>
              <a:pPr>
                <a:defRPr b="0" i="0" strike="noStrike" sz="1050" u="none">
                  <a:solidFill>
                    <a:srgbClr val="1B2B34"/>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1B2B34"/>
                </a:solidFill>
                <a:latin typeface="Calibri"/>
              </a:defRPr>
            </a:pPr>
            <a:endParaRPr lang="en-US"/>
          </a:p>
        </c:txPr>
        <c:crossAx val="2094734552"/>
        <c:crosses val="autoZero"/>
        <c:auto val="1"/>
        <c:lblAlgn val="ctr"/>
        <c:noMultiLvlLbl val="1"/>
      </c:catAx>
      <c:valAx>
        <c:axId val="2094734552"/>
        <c:scaling>
          <c:orientation val="minMax"/>
          <c:max val="10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1F2A"/>
                </a:solidFill>
                <a:latin typeface="Calibri"/>
              </a:defRPr>
            </a:pPr>
            <a:r>
              <a:rPr sz="1300" b="0" i="0" u="none" strike="noStrike">
                <a:solidFill>
                  <a:srgbClr val="0B1F2A"/>
                </a:solidFill>
                <a:latin typeface="Calibri"/>
              </a:rPr>
              <a:t>Forecast error (RMSE) by test year</a:t>
            </a:r>
          </a:p>
        </c:rich>
      </c:tx>
      <c:layout/>
      <c:overlay val="0"/>
    </c:title>
    <c:autoTitleDeleted val="0"/>
    <c:plotArea>
      <c:layout/>
      <c:lineChart>
        <c:varyColors val="0"/>
        <c:ser>
          <c:idx val="0"/>
          <c:order val="0"/>
          <c:tx>
            <c:strRef>
              <c:f>Sheet1!$B$1</c:f>
              <c:strCache>
                <c:ptCount val="1"/>
                <c:pt idx="0">
                  <c:v>Random Forest</c:v>
                </c:pt>
              </c:strCache>
            </c:strRef>
          </c:tx>
          <c:spPr>
            <a:solidFill>
              <a:srgbClr val="0E9F6E"/>
            </a:solidFill>
            <a:ln w="25400" cap="flat">
              <a:solidFill>
                <a:srgbClr val="0E9F6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0E9F6E"/>
              </a:solidFill>
              <a:ln w="9525" cap="flat">
                <a:solidFill>
                  <a:srgbClr val="0E9F6E"/>
                </a:solidFill>
                <a:prstDash val="solid"/>
                <a:round/>
              </a:ln>
              <a:effectLst/>
            </c:spPr>
          </c:marker>
          <c:cat>
            <c:multiLvlStrRef>
              <c:f>Sheet1!$A$2:$A$9</c:f>
              <c:multiLvlStrCache>
                <c:ptCount val="8"/>
                <c:lvl>
                  <c:pt idx="0">
                    <c:v>2019</c:v>
                  </c:pt>
                  <c:pt idx="1">
                    <c:v>2020</c:v>
                  </c:pt>
                  <c:pt idx="2">
                    <c:v>2021</c:v>
                  </c:pt>
                  <c:pt idx="3">
                    <c:v>2022</c:v>
                  </c:pt>
                  <c:pt idx="4">
                    <c:v>2023</c:v>
                  </c:pt>
                  <c:pt idx="5">
                    <c:v>2024</c:v>
                  </c:pt>
                  <c:pt idx="6">
                    <c:v>2025</c:v>
                  </c:pt>
                  <c:pt idx="7">
                    <c:v>2026</c:v>
                  </c:pt>
                </c:lvl>
              </c:multiLvlStrCache>
            </c:multiLvlStrRef>
          </c:cat>
          <c:val>
            <c:numRef>
              <c:f>Sheet1!$B$2:$B$9</c:f>
              <c:numCache>
                <c:formatCode>General</c:formatCode>
                <c:ptCount val="8"/>
                <c:pt idx="0">
                  <c:v>0.0364</c:v>
                </c:pt>
                <c:pt idx="1">
                  <c:v>0.0854</c:v>
                </c:pt>
                <c:pt idx="2">
                  <c:v>0.0338</c:v>
                </c:pt>
                <c:pt idx="3">
                  <c:v>0.0426</c:v>
                </c:pt>
                <c:pt idx="4">
                  <c:v>0.038</c:v>
                </c:pt>
                <c:pt idx="5">
                  <c:v>0.0403</c:v>
                </c:pt>
                <c:pt idx="6">
                  <c:v>0.0385</c:v>
                </c:pt>
                <c:pt idx="7">
                  <c:v>0.0549</c:v>
                </c:pt>
              </c:numCache>
            </c:numRef>
          </c:val>
          <c:smooth val="0"/>
        </c:ser>
        <c:ser>
          <c:idx val="1"/>
          <c:order val="1"/>
          <c:tx>
            <c:strRef>
              <c:f>Sheet1!$C$1</c:f>
              <c:strCache>
                <c:ptCount val="1"/>
                <c:pt idx="0">
                  <c:v>Baseline</c:v>
                </c:pt>
              </c:strCache>
            </c:strRef>
          </c:tx>
          <c:spPr>
            <a:solidFill>
              <a:srgbClr val="8A99A6"/>
            </a:solidFill>
            <a:ln w="25400" cap="flat">
              <a:solidFill>
                <a:srgbClr val="8A99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8A99A6"/>
              </a:solidFill>
              <a:ln w="9525" cap="flat">
                <a:solidFill>
                  <a:srgbClr val="8A99A6"/>
                </a:solidFill>
                <a:prstDash val="solid"/>
                <a:round/>
              </a:ln>
              <a:effectLst/>
            </c:spPr>
          </c:marker>
          <c:cat>
            <c:multiLvlStrRef>
              <c:f>Sheet1!$A$2:$A$9</c:f>
              <c:multiLvlStrCache>
                <c:ptCount val="8"/>
                <c:lvl>
                  <c:pt idx="0">
                    <c:v>2019</c:v>
                  </c:pt>
                  <c:pt idx="1">
                    <c:v>2020</c:v>
                  </c:pt>
                  <c:pt idx="2">
                    <c:v>2021</c:v>
                  </c:pt>
                  <c:pt idx="3">
                    <c:v>2022</c:v>
                  </c:pt>
                  <c:pt idx="4">
                    <c:v>2023</c:v>
                  </c:pt>
                  <c:pt idx="5">
                    <c:v>2024</c:v>
                  </c:pt>
                  <c:pt idx="6">
                    <c:v>2025</c:v>
                  </c:pt>
                  <c:pt idx="7">
                    <c:v>2026</c:v>
                  </c:pt>
                </c:lvl>
              </c:multiLvlStrCache>
            </c:multiLvlStrRef>
          </c:cat>
          <c:val>
            <c:numRef>
              <c:f>Sheet1!$C$2:$C$9</c:f>
              <c:numCache>
                <c:formatCode>General</c:formatCode>
                <c:ptCount val="8"/>
                <c:pt idx="0">
                  <c:v>0.0367</c:v>
                </c:pt>
                <c:pt idx="1">
                  <c:v>0.0957</c:v>
                </c:pt>
                <c:pt idx="2">
                  <c:v>0.0348</c:v>
                </c:pt>
                <c:pt idx="3">
                  <c:v>0.0454</c:v>
                </c:pt>
                <c:pt idx="4">
                  <c:v>0.0358</c:v>
                </c:pt>
                <c:pt idx="5">
                  <c:v>0.0336</c:v>
                </c:pt>
                <c:pt idx="6">
                  <c:v>0.0433</c:v>
                </c:pt>
                <c:pt idx="7">
                  <c:v>0.0601</c:v>
                </c:pt>
              </c:numCache>
            </c:numRef>
          </c:val>
          <c:smooth val="0"/>
        </c:ser>
        <c:ser>
          <c:idx val="2"/>
          <c:order val="2"/>
          <c:tx>
            <c:strRef>
              <c:f>Sheet1!$D$1</c:f>
              <c:strCache>
                <c:ptCount val="1"/>
                <c:pt idx="0">
                  <c:v>Linear Regression</c:v>
                </c:pt>
              </c:strCache>
            </c:strRef>
          </c:tx>
          <c:spPr>
            <a:solidFill>
              <a:srgbClr val="1F6F8B"/>
            </a:solidFill>
            <a:ln w="25400" cap="flat">
              <a:solidFill>
                <a:srgbClr val="1F6F8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1F6F8B"/>
              </a:solidFill>
              <a:ln w="9525" cap="flat">
                <a:solidFill>
                  <a:srgbClr val="1F6F8B"/>
                </a:solidFill>
                <a:prstDash val="solid"/>
                <a:round/>
              </a:ln>
              <a:effectLst/>
            </c:spPr>
          </c:marker>
          <c:cat>
            <c:multiLvlStrRef>
              <c:f>Sheet1!$A$2:$A$9</c:f>
              <c:multiLvlStrCache>
                <c:ptCount val="8"/>
                <c:lvl>
                  <c:pt idx="0">
                    <c:v>2019</c:v>
                  </c:pt>
                  <c:pt idx="1">
                    <c:v>2020</c:v>
                  </c:pt>
                  <c:pt idx="2">
                    <c:v>2021</c:v>
                  </c:pt>
                  <c:pt idx="3">
                    <c:v>2022</c:v>
                  </c:pt>
                  <c:pt idx="4">
                    <c:v>2023</c:v>
                  </c:pt>
                  <c:pt idx="5">
                    <c:v>2024</c:v>
                  </c:pt>
                  <c:pt idx="6">
                    <c:v>2025</c:v>
                  </c:pt>
                  <c:pt idx="7">
                    <c:v>2026</c:v>
                  </c:pt>
                </c:lvl>
              </c:multiLvlStrCache>
            </c:multiLvlStrRef>
          </c:cat>
          <c:val>
            <c:numRef>
              <c:f>Sheet1!$D$2:$D$9</c:f>
              <c:numCache>
                <c:formatCode>General</c:formatCode>
                <c:ptCount val="8"/>
                <c:pt idx="0">
                  <c:v>0.0375</c:v>
                </c:pt>
                <c:pt idx="1">
                  <c:v>0.0962</c:v>
                </c:pt>
                <c:pt idx="2">
                  <c:v>0.0333</c:v>
                </c:pt>
                <c:pt idx="3">
                  <c:v>0.046</c:v>
                </c:pt>
                <c:pt idx="4">
                  <c:v>0.0399</c:v>
                </c:pt>
                <c:pt idx="5">
                  <c:v>0.0336</c:v>
                </c:pt>
                <c:pt idx="6">
                  <c:v>0.0428</c:v>
                </c:pt>
                <c:pt idx="7">
                  <c:v>0.0594</c:v>
                </c:pt>
              </c:numCache>
            </c:numRef>
          </c:val>
          <c:smooth val="0"/>
        </c:ser>
        <c:ser>
          <c:idx val="3"/>
          <c:order val="3"/>
          <c:tx>
            <c:strRef>
              <c:f>Sheet1!$E$1</c:f>
              <c:strCache>
                <c:ptCount val="1"/>
                <c:pt idx="0">
                  <c:v>Gradient-Boosted</c:v>
                </c:pt>
              </c:strCache>
            </c:strRef>
          </c:tx>
          <c:spPr>
            <a:solidFill>
              <a:srgbClr val="F5A524"/>
            </a:solidFill>
            <a:ln w="25400" cap="flat">
              <a:solidFill>
                <a:srgbClr val="F5A52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F5A524"/>
              </a:solidFill>
              <a:ln w="9525" cap="flat">
                <a:solidFill>
                  <a:srgbClr val="F5A524"/>
                </a:solidFill>
                <a:prstDash val="solid"/>
                <a:round/>
              </a:ln>
              <a:effectLst/>
            </c:spPr>
          </c:marker>
          <c:cat>
            <c:multiLvlStrRef>
              <c:f>Sheet1!$A$2:$A$9</c:f>
              <c:multiLvlStrCache>
                <c:ptCount val="8"/>
                <c:lvl>
                  <c:pt idx="0">
                    <c:v>2019</c:v>
                  </c:pt>
                  <c:pt idx="1">
                    <c:v>2020</c:v>
                  </c:pt>
                  <c:pt idx="2">
                    <c:v>2021</c:v>
                  </c:pt>
                  <c:pt idx="3">
                    <c:v>2022</c:v>
                  </c:pt>
                  <c:pt idx="4">
                    <c:v>2023</c:v>
                  </c:pt>
                  <c:pt idx="5">
                    <c:v>2024</c:v>
                  </c:pt>
                  <c:pt idx="6">
                    <c:v>2025</c:v>
                  </c:pt>
                  <c:pt idx="7">
                    <c:v>2026</c:v>
                  </c:pt>
                </c:lvl>
              </c:multiLvlStrCache>
            </c:multiLvlStrRef>
          </c:cat>
          <c:val>
            <c:numRef>
              <c:f>Sheet1!$E$2:$E$9</c:f>
              <c:numCache>
                <c:formatCode>General</c:formatCode>
                <c:ptCount val="8"/>
                <c:pt idx="0">
                  <c:v>0.0436</c:v>
                </c:pt>
                <c:pt idx="1">
                  <c:v>0.0862</c:v>
                </c:pt>
                <c:pt idx="2">
                  <c:v>0.0357</c:v>
                </c:pt>
                <c:pt idx="3">
                  <c:v>0.0442</c:v>
                </c:pt>
                <c:pt idx="4">
                  <c:v>0.0417</c:v>
                </c:pt>
                <c:pt idx="5">
                  <c:v>0.0586</c:v>
                </c:pt>
                <c:pt idx="6">
                  <c:v>0.0402</c:v>
                </c:pt>
                <c:pt idx="7">
                  <c:v>0.0535</c:v>
                </c:pt>
              </c:numCache>
            </c:numRef>
          </c:val>
          <c:smooth val="0"/>
        </c:ser>
        <c:ser>
          <c:idx val="4"/>
          <c:order val="4"/>
          <c:tx>
            <c:strRef>
              <c:f>Sheet1!$F$1</c:f>
              <c:strCache>
                <c:ptCount val="1"/>
                <c:pt idx="0">
                  <c:v>ARIMA</c:v>
                </c:pt>
              </c:strCache>
            </c:strRef>
          </c:tx>
          <c:spPr>
            <a:solidFill>
              <a:srgbClr val="E5484D"/>
            </a:solidFill>
            <a:ln w="25400" cap="flat">
              <a:solidFill>
                <a:srgbClr val="E5484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E5484D"/>
              </a:solidFill>
              <a:ln w="9525" cap="flat">
                <a:solidFill>
                  <a:srgbClr val="E5484D"/>
                </a:solidFill>
                <a:prstDash val="solid"/>
                <a:round/>
              </a:ln>
              <a:effectLst/>
            </c:spPr>
          </c:marker>
          <c:cat>
            <c:multiLvlStrRef>
              <c:f>Sheet1!$A$2:$A$9</c:f>
              <c:multiLvlStrCache>
                <c:ptCount val="8"/>
                <c:lvl>
                  <c:pt idx="0">
                    <c:v>2019</c:v>
                  </c:pt>
                  <c:pt idx="1">
                    <c:v>2020</c:v>
                  </c:pt>
                  <c:pt idx="2">
                    <c:v>2021</c:v>
                  </c:pt>
                  <c:pt idx="3">
                    <c:v>2022</c:v>
                  </c:pt>
                  <c:pt idx="4">
                    <c:v>2023</c:v>
                  </c:pt>
                  <c:pt idx="5">
                    <c:v>2024</c:v>
                  </c:pt>
                  <c:pt idx="6">
                    <c:v>2025</c:v>
                  </c:pt>
                  <c:pt idx="7">
                    <c:v>2026</c:v>
                  </c:pt>
                </c:lvl>
              </c:multiLvlStrCache>
            </c:multiLvlStrRef>
          </c:cat>
          <c:val>
            <c:numRef>
              <c:f>Sheet1!$F$2:$F$9</c:f>
              <c:numCache>
                <c:formatCode>General</c:formatCode>
                <c:ptCount val="8"/>
                <c:pt idx="0">
                  <c:v>0.0362</c:v>
                </c:pt>
                <c:pt idx="1">
                  <c:v>0.0993</c:v>
                </c:pt>
                <c:pt idx="2">
                  <c:v>0.0374</c:v>
                </c:pt>
                <c:pt idx="3">
                  <c:v>0.0446</c:v>
                </c:pt>
                <c:pt idx="4">
                  <c:v>0.0354</c:v>
                </c:pt>
                <c:pt idx="5">
                  <c:v>0.0339</c:v>
                </c:pt>
                <c:pt idx="6">
                  <c:v>0.0427</c:v>
                </c:pt>
                <c:pt idx="7">
                  <c:v>0.0627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B2B34"/>
                </a:solidFill>
                <a:latin typeface="Arial"/>
              </a:defRPr>
            </a:pPr>
            <a:endParaRPr lang="en-US"/>
          </a:p>
        </c:txPr>
        <c:crossAx val="2094734552"/>
        <c:crosses val="autoZero"/>
        <c:auto val="1"/>
        <c:lblAlgn val="ctr"/>
        <c:noMultiLvlLbl val="1"/>
      </c:catAx>
      <c:valAx>
        <c:axId val="2094734552"/>
        <c:scaling>
          <c:orientation val="minMax"/>
          <c:max val="0.1"/>
          <c:min val="0.02"/>
        </c:scaling>
        <c:delete val="0"/>
        <c:axPos val="l"/>
        <c:majorGridlines>
          <c:spPr>
            <a:ln w="9525" cap="flat">
              <a:solidFill>
                <a:srgbClr val="E1E8EC"/>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5"/>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50">
              <a:solidFill>
                <a:srgbClr val="1B2B34"/>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working big-data pipeline. Raw mutual fund data goes into Hadoop, Spark cleans it and computes returns, risk and model results, a FastAPI service serves them with an API key, and Power BI shows the dashboard. Introduce the three team members.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too much raw data to compare by hand, risk is hidden, the 'hold for the long term' advice is rarely backed by evidence, and forecasting models are not compared fairly.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objectives, all of them built and running. Every output is computed by Spark, stored in the Gold layer and served to Power 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ingest every scheme AMFI has published since 2006: 38,279 schemes and 37 million rows. Spark cleans that to 31 million rows from 2013 onwards. 1,137 growth funds with a full 10-year history get a risk score, and 30 well-known funds are studied in depth. Figures are from the run on 2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V with our own numbers. The design choice: ingest everything with Spark, then focus the deep analysis on a curated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sources are in the running pipeline: the four for mutual funds, plus the NSE company list, Yahoo Finance prices and Yahoo Finance balance sheets for the stocks add-on. Index churn is not built because there is no dated open list of Nifty 50 entries and exits. Yahoo Finance is an unofficial source. Be clear that the Nifty 50 benchmark is an index fund used as a stand-in, and the risk-free rate is an assumption.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architecture exactly as it runs on our laptop. Data flows left to right. Hadoop HDFS and Spark are the big data core. Power BI and the website never read HDFS directly: they call the FastAPI service, which serves the Gold tables and checks the API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real folders under /project in HDFS. Bronze keeps the raw data for reproducibility, Silver is the cleaned 31 million rows partitioned by year, and Gold holds thirteen small result tables that the API serves: nine for mutual funds and four for stocks, company debt and the indices.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spark-submit jobs: silver.py cleans 37 million rows, gold.py computes the metrics and scores, models.py trains and tests the models, and stocks.py does the same analysis for the Nifty 50 companies and adds company debt. The code is taken from our own jobs and shows window functions per scheme.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these are computed by gold.py over the last 10 years and stored in the fund_metrics table. Beta and alpha are measured against the UTI Nifty 50 index fund, and Sharpe and Sortino use an assumed 6.5% risk-free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risk score is transparent: percentile ranks within peers, weighted as shown, then banded. The weights are our design choice. Because the score is relative to peers, an equity fund can be Low among the 30 curated funds and still be Medium or High against all 1,137 funds, which include debt funds.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of gold.py for the 30 curated funds, as of 1 October 2026. Eight of the top ten funds by 10-year return are mid-cap funds. Parag Parikh Flexi Cap is fifth by return but has the lowest volatility of all 30. Every category lost more than a third of its value at its worst point, in the March 2020 crash.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claiming that holding longer always gains, we measured it. These are averages across the 30 curated funds, using every monthly start date from January 2013: about 153 one-year windows and 45 ten-year windows per fund. Be honest that 2013 to 2026 was mostly a rising market, so this is evidence from history, not a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of stocks.py, as of 1 October 2026. All 50 Nifty 50 companies were downloaded; 49 have a five-year risk score (14 Low, 23 Medium, 12 High) and 49 have debt data. Debt-to-equity is total debt divided by shareholders' equity from the latest balance sheet: up to 0.5 is Low, up to 1 is Moderate, above 1 is High. Interest cover is operating profit divided by interest expense. InterGlobe Aviation stands out with a ratio of 11.15 and interest cover below 1. The 12 financial companies are not judged on this ratio because borrowing is their business. The index figure of 2.60 lakh is lower than the 2.86 lakh of the Nifty 50 index fund on the earlier slide because the index value leaves out dividends, while the fund reinvests them. The Nifty 50 fell 9.7% over the last year. Limits: Yahoo Finance gives about four financial years of balance sheets, and the list is today's Nifty 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models predict next month's return. RMSE is the size of the typical error, so lower is better. 'Direction right' is how often the model called up or down correctly. Only Random Forest beats the baseline overall, by 5.9 percent, and it does not win every year. This is an honest result: monthly returns are very hard to predict, and a model that cannot beat the historical mean should not be trusted.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Walk-forward validation prevents look-ahead bias, the most common mistake in market prediction projects. The risk classifier is trained with Spark MLlib. Both models beat the persistence baseline by 3 to 5 points. A random guess among three bands would be about 33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Power BI does not read the data lake. It calls our FastAPI service, which serves the Gold tables and rejects any request without the right key. We can demonstrate this live at localhost:8000/docs. The API currently runs on the laptop; hosting it publicly would allow scheduled refresh in Power BI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pages, all fed by eight API queries. The Home page shows the top funds, the value of 1 lakh rupees invested ten years ago and the growth chart; clicking a category filters the whole page. Switch to Power BI here for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free and runs on one Windows laptop: Hadoop and Spark inside WSL Ubuntu, and Power BI Desktop on Windows.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member owns one part of the pipeline end to end, and everyone contributes to testing and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problems we actually met while building, and the design decision that solved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scope. This version covers mutual funds end to end, and the Nifty 50 stocks with company debt. Index churn from the original idea is not built, because there is no reliable dated list of index changes as open data. Company debt covers about four financial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four things we built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slideLayout" Target="../slideLayouts/slideLayout1.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slideLayout" Target="../slideLayouts/slideLayout1.xml"/><Relationship Id="rId10"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2A"/>
        </a:solidFill>
      </p:bgPr>
    </p:bg>
    <p:spTree>
      <p:nvGrpSpPr>
        <p:cNvPr id="1" name=""/>
        <p:cNvGrpSpPr/>
        <p:nvPr/>
      </p:nvGrpSpPr>
      <p:grpSpPr>
        <a:xfrm>
          <a:off x="0" y="0"/>
          <a:ext cx="0" cy="0"/>
          <a:chOff x="0" y="0"/>
          <a:chExt cx="0" cy="0"/>
        </a:xfrm>
      </p:grpSpPr>
      <p:sp>
        <p:nvSpPr>
          <p:cNvPr id="2" name="Text 0"/>
          <p:cNvSpPr txBox="1"/>
          <p:nvPr/>
        </p:nvSpPr>
        <p:spPr>
          <a:xfrm>
            <a:off x="640080" y="1005840"/>
            <a:ext cx="7315200" cy="320040"/>
          </a:xfrm>
          <a:prstGeom prst="rect">
            <a:avLst/>
          </a:prstGeom>
          <a:noFill/>
          <a:ln/>
        </p:spPr>
        <p:txBody>
          <a:bodyPr wrap="square" lIns="0" tIns="0" rIns="0" bIns="0" rtlCol="0" anchor="t"/>
          <a:lstStyle/>
          <a:p>
            <a:pPr indent="0" marL="0">
              <a:buNone/>
            </a:pPr>
            <a:r>
              <a:rPr lang="en-US" sz="1300" b="1" spc="300" kern="0" dirty="0">
                <a:solidFill>
                  <a:srgbClr val="0E9F6E"/>
                </a:solidFill>
                <a:latin typeface="Calibri" pitchFamily="34" charset="0"/>
                <a:ea typeface="Calibri" pitchFamily="34" charset="-122"/>
                <a:cs typeface="Calibri" pitchFamily="34" charset="-120"/>
              </a:rPr>
              <a:t>BIG DATA ARCHITECTURE  ·  PROJECT REVIEW</a:t>
            </a:r>
            <a:endParaRPr lang="en-US" sz="1300" dirty="0"/>
          </a:p>
        </p:txBody>
      </p:sp>
      <p:sp>
        <p:nvSpPr>
          <p:cNvPr id="3" name="Text 1"/>
          <p:cNvSpPr txBox="1"/>
          <p:nvPr/>
        </p:nvSpPr>
        <p:spPr>
          <a:xfrm>
            <a:off x="640080" y="1463040"/>
            <a:ext cx="7223760" cy="173736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Stock Market &amp; Mutual Fund</a:t>
            </a:r>
            <a:endParaRPr lang="en-US" sz="4200" dirty="0"/>
          </a:p>
          <a:p>
            <a:pPr indent="0" marL="0">
              <a:buNone/>
            </a:pPr>
            <a:r>
              <a:rPr lang="en-US" sz="4200" b="1" dirty="0">
                <a:solidFill>
                  <a:srgbClr val="FFFFFF"/>
                </a:solidFill>
                <a:latin typeface="Arial" pitchFamily="34" charset="0"/>
                <a:ea typeface="Arial" pitchFamily="34" charset="-122"/>
                <a:cs typeface="Arial" pitchFamily="34" charset="-120"/>
              </a:rPr>
              <a:t>Risk Analytics Platform</a:t>
            </a:r>
            <a:endParaRPr lang="en-US" sz="4200" dirty="0"/>
          </a:p>
        </p:txBody>
      </p:sp>
      <p:sp>
        <p:nvSpPr>
          <p:cNvPr id="4" name="Text 2"/>
          <p:cNvSpPr txBox="1"/>
          <p:nvPr/>
        </p:nvSpPr>
        <p:spPr>
          <a:xfrm>
            <a:off x="640080" y="3383280"/>
            <a:ext cx="6675120" cy="1325880"/>
          </a:xfrm>
          <a:prstGeom prst="rect">
            <a:avLst/>
          </a:prstGeom>
          <a:noFill/>
          <a:ln/>
        </p:spPr>
        <p:txBody>
          <a:bodyPr wrap="square" lIns="0" tIns="0" rIns="0" bIns="0" rtlCol="0" anchor="t"/>
          <a:lstStyle/>
          <a:p>
            <a:pPr indent="0" marL="0">
              <a:buNone/>
            </a:pPr>
            <a:r>
              <a:rPr lang="en-US" sz="1700" dirty="0">
                <a:solidFill>
                  <a:srgbClr val="B8C7CF"/>
                </a:solidFill>
                <a:latin typeface="Calibri" pitchFamily="34" charset="0"/>
                <a:ea typeface="Calibri" pitchFamily="34" charset="-122"/>
                <a:cs typeface="Calibri" pitchFamily="34" charset="-120"/>
              </a:rPr>
              <a:t>Return analytics, risk scoring and model comparison on 37 million mutual fund NAV records, plus stocks and company debt for the Nifty 50, stored in Hadoop, processed with Apache Spark and served to Power BI through an API key.</a:t>
            </a:r>
            <a:endParaRPr lang="en-US" sz="1700" dirty="0"/>
          </a:p>
        </p:txBody>
      </p:sp>
      <p:sp>
        <p:nvSpPr>
          <p:cNvPr id="5" name="Text 3"/>
          <p:cNvSpPr txBox="1"/>
          <p:nvPr/>
        </p:nvSpPr>
        <p:spPr>
          <a:xfrm>
            <a:off x="640080" y="4892040"/>
            <a:ext cx="2743200" cy="274320"/>
          </a:xfrm>
          <a:prstGeom prst="rect">
            <a:avLst/>
          </a:prstGeom>
          <a:noFill/>
          <a:ln/>
        </p:spPr>
        <p:txBody>
          <a:bodyPr wrap="square" lIns="0" tIns="0" rIns="0" bIns="0" rtlCol="0" anchor="t"/>
          <a:lstStyle/>
          <a:p>
            <a:pPr indent="0" marL="0">
              <a:buNone/>
            </a:pPr>
            <a:r>
              <a:rPr lang="en-US" sz="1100" b="1" spc="300" kern="0" dirty="0">
                <a:solidFill>
                  <a:srgbClr val="0E9F6E"/>
                </a:solidFill>
                <a:latin typeface="Calibri" pitchFamily="34" charset="0"/>
                <a:ea typeface="Calibri" pitchFamily="34" charset="-122"/>
                <a:cs typeface="Calibri" pitchFamily="34" charset="-120"/>
              </a:rPr>
              <a:t>TEAM</a:t>
            </a:r>
            <a:endParaRPr lang="en-US" sz="1100" dirty="0"/>
          </a:p>
        </p:txBody>
      </p:sp>
      <p:sp>
        <p:nvSpPr>
          <p:cNvPr id="6" name="Text 4"/>
          <p:cNvSpPr txBox="1"/>
          <p:nvPr/>
        </p:nvSpPr>
        <p:spPr>
          <a:xfrm>
            <a:off x="640080" y="5212080"/>
            <a:ext cx="7132320" cy="41148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Suseendar Hari Krishnan   ·   Lakshan   ·   Viswesh</a:t>
            </a:r>
            <a:endParaRPr lang="en-US" sz="1800" dirty="0"/>
          </a:p>
        </p:txBody>
      </p:sp>
      <p:sp>
        <p:nvSpPr>
          <p:cNvPr id="7" name="Shape 5"/>
          <p:cNvSpPr/>
          <p:nvPr/>
        </p:nvSpPr>
        <p:spPr>
          <a:xfrm>
            <a:off x="8183880" y="4663440"/>
            <a:ext cx="347472" cy="1005840"/>
          </a:xfrm>
          <a:prstGeom prst="roundRect">
            <a:avLst>
              <a:gd name="adj" fmla="val 15789"/>
            </a:avLst>
          </a:prstGeom>
          <a:solidFill>
            <a:srgbClr val="0E9F6E">
              <a:alpha val="45000"/>
            </a:srgbClr>
          </a:solidFill>
          <a:ln w="12700">
            <a:solidFill>
              <a:srgbClr val="0E9F6E">
                <a:alpha val="45000"/>
              </a:srgbClr>
            </a:solidFill>
            <a:prstDash val="solid"/>
          </a:ln>
        </p:spPr>
      </p:sp>
      <p:sp>
        <p:nvSpPr>
          <p:cNvPr id="8" name="Shape 6"/>
          <p:cNvSpPr/>
          <p:nvPr/>
        </p:nvSpPr>
        <p:spPr>
          <a:xfrm>
            <a:off x="8695944" y="4206240"/>
            <a:ext cx="347472" cy="1463040"/>
          </a:xfrm>
          <a:prstGeom prst="roundRect">
            <a:avLst>
              <a:gd name="adj" fmla="val 15789"/>
            </a:avLst>
          </a:prstGeom>
          <a:solidFill>
            <a:srgbClr val="0E9F6E">
              <a:alpha val="52000"/>
            </a:srgbClr>
          </a:solidFill>
          <a:ln w="12700">
            <a:solidFill>
              <a:srgbClr val="0E9F6E">
                <a:alpha val="52000"/>
              </a:srgbClr>
            </a:solidFill>
            <a:prstDash val="solid"/>
          </a:ln>
        </p:spPr>
      </p:sp>
      <p:sp>
        <p:nvSpPr>
          <p:cNvPr id="9" name="Shape 7"/>
          <p:cNvSpPr/>
          <p:nvPr/>
        </p:nvSpPr>
        <p:spPr>
          <a:xfrm>
            <a:off x="9208008" y="4480560"/>
            <a:ext cx="347472" cy="1188720"/>
          </a:xfrm>
          <a:prstGeom prst="roundRect">
            <a:avLst>
              <a:gd name="adj" fmla="val 15789"/>
            </a:avLst>
          </a:prstGeom>
          <a:solidFill>
            <a:srgbClr val="0E9F6E">
              <a:alpha val="59000"/>
            </a:srgbClr>
          </a:solidFill>
          <a:ln w="12700">
            <a:solidFill>
              <a:srgbClr val="0E9F6E">
                <a:alpha val="59000"/>
              </a:srgbClr>
            </a:solidFill>
            <a:prstDash val="solid"/>
          </a:ln>
        </p:spPr>
      </p:sp>
      <p:sp>
        <p:nvSpPr>
          <p:cNvPr id="10" name="Shape 8"/>
          <p:cNvSpPr/>
          <p:nvPr/>
        </p:nvSpPr>
        <p:spPr>
          <a:xfrm>
            <a:off x="9720072" y="3657600"/>
            <a:ext cx="347472" cy="2011680"/>
          </a:xfrm>
          <a:prstGeom prst="roundRect">
            <a:avLst>
              <a:gd name="adj" fmla="val 15789"/>
            </a:avLst>
          </a:prstGeom>
          <a:solidFill>
            <a:srgbClr val="0E9F6E">
              <a:alpha val="66000"/>
            </a:srgbClr>
          </a:solidFill>
          <a:ln w="12700">
            <a:solidFill>
              <a:srgbClr val="0E9F6E">
                <a:alpha val="66000"/>
              </a:srgbClr>
            </a:solidFill>
            <a:prstDash val="solid"/>
          </a:ln>
        </p:spPr>
      </p:sp>
      <p:sp>
        <p:nvSpPr>
          <p:cNvPr id="11" name="Shape 9"/>
          <p:cNvSpPr/>
          <p:nvPr/>
        </p:nvSpPr>
        <p:spPr>
          <a:xfrm>
            <a:off x="10232136" y="3931920"/>
            <a:ext cx="347472" cy="1737360"/>
          </a:xfrm>
          <a:prstGeom prst="roundRect">
            <a:avLst>
              <a:gd name="adj" fmla="val 15789"/>
            </a:avLst>
          </a:prstGeom>
          <a:solidFill>
            <a:srgbClr val="0E9F6E">
              <a:alpha val="73000"/>
            </a:srgbClr>
          </a:solidFill>
          <a:ln w="12700">
            <a:solidFill>
              <a:srgbClr val="0E9F6E">
                <a:alpha val="73000"/>
              </a:srgbClr>
            </a:solidFill>
            <a:prstDash val="solid"/>
          </a:ln>
        </p:spPr>
      </p:sp>
      <p:sp>
        <p:nvSpPr>
          <p:cNvPr id="12" name="Shape 10"/>
          <p:cNvSpPr/>
          <p:nvPr/>
        </p:nvSpPr>
        <p:spPr>
          <a:xfrm>
            <a:off x="10744200" y="3017520"/>
            <a:ext cx="347472" cy="2651760"/>
          </a:xfrm>
          <a:prstGeom prst="roundRect">
            <a:avLst>
              <a:gd name="adj" fmla="val 15789"/>
            </a:avLst>
          </a:prstGeom>
          <a:solidFill>
            <a:srgbClr val="0E9F6E">
              <a:alpha val="80000"/>
            </a:srgbClr>
          </a:solidFill>
          <a:ln w="12700">
            <a:solidFill>
              <a:srgbClr val="0E9F6E">
                <a:alpha val="80000"/>
              </a:srgbClr>
            </a:solidFill>
            <a:prstDash val="solid"/>
          </a:ln>
        </p:spPr>
      </p:sp>
      <p:sp>
        <p:nvSpPr>
          <p:cNvPr id="13" name="Shape 11"/>
          <p:cNvSpPr/>
          <p:nvPr/>
        </p:nvSpPr>
        <p:spPr>
          <a:xfrm>
            <a:off x="11256264" y="2377440"/>
            <a:ext cx="347472" cy="3291840"/>
          </a:xfrm>
          <a:prstGeom prst="roundRect">
            <a:avLst>
              <a:gd name="adj" fmla="val 15789"/>
            </a:avLst>
          </a:prstGeom>
          <a:solidFill>
            <a:srgbClr val="0E9F6E">
              <a:alpha val="87000"/>
            </a:srgbClr>
          </a:solidFill>
          <a:ln w="12700">
            <a:solidFill>
              <a:srgbClr val="0E9F6E">
                <a:alpha val="87000"/>
              </a:srgbClr>
            </a:solidFill>
            <a:prstDash val="solid"/>
          </a:ln>
        </p:spPr>
      </p:sp>
      <p:sp>
        <p:nvSpPr>
          <p:cNvPr id="14" name="Shape 12"/>
          <p:cNvSpPr/>
          <p:nvPr/>
        </p:nvSpPr>
        <p:spPr>
          <a:xfrm>
            <a:off x="8046720" y="5760720"/>
            <a:ext cx="3657600" cy="0"/>
          </a:xfrm>
          <a:prstGeom prst="line">
            <a:avLst/>
          </a:prstGeom>
          <a:noFill/>
          <a:ln w="12700">
            <a:solidFill>
              <a:srgbClr val="3A5563"/>
            </a:solidFill>
            <a:prstDash val="solid"/>
          </a:ln>
        </p:spPr>
      </p:sp>
      <p:sp>
        <p:nvSpPr>
          <p:cNvPr id="15" name="Shape 13"/>
          <p:cNvSpPr/>
          <p:nvPr/>
        </p:nvSpPr>
        <p:spPr>
          <a:xfrm>
            <a:off x="10744200" y="1188720"/>
            <a:ext cx="914400" cy="914400"/>
          </a:xfrm>
          <a:prstGeom prst="ellipse">
            <a:avLst/>
          </a:prstGeom>
          <a:solidFill>
            <a:srgbClr val="F5A524"/>
          </a:solidFill>
          <a:ln w="12700">
            <a:solidFill>
              <a:srgbClr val="F5A524"/>
            </a:solidFill>
            <a:prstDash val="solid"/>
          </a:ln>
        </p:spPr>
      </p:sp>
      <p:pic>
        <p:nvPicPr>
          <p:cNvPr id="16" name="Image 0" descr="preencoded.png">    </p:cNvPr>
          <p:cNvPicPr>
            <a:picLocks noChangeAspect="1"/>
          </p:cNvPicPr>
          <p:nvPr/>
        </p:nvPicPr>
        <p:blipFill>
          <a:blip r:embed="rId1"/>
          <a:stretch>
            <a:fillRect/>
          </a:stretch>
        </p:blipFill>
        <p:spPr>
          <a:xfrm>
            <a:off x="10981944" y="1426464"/>
            <a:ext cx="438912" cy="43891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300" kern="0" dirty="0">
                <a:solidFill>
                  <a:srgbClr val="0E9F6E"/>
                </a:solidFill>
                <a:latin typeface="Calibri" pitchFamily="34" charset="0"/>
                <a:ea typeface="Calibri" pitchFamily="34" charset="-122"/>
                <a:cs typeface="Calibri" pitchFamily="34" charset="-120"/>
              </a:rPr>
              <a:t>01  ·  PROBLEM</a:t>
            </a:r>
            <a:endParaRPr lang="en-US" sz="1200" dirty="0"/>
          </a:p>
        </p:txBody>
      </p:sp>
      <p:sp>
        <p:nvSpPr>
          <p:cNvPr id="3" name="Text 1"/>
          <p:cNvSpPr txBox="1"/>
          <p:nvPr/>
        </p:nvSpPr>
        <p:spPr>
          <a:xfrm>
            <a:off x="548640" y="676656"/>
            <a:ext cx="11064240" cy="685800"/>
          </a:xfrm>
          <a:prstGeom prst="rect">
            <a:avLst/>
          </a:prstGeom>
          <a:noFill/>
          <a:ln/>
        </p:spPr>
        <p:txBody>
          <a:bodyPr wrap="square" lIns="0" tIns="0" rIns="0" bIns="0" rtlCol="0" anchor="ctr"/>
          <a:lstStyle/>
          <a:p>
            <a:pPr indent="0" marL="0">
              <a:buNone/>
            </a:pPr>
            <a:r>
              <a:rPr lang="en-US" sz="3000" b="1" dirty="0">
                <a:solidFill>
                  <a:srgbClr val="0B1F2A"/>
                </a:solidFill>
                <a:latin typeface="Arial" pitchFamily="34" charset="0"/>
                <a:ea typeface="Arial" pitchFamily="34" charset="-122"/>
                <a:cs typeface="Arial" pitchFamily="34" charset="-120"/>
              </a:rPr>
              <a:t>Investors see returns, but rarely the risk behind them</a:t>
            </a:r>
            <a:endParaRPr lang="en-US" sz="3000" dirty="0"/>
          </a:p>
        </p:txBody>
      </p:sp>
      <p:sp>
        <p:nvSpPr>
          <p:cNvPr id="4" name="Text 2"/>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B75"/>
                </a:solidFill>
                <a:latin typeface="Calibri" pitchFamily="34" charset="0"/>
                <a:ea typeface="Calibri" pitchFamily="34" charset="-122"/>
                <a:cs typeface="Calibri" pitchFamily="34" charset="-120"/>
              </a:rPr>
              <a:t>Big Data Architecture  |  Stock Market &amp; Mutual Fund Risk Analytics</a:t>
            </a:r>
            <a:endParaRPr lang="en-US" sz="900" dirty="0"/>
          </a:p>
        </p:txBody>
      </p:sp>
      <p:sp>
        <p:nvSpPr>
          <p:cNvPr id="5" name="Text 3"/>
          <p:cNvSpPr txBox="1"/>
          <p:nvPr/>
        </p:nvSpPr>
        <p:spPr>
          <a:xfrm>
            <a:off x="11183112" y="6473952"/>
            <a:ext cx="457200" cy="228600"/>
          </a:xfrm>
          <a:prstGeom prst="rect">
            <a:avLst/>
          </a:prstGeom>
          <a:noFill/>
          <a:ln/>
        </p:spPr>
        <p:txBody>
          <a:bodyPr wrap="square" lIns="0" tIns="0" rIns="0" bIns="0" rtlCol="0" anchor="t"/>
          <a:lstStyle/>
          <a:p>
            <a:pPr algn="r" indent="0" marL="0">
              <a:buNone/>
            </a:pPr>
            <a:r>
              <a:rPr lang="en-US" sz="900" dirty="0">
                <a:solidFill>
                  <a:srgbClr val="5B6B75"/>
                </a:solidFill>
                <a:latin typeface="Calibri" pitchFamily="34" charset="0"/>
                <a:ea typeface="Calibri" pitchFamily="34" charset="-122"/>
                <a:cs typeface="Calibri" pitchFamily="34" charset="-120"/>
              </a:rPr>
              <a:t>2</a:t>
            </a:r>
            <a:endParaRPr lang="en-US" sz="900" dirty="0"/>
          </a:p>
        </p:txBody>
      </p:sp>
      <p:sp>
        <p:nvSpPr>
          <p:cNvPr id="6" name="Text 4"/>
          <p:cNvSpPr txBox="1"/>
          <p:nvPr/>
        </p:nvSpPr>
        <p:spPr>
          <a:xfrm>
            <a:off x="548640" y="1783080"/>
            <a:ext cx="4754880" cy="1097280"/>
          </a:xfrm>
          <a:prstGeom prst="rect">
            <a:avLst/>
          </a:prstGeom>
          <a:noFill/>
          <a:ln/>
        </p:spPr>
        <p:txBody>
          <a:bodyPr wrap="square" lIns="0" tIns="0" rIns="0" bIns="0" rtlCol="0" anchor="t"/>
          <a:lstStyle/>
          <a:p>
            <a:pPr indent="0" marL="0">
              <a:buNone/>
            </a:pPr>
            <a:r>
              <a:rPr lang="en-US" sz="2400" b="1" dirty="0">
                <a:solidFill>
                  <a:srgbClr val="0B1F2A"/>
                </a:solidFill>
                <a:latin typeface="Arial" pitchFamily="34" charset="0"/>
                <a:ea typeface="Arial" pitchFamily="34" charset="-122"/>
                <a:cs typeface="Arial" pitchFamily="34" charset="-120"/>
              </a:rPr>
              <a:t>Most investors pick a fund by last year's return alone.</a:t>
            </a:r>
            <a:endParaRPr lang="en-US" sz="2400" dirty="0"/>
          </a:p>
        </p:txBody>
      </p:sp>
      <p:sp>
        <p:nvSpPr>
          <p:cNvPr id="7" name="Text 5"/>
          <p:cNvSpPr txBox="1"/>
          <p:nvPr/>
        </p:nvSpPr>
        <p:spPr>
          <a:xfrm>
            <a:off x="548640" y="2926080"/>
            <a:ext cx="4572000" cy="1371600"/>
          </a:xfrm>
          <a:prstGeom prst="rect">
            <a:avLst/>
          </a:prstGeom>
          <a:noFill/>
          <a:ln/>
        </p:spPr>
        <p:txBody>
          <a:bodyPr wrap="square" lIns="0" tIns="0" rIns="0" bIns="0" rtlCol="0" anchor="t"/>
          <a:lstStyle/>
          <a:p>
            <a:pPr indent="0" marL="0">
              <a:buNone/>
            </a:pPr>
            <a:r>
              <a:rPr lang="en-US" sz="1500" dirty="0">
                <a:solidFill>
                  <a:srgbClr val="5B6B75"/>
                </a:solidFill>
                <a:latin typeface="Calibri" pitchFamily="34" charset="0"/>
                <a:ea typeface="Calibri" pitchFamily="34" charset="-122"/>
                <a:cs typeface="Calibri" pitchFamily="34" charset="-120"/>
              </a:rPr>
              <a:t>Risk, drawdowns and realistic return ranges are rarely shown next to the return, and forecasts are published without checking whether they beat a simple guess.</a:t>
            </a:r>
            <a:endParaRPr lang="en-US" sz="1500" dirty="0"/>
          </a:p>
        </p:txBody>
      </p:sp>
      <p:sp>
        <p:nvSpPr>
          <p:cNvPr id="8" name="Shape 6"/>
          <p:cNvSpPr/>
          <p:nvPr/>
        </p:nvSpPr>
        <p:spPr>
          <a:xfrm>
            <a:off x="548640" y="4800600"/>
            <a:ext cx="4572000" cy="1234440"/>
          </a:xfrm>
          <a:prstGeom prst="roundRect">
            <a:avLst>
              <a:gd name="adj" fmla="val 8889"/>
            </a:avLst>
          </a:prstGeom>
          <a:solidFill>
            <a:srgbClr val="E6F5EE"/>
          </a:solidFill>
          <a:ln w="12700">
            <a:solidFill>
              <a:srgbClr val="E6F5EE"/>
            </a:solidFill>
            <a:prstDash val="solid"/>
          </a:ln>
        </p:spPr>
      </p:sp>
      <p:sp>
        <p:nvSpPr>
          <p:cNvPr id="9" name="Text 7"/>
          <p:cNvSpPr txBox="1"/>
          <p:nvPr/>
        </p:nvSpPr>
        <p:spPr>
          <a:xfrm>
            <a:off x="777240" y="4937760"/>
            <a:ext cx="4160520" cy="1005840"/>
          </a:xfrm>
          <a:prstGeom prst="rect">
            <a:avLst/>
          </a:prstGeom>
          <a:noFill/>
          <a:ln/>
        </p:spPr>
        <p:txBody>
          <a:bodyPr wrap="square" lIns="0" tIns="0" rIns="0" bIns="0" rtlCol="0" anchor="ctr"/>
          <a:lstStyle/>
          <a:p>
            <a:pPr indent="0" marL="0">
              <a:buNone/>
            </a:pPr>
            <a:r>
              <a:rPr lang="en-US" sz="1400" b="1" dirty="0">
                <a:solidFill>
                  <a:srgbClr val="0B1F2A"/>
                </a:solidFill>
                <a:latin typeface="Calibri" pitchFamily="34" charset="0"/>
                <a:ea typeface="Calibri" pitchFamily="34" charset="-122"/>
                <a:cs typeface="Calibri" pitchFamily="34" charset="-120"/>
              </a:rPr>
              <a:t>Our answer: one big-data pipeline that turns 37 million raw NAV records into risk scores, return ranges and tested forecasts.</a:t>
            </a:r>
            <a:endParaRPr lang="en-US" sz="1400" dirty="0"/>
          </a:p>
        </p:txBody>
      </p:sp>
      <p:sp>
        <p:nvSpPr>
          <p:cNvPr id="10" name="Shape 8"/>
          <p:cNvSpPr/>
          <p:nvPr/>
        </p:nvSpPr>
        <p:spPr>
          <a:xfrm>
            <a:off x="5897880" y="1783080"/>
            <a:ext cx="658368" cy="658368"/>
          </a:xfrm>
          <a:prstGeom prst="ellipse">
            <a:avLst/>
          </a:prstGeom>
          <a:solidFill>
            <a:srgbClr val="0E9F6E"/>
          </a:solidFill>
          <a:ln w="12700">
            <a:solidFill>
              <a:srgbClr val="0E9F6E"/>
            </a:solidFill>
            <a:prstDash val="solid"/>
          </a:ln>
        </p:spPr>
      </p:sp>
      <p:pic>
        <p:nvPicPr>
          <p:cNvPr id="11" name="Image 0" descr="preencoded.png">    </p:cNvPr>
          <p:cNvPicPr>
            <a:picLocks noChangeAspect="1"/>
          </p:cNvPicPr>
          <p:nvPr/>
        </p:nvPicPr>
        <p:blipFill>
          <a:blip r:embed="rId1"/>
          <a:stretch>
            <a:fillRect/>
          </a:stretch>
        </p:blipFill>
        <p:spPr>
          <a:xfrm>
            <a:off x="6069056" y="1954256"/>
            <a:ext cx="316017" cy="316017"/>
          </a:xfrm>
          <a:prstGeom prst="rect">
            <a:avLst/>
          </a:prstGeom>
        </p:spPr>
      </p:pic>
      <p:sp>
        <p:nvSpPr>
          <p:cNvPr id="12" name="Text 9"/>
          <p:cNvSpPr txBox="1"/>
          <p:nvPr/>
        </p:nvSpPr>
        <p:spPr>
          <a:xfrm>
            <a:off x="6766560" y="1764792"/>
            <a:ext cx="4846320" cy="347472"/>
          </a:xfrm>
          <a:prstGeom prst="rect">
            <a:avLst/>
          </a:prstGeom>
          <a:noFill/>
          <a:ln/>
        </p:spPr>
        <p:txBody>
          <a:bodyPr wrap="square" lIns="0" tIns="0" rIns="0" bIns="0" rtlCol="0" anchor="t"/>
          <a:lstStyle/>
          <a:p>
            <a:pPr indent="0" marL="0">
              <a:buNone/>
            </a:pPr>
            <a:r>
              <a:rPr lang="en-US" sz="1700" b="1" dirty="0">
                <a:solidFill>
                  <a:srgbClr val="0B1F2A"/>
                </a:solidFill>
                <a:latin typeface="Calibri" pitchFamily="34" charset="0"/>
                <a:ea typeface="Calibri" pitchFamily="34" charset="-122"/>
                <a:cs typeface="Calibri" pitchFamily="34" charset="-120"/>
              </a:rPr>
              <a:t>Too much raw data</a:t>
            </a:r>
            <a:endParaRPr lang="en-US" sz="1700" dirty="0"/>
          </a:p>
        </p:txBody>
      </p:sp>
      <p:sp>
        <p:nvSpPr>
          <p:cNvPr id="13" name="Text 10"/>
          <p:cNvSpPr txBox="1"/>
          <p:nvPr/>
        </p:nvSpPr>
        <p:spPr>
          <a:xfrm>
            <a:off x="6766560" y="2130552"/>
            <a:ext cx="4846320" cy="548640"/>
          </a:xfrm>
          <a:prstGeom prst="rect">
            <a:avLst/>
          </a:prstGeom>
          <a:noFill/>
          <a:ln/>
        </p:spPr>
        <p:txBody>
          <a:bodyPr wrap="square" lIns="0" tIns="0" rIns="0" bIns="0" rtlCol="0" anchor="t"/>
          <a:lstStyle/>
          <a:p>
            <a:pPr indent="0" marL="0">
              <a:buNone/>
            </a:pPr>
            <a:r>
              <a:rPr lang="en-US" sz="1400" dirty="0">
                <a:solidFill>
                  <a:srgbClr val="5B6B75"/>
                </a:solidFill>
                <a:latin typeface="Calibri" pitchFamily="34" charset="0"/>
                <a:ea typeface="Calibri" pitchFamily="34" charset="-122"/>
                <a:cs typeface="Calibri" pitchFamily="34" charset="-120"/>
              </a:rPr>
              <a:t>Over 38,000 schemes publish a NAV every day. Nobody can compare them by hand.</a:t>
            </a:r>
            <a:endParaRPr lang="en-US" sz="1400" dirty="0"/>
          </a:p>
        </p:txBody>
      </p:sp>
      <p:sp>
        <p:nvSpPr>
          <p:cNvPr id="14" name="Shape 11"/>
          <p:cNvSpPr/>
          <p:nvPr/>
        </p:nvSpPr>
        <p:spPr>
          <a:xfrm>
            <a:off x="5897880" y="2862072"/>
            <a:ext cx="658368" cy="658368"/>
          </a:xfrm>
          <a:prstGeom prst="ellipse">
            <a:avLst/>
          </a:prstGeom>
          <a:solidFill>
            <a:srgbClr val="E5484D"/>
          </a:solidFill>
          <a:ln w="12700">
            <a:solidFill>
              <a:srgbClr val="E5484D"/>
            </a:solidFill>
            <a:prstDash val="solid"/>
          </a:ln>
        </p:spPr>
      </p:sp>
      <p:pic>
        <p:nvPicPr>
          <p:cNvPr id="15" name="Image 1" descr="preencoded.png">    </p:cNvPr>
          <p:cNvPicPr>
            <a:picLocks noChangeAspect="1"/>
          </p:cNvPicPr>
          <p:nvPr/>
        </p:nvPicPr>
        <p:blipFill>
          <a:blip r:embed="rId2"/>
          <a:stretch>
            <a:fillRect/>
          </a:stretch>
        </p:blipFill>
        <p:spPr>
          <a:xfrm>
            <a:off x="6069056" y="3033248"/>
            <a:ext cx="316017" cy="316017"/>
          </a:xfrm>
          <a:prstGeom prst="rect">
            <a:avLst/>
          </a:prstGeom>
        </p:spPr>
      </p:pic>
      <p:sp>
        <p:nvSpPr>
          <p:cNvPr id="16" name="Text 12"/>
          <p:cNvSpPr txBox="1"/>
          <p:nvPr/>
        </p:nvSpPr>
        <p:spPr>
          <a:xfrm>
            <a:off x="6766560" y="2843784"/>
            <a:ext cx="4846320" cy="347472"/>
          </a:xfrm>
          <a:prstGeom prst="rect">
            <a:avLst/>
          </a:prstGeom>
          <a:noFill/>
          <a:ln/>
        </p:spPr>
        <p:txBody>
          <a:bodyPr wrap="square" lIns="0" tIns="0" rIns="0" bIns="0" rtlCol="0" anchor="t"/>
          <a:lstStyle/>
          <a:p>
            <a:pPr indent="0" marL="0">
              <a:buNone/>
            </a:pPr>
            <a:r>
              <a:rPr lang="en-US" sz="1700" b="1" dirty="0">
                <a:solidFill>
                  <a:srgbClr val="0B1F2A"/>
                </a:solidFill>
                <a:latin typeface="Calibri" pitchFamily="34" charset="0"/>
                <a:ea typeface="Calibri" pitchFamily="34" charset="-122"/>
                <a:cs typeface="Calibri" pitchFamily="34" charset="-120"/>
              </a:rPr>
              <a:t>Risk is invisible</a:t>
            </a:r>
            <a:endParaRPr lang="en-US" sz="1700" dirty="0"/>
          </a:p>
        </p:txBody>
      </p:sp>
      <p:sp>
        <p:nvSpPr>
          <p:cNvPr id="17" name="Text 13"/>
          <p:cNvSpPr txBox="1"/>
          <p:nvPr/>
        </p:nvSpPr>
        <p:spPr>
          <a:xfrm>
            <a:off x="6766560" y="3209544"/>
            <a:ext cx="4846320" cy="548640"/>
          </a:xfrm>
          <a:prstGeom prst="rect">
            <a:avLst/>
          </a:prstGeom>
          <a:noFill/>
          <a:ln/>
        </p:spPr>
        <p:txBody>
          <a:bodyPr wrap="square" lIns="0" tIns="0" rIns="0" bIns="0" rtlCol="0" anchor="t"/>
          <a:lstStyle/>
          <a:p>
            <a:pPr indent="0" marL="0">
              <a:buNone/>
            </a:pPr>
            <a:r>
              <a:rPr lang="en-US" sz="1400" dirty="0">
                <a:solidFill>
                  <a:srgbClr val="5B6B75"/>
                </a:solidFill>
                <a:latin typeface="Calibri" pitchFamily="34" charset="0"/>
                <a:ea typeface="Calibri" pitchFamily="34" charset="-122"/>
                <a:cs typeface="Calibri" pitchFamily="34" charset="-120"/>
              </a:rPr>
              <a:t>Return tables rarely show drawdown, volatility or downside risk.</a:t>
            </a:r>
            <a:endParaRPr lang="en-US" sz="1400" dirty="0"/>
          </a:p>
        </p:txBody>
      </p:sp>
      <p:sp>
        <p:nvSpPr>
          <p:cNvPr id="18" name="Shape 14"/>
          <p:cNvSpPr/>
          <p:nvPr/>
        </p:nvSpPr>
        <p:spPr>
          <a:xfrm>
            <a:off x="5897880" y="3941064"/>
            <a:ext cx="658368" cy="658368"/>
          </a:xfrm>
          <a:prstGeom prst="ellipse">
            <a:avLst/>
          </a:prstGeom>
          <a:solidFill>
            <a:srgbClr val="0E9F6E"/>
          </a:solidFill>
          <a:ln w="12700">
            <a:solidFill>
              <a:srgbClr val="0E9F6E"/>
            </a:solidFill>
            <a:prstDash val="solid"/>
          </a:ln>
        </p:spPr>
      </p:sp>
      <p:pic>
        <p:nvPicPr>
          <p:cNvPr id="19" name="Image 2" descr="preencoded.png">    </p:cNvPr>
          <p:cNvPicPr>
            <a:picLocks noChangeAspect="1"/>
          </p:cNvPicPr>
          <p:nvPr/>
        </p:nvPicPr>
        <p:blipFill>
          <a:blip r:embed="rId3"/>
          <a:stretch>
            <a:fillRect/>
          </a:stretch>
        </p:blipFill>
        <p:spPr>
          <a:xfrm>
            <a:off x="6069056" y="4112240"/>
            <a:ext cx="316017" cy="316017"/>
          </a:xfrm>
          <a:prstGeom prst="rect">
            <a:avLst/>
          </a:prstGeom>
        </p:spPr>
      </p:pic>
      <p:sp>
        <p:nvSpPr>
          <p:cNvPr id="20" name="Text 15"/>
          <p:cNvSpPr txBox="1"/>
          <p:nvPr/>
        </p:nvSpPr>
        <p:spPr>
          <a:xfrm>
            <a:off x="6766560" y="3922776"/>
            <a:ext cx="4846320" cy="347472"/>
          </a:xfrm>
          <a:prstGeom prst="rect">
            <a:avLst/>
          </a:prstGeom>
          <a:noFill/>
          <a:ln/>
        </p:spPr>
        <p:txBody>
          <a:bodyPr wrap="square" lIns="0" tIns="0" rIns="0" bIns="0" rtlCol="0" anchor="t"/>
          <a:lstStyle/>
          <a:p>
            <a:pPr indent="0" marL="0">
              <a:buNone/>
            </a:pPr>
            <a:r>
              <a:rPr lang="en-US" sz="1700" b="1" dirty="0">
                <a:solidFill>
                  <a:srgbClr val="0B1F2A"/>
                </a:solidFill>
                <a:latin typeface="Calibri" pitchFamily="34" charset="0"/>
                <a:ea typeface="Calibri" pitchFamily="34" charset="-122"/>
                <a:cs typeface="Calibri" pitchFamily="34" charset="-120"/>
              </a:rPr>
              <a:t>“Hold longer” is only advice</a:t>
            </a:r>
            <a:endParaRPr lang="en-US" sz="1700" dirty="0"/>
          </a:p>
        </p:txBody>
      </p:sp>
      <p:sp>
        <p:nvSpPr>
          <p:cNvPr id="21" name="Text 16"/>
          <p:cNvSpPr txBox="1"/>
          <p:nvPr/>
        </p:nvSpPr>
        <p:spPr>
          <a:xfrm>
            <a:off x="6766560" y="4288536"/>
            <a:ext cx="4846320" cy="548640"/>
          </a:xfrm>
          <a:prstGeom prst="rect">
            <a:avLst/>
          </a:prstGeom>
          <a:noFill/>
          <a:ln/>
        </p:spPr>
        <p:txBody>
          <a:bodyPr wrap="square" lIns="0" tIns="0" rIns="0" bIns="0" rtlCol="0" anchor="t"/>
          <a:lstStyle/>
          <a:p>
            <a:pPr indent="0" marL="0">
              <a:buNone/>
            </a:pPr>
            <a:r>
              <a:rPr lang="en-US" sz="1400" dirty="0">
                <a:solidFill>
                  <a:srgbClr val="5B6B75"/>
                </a:solidFill>
                <a:latin typeface="Calibri" pitchFamily="34" charset="0"/>
                <a:ea typeface="Calibri" pitchFamily="34" charset="-122"/>
                <a:cs typeface="Calibri" pitchFamily="34" charset="-120"/>
              </a:rPr>
              <a:t>Long-term investing is recommended but seldom proven with data.</a:t>
            </a:r>
            <a:endParaRPr lang="en-US" sz="1400" dirty="0"/>
          </a:p>
        </p:txBody>
      </p:sp>
      <p:sp>
        <p:nvSpPr>
          <p:cNvPr id="22" name="Shape 17"/>
          <p:cNvSpPr/>
          <p:nvPr/>
        </p:nvSpPr>
        <p:spPr>
          <a:xfrm>
            <a:off x="5897880" y="5020056"/>
            <a:ext cx="658368" cy="658368"/>
          </a:xfrm>
          <a:prstGeom prst="ellipse">
            <a:avLst/>
          </a:prstGeom>
          <a:solidFill>
            <a:srgbClr val="0E9F6E"/>
          </a:solidFill>
          <a:ln w="12700">
            <a:solidFill>
              <a:srgbClr val="0E9F6E"/>
            </a:solidFill>
            <a:prstDash val="solid"/>
          </a:ln>
        </p:spPr>
      </p:sp>
      <p:pic>
        <p:nvPicPr>
          <p:cNvPr id="23" name="Image 3" descr="preencoded.png">    </p:cNvPr>
          <p:cNvPicPr>
            <a:picLocks noChangeAspect="1"/>
          </p:cNvPicPr>
          <p:nvPr/>
        </p:nvPicPr>
        <p:blipFill>
          <a:blip r:embed="rId4"/>
          <a:stretch>
            <a:fillRect/>
          </a:stretch>
        </p:blipFill>
        <p:spPr>
          <a:xfrm>
            <a:off x="6069056" y="5191232"/>
            <a:ext cx="316017" cy="316017"/>
          </a:xfrm>
          <a:prstGeom prst="rect">
            <a:avLst/>
          </a:prstGeom>
        </p:spPr>
      </p:pic>
      <p:sp>
        <p:nvSpPr>
          <p:cNvPr id="24" name="Text 18"/>
          <p:cNvSpPr txBox="1"/>
          <p:nvPr/>
        </p:nvSpPr>
        <p:spPr>
          <a:xfrm>
            <a:off x="6766560" y="5001768"/>
            <a:ext cx="4846320" cy="347472"/>
          </a:xfrm>
          <a:prstGeom prst="rect">
            <a:avLst/>
          </a:prstGeom>
          <a:noFill/>
          <a:ln/>
        </p:spPr>
        <p:txBody>
          <a:bodyPr wrap="square" lIns="0" tIns="0" rIns="0" bIns="0" rtlCol="0" anchor="t"/>
          <a:lstStyle/>
          <a:p>
            <a:pPr indent="0" marL="0">
              <a:buNone/>
            </a:pPr>
            <a:r>
              <a:rPr lang="en-US" sz="1700" b="1" dirty="0">
                <a:solidFill>
                  <a:srgbClr val="0B1F2A"/>
                </a:solidFill>
                <a:latin typeface="Calibri" pitchFamily="34" charset="0"/>
                <a:ea typeface="Calibri" pitchFamily="34" charset="-122"/>
                <a:cs typeface="Calibri" pitchFamily="34" charset="-120"/>
              </a:rPr>
              <a:t>No fair model comparison</a:t>
            </a:r>
            <a:endParaRPr lang="en-US" sz="1700" dirty="0"/>
          </a:p>
        </p:txBody>
      </p:sp>
      <p:sp>
        <p:nvSpPr>
          <p:cNvPr id="25" name="Text 19"/>
          <p:cNvSpPr txBox="1"/>
          <p:nvPr/>
        </p:nvSpPr>
        <p:spPr>
          <a:xfrm>
            <a:off x="6766560" y="5367528"/>
            <a:ext cx="4846320" cy="548640"/>
          </a:xfrm>
          <a:prstGeom prst="rect">
            <a:avLst/>
          </a:prstGeom>
          <a:noFill/>
          <a:ln/>
        </p:spPr>
        <p:txBody>
          <a:bodyPr wrap="square" lIns="0" tIns="0" rIns="0" bIns="0" rtlCol="0" anchor="t"/>
          <a:lstStyle/>
          <a:p>
            <a:pPr indent="0" marL="0">
              <a:buNone/>
            </a:pPr>
            <a:r>
              <a:rPr lang="en-US" sz="1400" dirty="0">
                <a:solidFill>
                  <a:srgbClr val="5B6B75"/>
                </a:solidFill>
                <a:latin typeface="Calibri" pitchFamily="34" charset="0"/>
                <a:ea typeface="Calibri" pitchFamily="34" charset="-122"/>
                <a:cs typeface="Calibri" pitchFamily="34" charset="-120"/>
              </a:rPr>
              <a:t>Forecasts are published without testing which model actually performs best.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300" kern="0" dirty="0">
                <a:solidFill>
                  <a:srgbClr val="0E9F6E"/>
                </a:solidFill>
                <a:latin typeface="Calibri" pitchFamily="34" charset="0"/>
                <a:ea typeface="Calibri" pitchFamily="34" charset="-122"/>
                <a:cs typeface="Calibri" pitchFamily="34" charset="-120"/>
              </a:rPr>
              <a:t>02  ·  OBJECTIVES</a:t>
            </a:r>
            <a:endParaRPr lang="en-US" sz="1200" dirty="0"/>
          </a:p>
        </p:txBody>
      </p:sp>
      <p:sp>
        <p:nvSpPr>
          <p:cNvPr id="3" name="Text 1"/>
          <p:cNvSpPr txBox="1"/>
          <p:nvPr/>
        </p:nvSpPr>
        <p:spPr>
          <a:xfrm>
            <a:off x="548640" y="676656"/>
            <a:ext cx="11064240" cy="685800"/>
          </a:xfrm>
          <a:prstGeom prst="rect">
            <a:avLst/>
          </a:prstGeom>
          <a:noFill/>
          <a:ln/>
        </p:spPr>
        <p:txBody>
          <a:bodyPr wrap="square" lIns="0" tIns="0" rIns="0" bIns="0" rtlCol="0" anchor="ctr"/>
          <a:lstStyle/>
          <a:p>
            <a:pPr indent="0" marL="0">
              <a:buNone/>
            </a:pPr>
            <a:r>
              <a:rPr lang="en-US" sz="3000" b="1" dirty="0">
                <a:solidFill>
                  <a:srgbClr val="0B1F2A"/>
                </a:solidFill>
                <a:latin typeface="Arial" pitchFamily="34" charset="0"/>
                <a:ea typeface="Arial" pitchFamily="34" charset="-122"/>
                <a:cs typeface="Arial" pitchFamily="34" charset="-120"/>
              </a:rPr>
              <a:t>What the platform delivers</a:t>
            </a:r>
            <a:endParaRPr lang="en-US" sz="3000" dirty="0"/>
          </a:p>
        </p:txBody>
      </p:sp>
      <p:sp>
        <p:nvSpPr>
          <p:cNvPr id="4" name="Text 2"/>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B75"/>
                </a:solidFill>
                <a:latin typeface="Calibri" pitchFamily="34" charset="0"/>
                <a:ea typeface="Calibri" pitchFamily="34" charset="-122"/>
                <a:cs typeface="Calibri" pitchFamily="34" charset="-120"/>
              </a:rPr>
              <a:t>Big Data Architecture  |  Stock Market &amp; Mutual Fund Risk Analytics</a:t>
            </a:r>
            <a:endParaRPr lang="en-US" sz="900" dirty="0"/>
          </a:p>
        </p:txBody>
      </p:sp>
      <p:sp>
        <p:nvSpPr>
          <p:cNvPr id="5" name="Text 3"/>
          <p:cNvSpPr txBox="1"/>
          <p:nvPr/>
        </p:nvSpPr>
        <p:spPr>
          <a:xfrm>
            <a:off x="11183112" y="6473952"/>
            <a:ext cx="457200" cy="228600"/>
          </a:xfrm>
          <a:prstGeom prst="rect">
            <a:avLst/>
          </a:prstGeom>
          <a:noFill/>
          <a:ln/>
        </p:spPr>
        <p:txBody>
          <a:bodyPr wrap="square" lIns="0" tIns="0" rIns="0" bIns="0" rtlCol="0" anchor="t"/>
          <a:lstStyle/>
          <a:p>
            <a:pPr algn="r" indent="0" marL="0">
              <a:buNone/>
            </a:pPr>
            <a:r>
              <a:rPr lang="en-US" sz="900" dirty="0">
                <a:solidFill>
                  <a:srgbClr val="5B6B75"/>
                </a:solidFill>
                <a:latin typeface="Calibri" pitchFamily="34" charset="0"/>
                <a:ea typeface="Calibri" pitchFamily="34" charset="-122"/>
                <a:cs typeface="Calibri" pitchFamily="34" charset="-120"/>
              </a:rPr>
              <a:t>3</a:t>
            </a:r>
            <a:endParaRPr lang="en-US" sz="900" dirty="0"/>
          </a:p>
        </p:txBody>
      </p:sp>
      <p:sp>
        <p:nvSpPr>
          <p:cNvPr id="6" name="Shape 4"/>
          <p:cNvSpPr/>
          <p:nvPr/>
        </p:nvSpPr>
        <p:spPr>
          <a:xfrm>
            <a:off x="548640" y="1691640"/>
            <a:ext cx="3520440" cy="2103120"/>
          </a:xfrm>
          <a:prstGeom prst="roundRect">
            <a:avLst>
              <a:gd name="adj" fmla="val 5217"/>
            </a:avLst>
          </a:prstGeom>
          <a:solidFill>
            <a:srgbClr val="F2F6F8"/>
          </a:solidFill>
          <a:ln w="12700">
            <a:solidFill>
              <a:srgbClr val="F2F6F8"/>
            </a:solidFill>
            <a:prstDash val="solid"/>
          </a:ln>
        </p:spPr>
      </p:sp>
      <p:sp>
        <p:nvSpPr>
          <p:cNvPr id="7" name="Shape 5"/>
          <p:cNvSpPr/>
          <p:nvPr/>
        </p:nvSpPr>
        <p:spPr>
          <a:xfrm>
            <a:off x="822960" y="1965960"/>
            <a:ext cx="566928" cy="566928"/>
          </a:xfrm>
          <a:prstGeom prst="ellipse">
            <a:avLst/>
          </a:prstGeom>
          <a:solidFill>
            <a:srgbClr val="0E9F6E"/>
          </a:solidFill>
          <a:ln w="12700">
            <a:solidFill>
              <a:srgbClr val="0E9F6E"/>
            </a:solidFill>
            <a:prstDash val="solid"/>
          </a:ln>
        </p:spPr>
      </p:sp>
      <p:pic>
        <p:nvPicPr>
          <p:cNvPr id="8" name="Image 0" descr="preencoded.png">    </p:cNvPr>
          <p:cNvPicPr>
            <a:picLocks noChangeAspect="1"/>
          </p:cNvPicPr>
          <p:nvPr/>
        </p:nvPicPr>
        <p:blipFill>
          <a:blip r:embed="rId1"/>
          <a:stretch>
            <a:fillRect/>
          </a:stretch>
        </p:blipFill>
        <p:spPr>
          <a:xfrm>
            <a:off x="970361" y="2113361"/>
            <a:ext cx="272125" cy="272125"/>
          </a:xfrm>
          <a:prstGeom prst="rect">
            <a:avLst/>
          </a:prstGeom>
        </p:spPr>
      </p:pic>
      <p:sp>
        <p:nvSpPr>
          <p:cNvPr id="9" name="Text 6"/>
          <p:cNvSpPr txBox="1"/>
          <p:nvPr/>
        </p:nvSpPr>
        <p:spPr>
          <a:xfrm>
            <a:off x="822960" y="2651760"/>
            <a:ext cx="3017520" cy="365760"/>
          </a:xfrm>
          <a:prstGeom prst="rect">
            <a:avLst/>
          </a:prstGeom>
          <a:noFill/>
          <a:ln/>
        </p:spPr>
        <p:txBody>
          <a:bodyPr wrap="square" lIns="0" tIns="0" rIns="0" bIns="0" rtlCol="0" anchor="t"/>
          <a:lstStyle/>
          <a:p>
            <a:pPr indent="0" marL="0">
              <a:buNone/>
            </a:pPr>
            <a:r>
              <a:rPr lang="en-US" sz="1700" b="1" dirty="0">
                <a:solidFill>
                  <a:srgbClr val="0B1F2A"/>
                </a:solidFill>
                <a:latin typeface="Calibri" pitchFamily="34" charset="0"/>
                <a:ea typeface="Calibri" pitchFamily="34" charset="-122"/>
                <a:cs typeface="Calibri" pitchFamily="34" charset="-120"/>
              </a:rPr>
              <a:t>Return analytics</a:t>
            </a:r>
            <a:endParaRPr lang="en-US" sz="1700" dirty="0"/>
          </a:p>
        </p:txBody>
      </p:sp>
      <p:sp>
        <p:nvSpPr>
          <p:cNvPr id="10" name="Text 7"/>
          <p:cNvSpPr txBox="1"/>
          <p:nvPr/>
        </p:nvSpPr>
        <p:spPr>
          <a:xfrm>
            <a:off x="822960" y="3017520"/>
            <a:ext cx="3017520" cy="731520"/>
          </a:xfrm>
          <a:prstGeom prst="rect">
            <a:avLst/>
          </a:prstGeom>
          <a:noFill/>
          <a:ln/>
        </p:spPr>
        <p:txBody>
          <a:bodyPr wrap="square" lIns="0" tIns="0" rIns="0" bIns="0" rtlCol="0" anchor="t"/>
          <a:lstStyle/>
          <a:p>
            <a:pPr indent="0" marL="0">
              <a:buNone/>
            </a:pPr>
            <a:r>
              <a:rPr lang="en-US" sz="1300" dirty="0">
                <a:solidFill>
                  <a:srgbClr val="5B6B75"/>
                </a:solidFill>
                <a:latin typeface="Calibri" pitchFamily="34" charset="0"/>
                <a:ea typeface="Calibri" pitchFamily="34" charset="-122"/>
                <a:cs typeface="Calibri" pitchFamily="34" charset="-120"/>
              </a:rPr>
              <a:t>1-year return, 3, 5 and 10-year CAGR, and the value of ₹1 lakh invested 10 years ago.</a:t>
            </a:r>
            <a:endParaRPr lang="en-US" sz="1300" dirty="0"/>
          </a:p>
        </p:txBody>
      </p:sp>
      <p:sp>
        <p:nvSpPr>
          <p:cNvPr id="11" name="Shape 8"/>
          <p:cNvSpPr/>
          <p:nvPr/>
        </p:nvSpPr>
        <p:spPr>
          <a:xfrm>
            <a:off x="4334256" y="1691640"/>
            <a:ext cx="3520440" cy="2103120"/>
          </a:xfrm>
          <a:prstGeom prst="roundRect">
            <a:avLst>
              <a:gd name="adj" fmla="val 5217"/>
            </a:avLst>
          </a:prstGeom>
          <a:solidFill>
            <a:srgbClr val="F2F6F8"/>
          </a:solidFill>
          <a:ln w="12700">
            <a:solidFill>
              <a:srgbClr val="F2F6F8"/>
            </a:solidFill>
            <a:prstDash val="solid"/>
          </a:ln>
        </p:spPr>
      </p:sp>
      <p:sp>
        <p:nvSpPr>
          <p:cNvPr id="12" name="Shape 9"/>
          <p:cNvSpPr/>
          <p:nvPr/>
        </p:nvSpPr>
        <p:spPr>
          <a:xfrm>
            <a:off x="4608576" y="1965960"/>
            <a:ext cx="566928" cy="566928"/>
          </a:xfrm>
          <a:prstGeom prst="ellipse">
            <a:avLst/>
          </a:prstGeom>
          <a:solidFill>
            <a:srgbClr val="0E9F6E"/>
          </a:solidFill>
          <a:ln w="12700">
            <a:solidFill>
              <a:srgbClr val="0E9F6E"/>
            </a:solidFill>
            <a:prstDash val="solid"/>
          </a:ln>
        </p:spPr>
      </p:sp>
      <p:pic>
        <p:nvPicPr>
          <p:cNvPr id="13" name="Image 1" descr="preencoded.png">    </p:cNvPr>
          <p:cNvPicPr>
            <a:picLocks noChangeAspect="1"/>
          </p:cNvPicPr>
          <p:nvPr/>
        </p:nvPicPr>
        <p:blipFill>
          <a:blip r:embed="rId2"/>
          <a:stretch>
            <a:fillRect/>
          </a:stretch>
        </p:blipFill>
        <p:spPr>
          <a:xfrm>
            <a:off x="4755977" y="2113361"/>
            <a:ext cx="272125" cy="272125"/>
          </a:xfrm>
          <a:prstGeom prst="rect">
            <a:avLst/>
          </a:prstGeom>
        </p:spPr>
      </p:pic>
      <p:sp>
        <p:nvSpPr>
          <p:cNvPr id="14" name="Text 10"/>
          <p:cNvSpPr txBox="1"/>
          <p:nvPr/>
        </p:nvSpPr>
        <p:spPr>
          <a:xfrm>
            <a:off x="4608576" y="2651760"/>
            <a:ext cx="3017520" cy="365760"/>
          </a:xfrm>
          <a:prstGeom prst="rect">
            <a:avLst/>
          </a:prstGeom>
          <a:noFill/>
          <a:ln/>
        </p:spPr>
        <p:txBody>
          <a:bodyPr wrap="square" lIns="0" tIns="0" rIns="0" bIns="0" rtlCol="0" anchor="t"/>
          <a:lstStyle/>
          <a:p>
            <a:pPr indent="0" marL="0">
              <a:buNone/>
            </a:pPr>
            <a:r>
              <a:rPr lang="en-US" sz="1700" b="1" dirty="0">
                <a:solidFill>
                  <a:srgbClr val="0B1F2A"/>
                </a:solidFill>
                <a:latin typeface="Calibri" pitchFamily="34" charset="0"/>
                <a:ea typeface="Calibri" pitchFamily="34" charset="-122"/>
                <a:cs typeface="Calibri" pitchFamily="34" charset="-120"/>
              </a:rPr>
              <a:t>Risk score (0–100)</a:t>
            </a:r>
            <a:endParaRPr lang="en-US" sz="1700" dirty="0"/>
          </a:p>
        </p:txBody>
      </p:sp>
      <p:sp>
        <p:nvSpPr>
          <p:cNvPr id="15" name="Text 11"/>
          <p:cNvSpPr txBox="1"/>
          <p:nvPr/>
        </p:nvSpPr>
        <p:spPr>
          <a:xfrm>
            <a:off x="4608576" y="3017520"/>
            <a:ext cx="3017520" cy="731520"/>
          </a:xfrm>
          <a:prstGeom prst="rect">
            <a:avLst/>
          </a:prstGeom>
          <a:noFill/>
          <a:ln/>
        </p:spPr>
        <p:txBody>
          <a:bodyPr wrap="square" lIns="0" tIns="0" rIns="0" bIns="0" rtlCol="0" anchor="t"/>
          <a:lstStyle/>
          <a:p>
            <a:pPr indent="0" marL="0">
              <a:buNone/>
            </a:pPr>
            <a:r>
              <a:rPr lang="en-US" sz="1300" dirty="0">
                <a:solidFill>
                  <a:srgbClr val="5B6B75"/>
                </a:solidFill>
                <a:latin typeface="Calibri" pitchFamily="34" charset="0"/>
                <a:ea typeface="Calibri" pitchFamily="34" charset="-122"/>
                <a:cs typeface="Calibri" pitchFamily="34" charset="-120"/>
              </a:rPr>
              <a:t>An explainable score from volatility, drawdown, VaR and beta, for 1,137 funds.</a:t>
            </a:r>
            <a:endParaRPr lang="en-US" sz="1300" dirty="0"/>
          </a:p>
        </p:txBody>
      </p:sp>
      <p:sp>
        <p:nvSpPr>
          <p:cNvPr id="16" name="Shape 12"/>
          <p:cNvSpPr/>
          <p:nvPr/>
        </p:nvSpPr>
        <p:spPr>
          <a:xfrm>
            <a:off x="8119872" y="1691640"/>
            <a:ext cx="3520440" cy="2103120"/>
          </a:xfrm>
          <a:prstGeom prst="roundRect">
            <a:avLst>
              <a:gd name="adj" fmla="val 5217"/>
            </a:avLst>
          </a:prstGeom>
          <a:solidFill>
            <a:srgbClr val="F2F6F8"/>
          </a:solidFill>
          <a:ln w="12700">
            <a:solidFill>
              <a:srgbClr val="F2F6F8"/>
            </a:solidFill>
            <a:prstDash val="solid"/>
          </a:ln>
        </p:spPr>
      </p:sp>
      <p:sp>
        <p:nvSpPr>
          <p:cNvPr id="17" name="Shape 13"/>
          <p:cNvSpPr/>
          <p:nvPr/>
        </p:nvSpPr>
        <p:spPr>
          <a:xfrm>
            <a:off x="8394192" y="1965960"/>
            <a:ext cx="566928" cy="566928"/>
          </a:xfrm>
          <a:prstGeom prst="ellipse">
            <a:avLst/>
          </a:prstGeom>
          <a:solidFill>
            <a:srgbClr val="0E9F6E"/>
          </a:solidFill>
          <a:ln w="12700">
            <a:solidFill>
              <a:srgbClr val="0E9F6E"/>
            </a:solidFill>
            <a:prstDash val="solid"/>
          </a:ln>
        </p:spPr>
      </p:sp>
      <p:pic>
        <p:nvPicPr>
          <p:cNvPr id="18" name="Image 2" descr="preencoded.png">    </p:cNvPr>
          <p:cNvPicPr>
            <a:picLocks noChangeAspect="1"/>
          </p:cNvPicPr>
          <p:nvPr/>
        </p:nvPicPr>
        <p:blipFill>
          <a:blip r:embed="rId3"/>
          <a:stretch>
            <a:fillRect/>
          </a:stretch>
        </p:blipFill>
        <p:spPr>
          <a:xfrm>
            <a:off x="8541593" y="2113361"/>
            <a:ext cx="272125" cy="272125"/>
          </a:xfrm>
          <a:prstGeom prst="rect">
            <a:avLst/>
          </a:prstGeom>
        </p:spPr>
      </p:pic>
      <p:sp>
        <p:nvSpPr>
          <p:cNvPr id="19" name="Text 14"/>
          <p:cNvSpPr txBox="1"/>
          <p:nvPr/>
        </p:nvSpPr>
        <p:spPr>
          <a:xfrm>
            <a:off x="8394192" y="2651760"/>
            <a:ext cx="3017520" cy="365760"/>
          </a:xfrm>
          <a:prstGeom prst="rect">
            <a:avLst/>
          </a:prstGeom>
          <a:noFill/>
          <a:ln/>
        </p:spPr>
        <p:txBody>
          <a:bodyPr wrap="square" lIns="0" tIns="0" rIns="0" bIns="0" rtlCol="0" anchor="t"/>
          <a:lstStyle/>
          <a:p>
            <a:pPr indent="0" marL="0">
              <a:buNone/>
            </a:pPr>
            <a:r>
              <a:rPr lang="en-US" sz="1700" b="1" dirty="0">
                <a:solidFill>
                  <a:srgbClr val="0B1F2A"/>
                </a:solidFill>
                <a:latin typeface="Calibri" pitchFamily="34" charset="0"/>
                <a:ea typeface="Calibri" pitchFamily="34" charset="-122"/>
                <a:cs typeface="Calibri" pitchFamily="34" charset="-120"/>
              </a:rPr>
              <a:t>Risk prediction</a:t>
            </a:r>
            <a:endParaRPr lang="en-US" sz="1700" dirty="0"/>
          </a:p>
        </p:txBody>
      </p:sp>
      <p:sp>
        <p:nvSpPr>
          <p:cNvPr id="20" name="Text 15"/>
          <p:cNvSpPr txBox="1"/>
          <p:nvPr/>
        </p:nvSpPr>
        <p:spPr>
          <a:xfrm>
            <a:off x="8394192" y="3017520"/>
            <a:ext cx="3017520" cy="731520"/>
          </a:xfrm>
          <a:prstGeom prst="rect">
            <a:avLst/>
          </a:prstGeom>
          <a:noFill/>
          <a:ln/>
        </p:spPr>
        <p:txBody>
          <a:bodyPr wrap="square" lIns="0" tIns="0" rIns="0" bIns="0" rtlCol="0" anchor="t"/>
          <a:lstStyle/>
          <a:p>
            <a:pPr indent="0" marL="0">
              <a:buNone/>
            </a:pPr>
            <a:r>
              <a:rPr lang="en-US" sz="1300" dirty="0">
                <a:solidFill>
                  <a:srgbClr val="5B6B75"/>
                </a:solidFill>
                <a:latin typeface="Calibri" pitchFamily="34" charset="0"/>
                <a:ea typeface="Calibri" pitchFamily="34" charset="-122"/>
                <a:cs typeface="Calibri" pitchFamily="34" charset="-120"/>
              </a:rPr>
              <a:t>Machine learning that predicts each fund's risk band for the next quarter.</a:t>
            </a:r>
            <a:endParaRPr lang="en-US" sz="1300" dirty="0"/>
          </a:p>
        </p:txBody>
      </p:sp>
      <p:sp>
        <p:nvSpPr>
          <p:cNvPr id="21" name="Shape 16"/>
          <p:cNvSpPr/>
          <p:nvPr/>
        </p:nvSpPr>
        <p:spPr>
          <a:xfrm>
            <a:off x="548640" y="4023360"/>
            <a:ext cx="3520440" cy="2103120"/>
          </a:xfrm>
          <a:prstGeom prst="roundRect">
            <a:avLst>
              <a:gd name="adj" fmla="val 5217"/>
            </a:avLst>
          </a:prstGeom>
          <a:solidFill>
            <a:srgbClr val="F2F6F8"/>
          </a:solidFill>
          <a:ln w="12700">
            <a:solidFill>
              <a:srgbClr val="F2F6F8"/>
            </a:solidFill>
            <a:prstDash val="solid"/>
          </a:ln>
        </p:spPr>
      </p:sp>
      <p:sp>
        <p:nvSpPr>
          <p:cNvPr id="22" name="Shape 17"/>
          <p:cNvSpPr/>
          <p:nvPr/>
        </p:nvSpPr>
        <p:spPr>
          <a:xfrm>
            <a:off x="822960" y="4297680"/>
            <a:ext cx="566928" cy="566928"/>
          </a:xfrm>
          <a:prstGeom prst="ellipse">
            <a:avLst/>
          </a:prstGeom>
          <a:solidFill>
            <a:srgbClr val="0E9F6E"/>
          </a:solidFill>
          <a:ln w="12700">
            <a:solidFill>
              <a:srgbClr val="0E9F6E"/>
            </a:solidFill>
            <a:prstDash val="solid"/>
          </a:ln>
        </p:spPr>
      </p:sp>
      <p:pic>
        <p:nvPicPr>
          <p:cNvPr id="23" name="Image 3" descr="preencoded.png">    </p:cNvPr>
          <p:cNvPicPr>
            <a:picLocks noChangeAspect="1"/>
          </p:cNvPicPr>
          <p:nvPr/>
        </p:nvPicPr>
        <p:blipFill>
          <a:blip r:embed="rId4"/>
          <a:stretch>
            <a:fillRect/>
          </a:stretch>
        </p:blipFill>
        <p:spPr>
          <a:xfrm>
            <a:off x="970361" y="4445081"/>
            <a:ext cx="272125" cy="272125"/>
          </a:xfrm>
          <a:prstGeom prst="rect">
            <a:avLst/>
          </a:prstGeom>
        </p:spPr>
      </p:pic>
      <p:sp>
        <p:nvSpPr>
          <p:cNvPr id="24" name="Text 18"/>
          <p:cNvSpPr txBox="1"/>
          <p:nvPr/>
        </p:nvSpPr>
        <p:spPr>
          <a:xfrm>
            <a:off x="822960" y="4983480"/>
            <a:ext cx="3017520" cy="365760"/>
          </a:xfrm>
          <a:prstGeom prst="rect">
            <a:avLst/>
          </a:prstGeom>
          <a:noFill/>
          <a:ln/>
        </p:spPr>
        <p:txBody>
          <a:bodyPr wrap="square" lIns="0" tIns="0" rIns="0" bIns="0" rtlCol="0" anchor="t"/>
          <a:lstStyle/>
          <a:p>
            <a:pPr indent="0" marL="0">
              <a:buNone/>
            </a:pPr>
            <a:r>
              <a:rPr lang="en-US" sz="1700" b="1" dirty="0">
                <a:solidFill>
                  <a:srgbClr val="0B1F2A"/>
                </a:solidFill>
                <a:latin typeface="Calibri" pitchFamily="34" charset="0"/>
                <a:ea typeface="Calibri" pitchFamily="34" charset="-122"/>
                <a:cs typeface="Calibri" pitchFamily="34" charset="-120"/>
              </a:rPr>
              <a:t>Holding-period evidence</a:t>
            </a:r>
            <a:endParaRPr lang="en-US" sz="1700" dirty="0"/>
          </a:p>
        </p:txBody>
      </p:sp>
      <p:sp>
        <p:nvSpPr>
          <p:cNvPr id="25" name="Text 19"/>
          <p:cNvSpPr txBox="1"/>
          <p:nvPr/>
        </p:nvSpPr>
        <p:spPr>
          <a:xfrm>
            <a:off x="822960" y="5349240"/>
            <a:ext cx="3017520" cy="731520"/>
          </a:xfrm>
          <a:prstGeom prst="rect">
            <a:avLst/>
          </a:prstGeom>
          <a:noFill/>
          <a:ln/>
        </p:spPr>
        <p:txBody>
          <a:bodyPr wrap="square" lIns="0" tIns="0" rIns="0" bIns="0" rtlCol="0" anchor="t"/>
          <a:lstStyle/>
          <a:p>
            <a:pPr indent="0" marL="0">
              <a:buNone/>
            </a:pPr>
            <a:r>
              <a:rPr lang="en-US" sz="1300" dirty="0">
                <a:solidFill>
                  <a:srgbClr val="5B6B75"/>
                </a:solidFill>
                <a:latin typeface="Calibri" pitchFamily="34" charset="0"/>
                <a:ea typeface="Calibri" pitchFamily="34" charset="-122"/>
                <a:cs typeface="Calibri" pitchFamily="34" charset="-120"/>
              </a:rPr>
              <a:t>Chance of gain and return range for 1, 3, 5, 7 and 10-year holds.</a:t>
            </a:r>
            <a:endParaRPr lang="en-US" sz="1300" dirty="0"/>
          </a:p>
        </p:txBody>
      </p:sp>
      <p:sp>
        <p:nvSpPr>
          <p:cNvPr id="26" name="Shape 20"/>
          <p:cNvSpPr/>
          <p:nvPr/>
        </p:nvSpPr>
        <p:spPr>
          <a:xfrm>
            <a:off x="4334256" y="4023360"/>
            <a:ext cx="3520440" cy="2103120"/>
          </a:xfrm>
          <a:prstGeom prst="roundRect">
            <a:avLst>
              <a:gd name="adj" fmla="val 5217"/>
            </a:avLst>
          </a:prstGeom>
          <a:solidFill>
            <a:srgbClr val="F2F6F8"/>
          </a:solidFill>
          <a:ln w="12700">
            <a:solidFill>
              <a:srgbClr val="F2F6F8"/>
            </a:solidFill>
            <a:prstDash val="solid"/>
          </a:ln>
        </p:spPr>
      </p:sp>
      <p:sp>
        <p:nvSpPr>
          <p:cNvPr id="27" name="Shape 21"/>
          <p:cNvSpPr/>
          <p:nvPr/>
        </p:nvSpPr>
        <p:spPr>
          <a:xfrm>
            <a:off x="4608576" y="4297680"/>
            <a:ext cx="566928" cy="566928"/>
          </a:xfrm>
          <a:prstGeom prst="ellipse">
            <a:avLst/>
          </a:prstGeom>
          <a:solidFill>
            <a:srgbClr val="0E9F6E"/>
          </a:solidFill>
          <a:ln w="12700">
            <a:solidFill>
              <a:srgbClr val="0E9F6E"/>
            </a:solidFill>
            <a:prstDash val="solid"/>
          </a:ln>
        </p:spPr>
      </p:sp>
      <p:pic>
        <p:nvPicPr>
          <p:cNvPr id="28" name="Image 4" descr="preencoded.png">    </p:cNvPr>
          <p:cNvPicPr>
            <a:picLocks noChangeAspect="1"/>
          </p:cNvPicPr>
          <p:nvPr/>
        </p:nvPicPr>
        <p:blipFill>
          <a:blip r:embed="rId5"/>
          <a:stretch>
            <a:fillRect/>
          </a:stretch>
        </p:blipFill>
        <p:spPr>
          <a:xfrm>
            <a:off x="4755977" y="4445081"/>
            <a:ext cx="272125" cy="272125"/>
          </a:xfrm>
          <a:prstGeom prst="rect">
            <a:avLst/>
          </a:prstGeom>
        </p:spPr>
      </p:pic>
      <p:sp>
        <p:nvSpPr>
          <p:cNvPr id="29" name="Text 22"/>
          <p:cNvSpPr txBox="1"/>
          <p:nvPr/>
        </p:nvSpPr>
        <p:spPr>
          <a:xfrm>
            <a:off x="4608576" y="4983480"/>
            <a:ext cx="3017520" cy="365760"/>
          </a:xfrm>
          <a:prstGeom prst="rect">
            <a:avLst/>
          </a:prstGeom>
          <a:noFill/>
          <a:ln/>
        </p:spPr>
        <p:txBody>
          <a:bodyPr wrap="square" lIns="0" tIns="0" rIns="0" bIns="0" rtlCol="0" anchor="t"/>
          <a:lstStyle/>
          <a:p>
            <a:pPr indent="0" marL="0">
              <a:buNone/>
            </a:pPr>
            <a:r>
              <a:rPr lang="en-US" sz="1700" b="1" dirty="0">
                <a:solidFill>
                  <a:srgbClr val="0B1F2A"/>
                </a:solidFill>
                <a:latin typeface="Calibri" pitchFamily="34" charset="0"/>
                <a:ea typeface="Calibri" pitchFamily="34" charset="-122"/>
                <a:cs typeface="Calibri" pitchFamily="34" charset="-120"/>
              </a:rPr>
              <a:t>Model comparison</a:t>
            </a:r>
            <a:endParaRPr lang="en-US" sz="1700" dirty="0"/>
          </a:p>
        </p:txBody>
      </p:sp>
      <p:sp>
        <p:nvSpPr>
          <p:cNvPr id="30" name="Text 23"/>
          <p:cNvSpPr txBox="1"/>
          <p:nvPr/>
        </p:nvSpPr>
        <p:spPr>
          <a:xfrm>
            <a:off x="4608576" y="5349240"/>
            <a:ext cx="3017520" cy="731520"/>
          </a:xfrm>
          <a:prstGeom prst="rect">
            <a:avLst/>
          </a:prstGeom>
          <a:noFill/>
          <a:ln/>
        </p:spPr>
        <p:txBody>
          <a:bodyPr wrap="square" lIns="0" tIns="0" rIns="0" bIns="0" rtlCol="0" anchor="t"/>
          <a:lstStyle/>
          <a:p>
            <a:pPr indent="0" marL="0">
              <a:buNone/>
            </a:pPr>
            <a:r>
              <a:rPr lang="en-US" sz="1300" dirty="0">
                <a:solidFill>
                  <a:srgbClr val="5B6B75"/>
                </a:solidFill>
                <a:latin typeface="Calibri" pitchFamily="34" charset="0"/>
                <a:ea typeface="Calibri" pitchFamily="34" charset="-122"/>
                <a:cs typeface="Calibri" pitchFamily="34" charset="-120"/>
              </a:rPr>
              <a:t>Five forecasting models tested on the same unseen data against a simple baseline.</a:t>
            </a:r>
            <a:endParaRPr lang="en-US" sz="1300" dirty="0"/>
          </a:p>
        </p:txBody>
      </p:sp>
      <p:sp>
        <p:nvSpPr>
          <p:cNvPr id="31" name="Shape 24"/>
          <p:cNvSpPr/>
          <p:nvPr/>
        </p:nvSpPr>
        <p:spPr>
          <a:xfrm>
            <a:off x="8119872" y="4023360"/>
            <a:ext cx="3520440" cy="2103120"/>
          </a:xfrm>
          <a:prstGeom prst="roundRect">
            <a:avLst>
              <a:gd name="adj" fmla="val 5217"/>
            </a:avLst>
          </a:prstGeom>
          <a:solidFill>
            <a:srgbClr val="F2F6F8"/>
          </a:solidFill>
          <a:ln w="12700">
            <a:solidFill>
              <a:srgbClr val="F2F6F8"/>
            </a:solidFill>
            <a:prstDash val="solid"/>
          </a:ln>
        </p:spPr>
      </p:sp>
      <p:sp>
        <p:nvSpPr>
          <p:cNvPr id="32" name="Shape 25"/>
          <p:cNvSpPr/>
          <p:nvPr/>
        </p:nvSpPr>
        <p:spPr>
          <a:xfrm>
            <a:off x="8394192" y="4297680"/>
            <a:ext cx="566928" cy="566928"/>
          </a:xfrm>
          <a:prstGeom prst="ellipse">
            <a:avLst/>
          </a:prstGeom>
          <a:solidFill>
            <a:srgbClr val="0E9F6E"/>
          </a:solidFill>
          <a:ln w="12700">
            <a:solidFill>
              <a:srgbClr val="0E9F6E"/>
            </a:solidFill>
            <a:prstDash val="solid"/>
          </a:ln>
        </p:spPr>
      </p:sp>
      <p:pic>
        <p:nvPicPr>
          <p:cNvPr id="33" name="Image 5" descr="preencoded.png">    </p:cNvPr>
          <p:cNvPicPr>
            <a:picLocks noChangeAspect="1"/>
          </p:cNvPicPr>
          <p:nvPr/>
        </p:nvPicPr>
        <p:blipFill>
          <a:blip r:embed="rId6"/>
          <a:stretch>
            <a:fillRect/>
          </a:stretch>
        </p:blipFill>
        <p:spPr>
          <a:xfrm>
            <a:off x="8541593" y="4445081"/>
            <a:ext cx="272125" cy="272125"/>
          </a:xfrm>
          <a:prstGeom prst="rect">
            <a:avLst/>
          </a:prstGeom>
        </p:spPr>
      </p:pic>
      <p:sp>
        <p:nvSpPr>
          <p:cNvPr id="34" name="Text 26"/>
          <p:cNvSpPr txBox="1"/>
          <p:nvPr/>
        </p:nvSpPr>
        <p:spPr>
          <a:xfrm>
            <a:off x="8394192" y="4983480"/>
            <a:ext cx="3017520" cy="365760"/>
          </a:xfrm>
          <a:prstGeom prst="rect">
            <a:avLst/>
          </a:prstGeom>
          <a:noFill/>
          <a:ln/>
        </p:spPr>
        <p:txBody>
          <a:bodyPr wrap="square" lIns="0" tIns="0" rIns="0" bIns="0" rtlCol="0" anchor="t"/>
          <a:lstStyle/>
          <a:p>
            <a:pPr indent="0" marL="0">
              <a:buNone/>
            </a:pPr>
            <a:r>
              <a:rPr lang="en-US" sz="1700" b="1" dirty="0">
                <a:solidFill>
                  <a:srgbClr val="0B1F2A"/>
                </a:solidFill>
                <a:latin typeface="Calibri" pitchFamily="34" charset="0"/>
                <a:ea typeface="Calibri" pitchFamily="34" charset="-122"/>
                <a:cs typeface="Calibri" pitchFamily="34" charset="-120"/>
              </a:rPr>
              <a:t>Website and dashboard</a:t>
            </a:r>
            <a:endParaRPr lang="en-US" sz="1700" dirty="0"/>
          </a:p>
        </p:txBody>
      </p:sp>
      <p:sp>
        <p:nvSpPr>
          <p:cNvPr id="35" name="Text 27"/>
          <p:cNvSpPr txBox="1"/>
          <p:nvPr/>
        </p:nvSpPr>
        <p:spPr>
          <a:xfrm>
            <a:off x="8394192" y="5349240"/>
            <a:ext cx="3017520" cy="731520"/>
          </a:xfrm>
          <a:prstGeom prst="rect">
            <a:avLst/>
          </a:prstGeom>
          <a:noFill/>
          <a:ln/>
        </p:spPr>
        <p:txBody>
          <a:bodyPr wrap="square" lIns="0" tIns="0" rIns="0" bIns="0" rtlCol="0" anchor="t"/>
          <a:lstStyle/>
          <a:p>
            <a:pPr indent="0" marL="0">
              <a:buNone/>
            </a:pPr>
            <a:r>
              <a:rPr lang="en-US" sz="1300" dirty="0">
                <a:solidFill>
                  <a:srgbClr val="5B6B75"/>
                </a:solidFill>
                <a:latin typeface="Calibri" pitchFamily="34" charset="0"/>
                <a:ea typeface="Calibri" pitchFamily="34" charset="-122"/>
                <a:cs typeface="Calibri" pitchFamily="34" charset="-120"/>
              </a:rPr>
              <a:t>A website and four Power BI pages, both fed by an API that checks a key.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300" kern="0" dirty="0">
                <a:solidFill>
                  <a:srgbClr val="0E9F6E"/>
                </a:solidFill>
                <a:latin typeface="Calibri" pitchFamily="34" charset="0"/>
                <a:ea typeface="Calibri" pitchFamily="34" charset="-122"/>
                <a:cs typeface="Calibri" pitchFamily="34" charset="-120"/>
              </a:rPr>
              <a:t>03  ·  DATA</a:t>
            </a:r>
            <a:endParaRPr lang="en-US" sz="1200" dirty="0"/>
          </a:p>
        </p:txBody>
      </p:sp>
      <p:sp>
        <p:nvSpPr>
          <p:cNvPr id="3" name="Text 1"/>
          <p:cNvSpPr txBox="1"/>
          <p:nvPr/>
        </p:nvSpPr>
        <p:spPr>
          <a:xfrm>
            <a:off x="548640" y="676656"/>
            <a:ext cx="11064240" cy="685800"/>
          </a:xfrm>
          <a:prstGeom prst="rect">
            <a:avLst/>
          </a:prstGeom>
          <a:noFill/>
          <a:ln/>
        </p:spPr>
        <p:txBody>
          <a:bodyPr wrap="square" lIns="0" tIns="0" rIns="0" bIns="0" rtlCol="0" anchor="ctr"/>
          <a:lstStyle/>
          <a:p>
            <a:pPr indent="0" marL="0">
              <a:buNone/>
            </a:pPr>
            <a:r>
              <a:rPr lang="en-US" sz="3000" b="1" dirty="0">
                <a:solidFill>
                  <a:srgbClr val="0B1F2A"/>
                </a:solidFill>
                <a:latin typeface="Arial" pitchFamily="34" charset="0"/>
                <a:ea typeface="Arial" pitchFamily="34" charset="-122"/>
                <a:cs typeface="Arial" pitchFamily="34" charset="-120"/>
              </a:rPr>
              <a:t>The data: every Indian mutual fund, 20 years of NAVs</a:t>
            </a:r>
            <a:endParaRPr lang="en-US" sz="3000" dirty="0"/>
          </a:p>
        </p:txBody>
      </p:sp>
      <p:sp>
        <p:nvSpPr>
          <p:cNvPr id="4" name="Text 2"/>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B75"/>
                </a:solidFill>
                <a:latin typeface="Calibri" pitchFamily="34" charset="0"/>
                <a:ea typeface="Calibri" pitchFamily="34" charset="-122"/>
                <a:cs typeface="Calibri" pitchFamily="34" charset="-120"/>
              </a:rPr>
              <a:t>Big Data Architecture  |  Stock Market &amp; Mutual Fund Risk Analytics</a:t>
            </a:r>
            <a:endParaRPr lang="en-US" sz="900" dirty="0"/>
          </a:p>
        </p:txBody>
      </p:sp>
      <p:sp>
        <p:nvSpPr>
          <p:cNvPr id="5" name="Text 3"/>
          <p:cNvSpPr txBox="1"/>
          <p:nvPr/>
        </p:nvSpPr>
        <p:spPr>
          <a:xfrm>
            <a:off x="11183112" y="6473952"/>
            <a:ext cx="457200" cy="228600"/>
          </a:xfrm>
          <a:prstGeom prst="rect">
            <a:avLst/>
          </a:prstGeom>
          <a:noFill/>
          <a:ln/>
        </p:spPr>
        <p:txBody>
          <a:bodyPr wrap="square" lIns="0" tIns="0" rIns="0" bIns="0" rtlCol="0" anchor="t"/>
          <a:lstStyle/>
          <a:p>
            <a:pPr algn="r" indent="0" marL="0">
              <a:buNone/>
            </a:pPr>
            <a:r>
              <a:rPr lang="en-US" sz="900" dirty="0">
                <a:solidFill>
                  <a:srgbClr val="5B6B75"/>
                </a:solidFill>
                <a:latin typeface="Calibri" pitchFamily="34" charset="0"/>
                <a:ea typeface="Calibri" pitchFamily="34" charset="-122"/>
                <a:cs typeface="Calibri" pitchFamily="34" charset="-120"/>
              </a:rPr>
              <a:t>4</a:t>
            </a:r>
            <a:endParaRPr lang="en-US" sz="900" dirty="0"/>
          </a:p>
        </p:txBody>
      </p:sp>
      <p:sp>
        <p:nvSpPr>
          <p:cNvPr id="6" name="Shape 4"/>
          <p:cNvSpPr/>
          <p:nvPr/>
        </p:nvSpPr>
        <p:spPr>
          <a:xfrm>
            <a:off x="548640" y="1645920"/>
            <a:ext cx="3520440" cy="3246120"/>
          </a:xfrm>
          <a:prstGeom prst="roundRect">
            <a:avLst>
              <a:gd name="adj" fmla="val 3380"/>
            </a:avLst>
          </a:prstGeom>
          <a:solidFill>
            <a:srgbClr val="F2F6F8"/>
          </a:solidFill>
          <a:ln w="12700">
            <a:solidFill>
              <a:srgbClr val="F2F6F8"/>
            </a:solidFill>
            <a:prstDash val="solid"/>
          </a:ln>
        </p:spPr>
      </p:sp>
      <p:sp>
        <p:nvSpPr>
          <p:cNvPr id="7" name="Shape 5"/>
          <p:cNvSpPr/>
          <p:nvPr/>
        </p:nvSpPr>
        <p:spPr>
          <a:xfrm>
            <a:off x="822960" y="1920240"/>
            <a:ext cx="566928" cy="566928"/>
          </a:xfrm>
          <a:prstGeom prst="ellipse">
            <a:avLst/>
          </a:prstGeom>
          <a:solidFill>
            <a:srgbClr val="0B1F2A"/>
          </a:solidFill>
          <a:ln w="12700">
            <a:solidFill>
              <a:srgbClr val="0B1F2A"/>
            </a:solidFill>
            <a:prstDash val="solid"/>
          </a:ln>
        </p:spPr>
      </p:sp>
      <p:pic>
        <p:nvPicPr>
          <p:cNvPr id="8" name="Image 0" descr="preencoded.png">    </p:cNvPr>
          <p:cNvPicPr>
            <a:picLocks noChangeAspect="1"/>
          </p:cNvPicPr>
          <p:nvPr/>
        </p:nvPicPr>
        <p:blipFill>
          <a:blip r:embed="rId1"/>
          <a:stretch>
            <a:fillRect/>
          </a:stretch>
        </p:blipFill>
        <p:spPr>
          <a:xfrm>
            <a:off x="970361" y="2067641"/>
            <a:ext cx="272125" cy="272125"/>
          </a:xfrm>
          <a:prstGeom prst="rect">
            <a:avLst/>
          </a:prstGeom>
        </p:spPr>
      </p:pic>
      <p:sp>
        <p:nvSpPr>
          <p:cNvPr id="9" name="Text 6"/>
          <p:cNvSpPr txBox="1"/>
          <p:nvPr/>
        </p:nvSpPr>
        <p:spPr>
          <a:xfrm>
            <a:off x="1554480" y="1993392"/>
            <a:ext cx="2377440" cy="411480"/>
          </a:xfrm>
          <a:prstGeom prst="rect">
            <a:avLst/>
          </a:prstGeom>
          <a:noFill/>
          <a:ln/>
        </p:spPr>
        <p:txBody>
          <a:bodyPr wrap="square" lIns="0" tIns="0" rIns="0" bIns="0" rtlCol="0" anchor="ctr"/>
          <a:lstStyle/>
          <a:p>
            <a:pPr indent="0" marL="0">
              <a:buNone/>
            </a:pPr>
            <a:r>
              <a:rPr lang="en-US" sz="1800" b="1" dirty="0">
                <a:solidFill>
                  <a:srgbClr val="0B1F2A"/>
                </a:solidFill>
                <a:latin typeface="Calibri" pitchFamily="34" charset="0"/>
                <a:ea typeface="Calibri" pitchFamily="34" charset="-122"/>
                <a:cs typeface="Calibri" pitchFamily="34" charset="-120"/>
              </a:rPr>
              <a:t>Everything ingested</a:t>
            </a:r>
            <a:endParaRPr lang="en-US" sz="1800" dirty="0"/>
          </a:p>
        </p:txBody>
      </p:sp>
      <p:sp>
        <p:nvSpPr>
          <p:cNvPr id="10" name="Text 7"/>
          <p:cNvSpPr txBox="1"/>
          <p:nvPr/>
        </p:nvSpPr>
        <p:spPr>
          <a:xfrm>
            <a:off x="822960" y="2697480"/>
            <a:ext cx="3063240" cy="14173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1B2B34"/>
                </a:solidFill>
                <a:latin typeface="Calibri" pitchFamily="34" charset="0"/>
                <a:ea typeface="Calibri" pitchFamily="34" charset="-122"/>
                <a:cs typeface="Calibri" pitchFamily="34" charset="-120"/>
              </a:rPr>
              <a:t>38,279 schemes</a:t>
            </a:r>
            <a:endParaRPr lang="en-US" sz="1400" dirty="0"/>
          </a:p>
          <a:p>
            <a:pPr marL="342900" indent="-342900">
              <a:spcAft>
                <a:spcPts val="400"/>
              </a:spcAft>
              <a:buSzPct val="100000"/>
              <a:buChar char="•"/>
            </a:pPr>
            <a:r>
              <a:rPr lang="en-US" sz="1400" dirty="0">
                <a:solidFill>
                  <a:srgbClr val="1B2B34"/>
                </a:solidFill>
                <a:latin typeface="Calibri" pitchFamily="34" charset="0"/>
                <a:ea typeface="Calibri" pitchFamily="34" charset="-122"/>
                <a:cs typeface="Calibri" pitchFamily="34" charset="-120"/>
              </a:rPr>
              <a:t>37.05 million daily NAV rows</a:t>
            </a:r>
            <a:endParaRPr lang="en-US" sz="1400" dirty="0"/>
          </a:p>
          <a:p>
            <a:pPr marL="342900" indent="-342900">
              <a:spcAft>
                <a:spcPts val="400"/>
              </a:spcAft>
              <a:buSzPct val="100000"/>
              <a:buChar char="•"/>
            </a:pPr>
            <a:r>
              <a:rPr lang="en-US" sz="1400" dirty="0">
                <a:solidFill>
                  <a:srgbClr val="1B2B34"/>
                </a:solidFill>
                <a:latin typeface="Calibri" pitchFamily="34" charset="0"/>
                <a:ea typeface="Calibri" pitchFamily="34" charset="-122"/>
                <a:cs typeface="Calibri" pitchFamily="34" charset="-120"/>
              </a:rPr>
              <a:t>April 2006 to October 2026</a:t>
            </a:r>
            <a:endParaRPr lang="en-US" sz="1400" dirty="0"/>
          </a:p>
          <a:p>
            <a:pPr marL="342900" indent="-342900">
              <a:spcAft>
                <a:spcPts val="400"/>
              </a:spcAft>
              <a:buSzPct val="100000"/>
              <a:buChar char="•"/>
            </a:pPr>
            <a:r>
              <a:rPr lang="en-US" sz="1400" dirty="0">
                <a:solidFill>
                  <a:srgbClr val="1B2B34"/>
                </a:solidFill>
                <a:latin typeface="Calibri" pitchFamily="34" charset="0"/>
                <a:ea typeface="Calibri" pitchFamily="34" charset="-122"/>
                <a:cs typeface="Calibri" pitchFamily="34" charset="-120"/>
              </a:rPr>
              <a:t>Kept unchanged in Bronze</a:t>
            </a:r>
            <a:endParaRPr lang="en-US" sz="1400" dirty="0"/>
          </a:p>
        </p:txBody>
      </p:sp>
      <p:sp>
        <p:nvSpPr>
          <p:cNvPr id="11" name="Text 8"/>
          <p:cNvSpPr txBox="1"/>
          <p:nvPr/>
        </p:nvSpPr>
        <p:spPr>
          <a:xfrm>
            <a:off x="822960" y="4206240"/>
            <a:ext cx="3063240" cy="502920"/>
          </a:xfrm>
          <a:prstGeom prst="rect">
            <a:avLst/>
          </a:prstGeom>
          <a:noFill/>
          <a:ln/>
        </p:spPr>
        <p:txBody>
          <a:bodyPr wrap="square" lIns="0" tIns="0" rIns="0" bIns="0" rtlCol="0" anchor="t"/>
          <a:lstStyle/>
          <a:p>
            <a:pPr indent="0" marL="0">
              <a:buNone/>
            </a:pPr>
            <a:r>
              <a:rPr lang="en-US" sz="1200" i="1" dirty="0">
                <a:solidFill>
                  <a:srgbClr val="1F6F8B"/>
                </a:solidFill>
                <a:latin typeface="Calibri" pitchFamily="34" charset="0"/>
                <a:ea typeface="Calibri" pitchFamily="34" charset="-122"/>
                <a:cs typeface="Calibri" pitchFamily="34" charset="-120"/>
              </a:rPr>
              <a:t>The big-data layer: all funds, all history.</a:t>
            </a:r>
            <a:endParaRPr lang="en-US" sz="1200" dirty="0"/>
          </a:p>
        </p:txBody>
      </p:sp>
      <p:sp>
        <p:nvSpPr>
          <p:cNvPr id="12" name="Shape 9"/>
          <p:cNvSpPr/>
          <p:nvPr/>
        </p:nvSpPr>
        <p:spPr>
          <a:xfrm>
            <a:off x="4105656" y="3264408"/>
            <a:ext cx="192024" cy="0"/>
          </a:xfrm>
          <a:prstGeom prst="line">
            <a:avLst/>
          </a:prstGeom>
          <a:noFill/>
          <a:ln w="25400">
            <a:solidFill>
              <a:srgbClr val="0E9F6E"/>
            </a:solidFill>
            <a:prstDash val="solid"/>
            <a:tailEnd type="triangle"/>
          </a:ln>
        </p:spPr>
      </p:sp>
      <p:sp>
        <p:nvSpPr>
          <p:cNvPr id="13" name="Shape 10"/>
          <p:cNvSpPr/>
          <p:nvPr/>
        </p:nvSpPr>
        <p:spPr>
          <a:xfrm>
            <a:off x="4334256" y="1645920"/>
            <a:ext cx="3520440" cy="3246120"/>
          </a:xfrm>
          <a:prstGeom prst="roundRect">
            <a:avLst>
              <a:gd name="adj" fmla="val 3380"/>
            </a:avLst>
          </a:prstGeom>
          <a:solidFill>
            <a:srgbClr val="F2F6F8"/>
          </a:solidFill>
          <a:ln w="12700">
            <a:solidFill>
              <a:srgbClr val="F2F6F8"/>
            </a:solidFill>
            <a:prstDash val="solid"/>
          </a:ln>
        </p:spPr>
      </p:sp>
      <p:sp>
        <p:nvSpPr>
          <p:cNvPr id="14" name="Shape 11"/>
          <p:cNvSpPr/>
          <p:nvPr/>
        </p:nvSpPr>
        <p:spPr>
          <a:xfrm>
            <a:off x="4608576" y="1920240"/>
            <a:ext cx="566928" cy="566928"/>
          </a:xfrm>
          <a:prstGeom prst="ellipse">
            <a:avLst/>
          </a:prstGeom>
          <a:solidFill>
            <a:srgbClr val="0E9F6E"/>
          </a:solidFill>
          <a:ln w="12700">
            <a:solidFill>
              <a:srgbClr val="0E9F6E"/>
            </a:solidFill>
            <a:prstDash val="solid"/>
          </a:ln>
        </p:spPr>
      </p:sp>
      <p:pic>
        <p:nvPicPr>
          <p:cNvPr id="15" name="Image 1" descr="preencoded.png">    </p:cNvPr>
          <p:cNvPicPr>
            <a:picLocks noChangeAspect="1"/>
          </p:cNvPicPr>
          <p:nvPr/>
        </p:nvPicPr>
        <p:blipFill>
          <a:blip r:embed="rId2"/>
          <a:stretch>
            <a:fillRect/>
          </a:stretch>
        </p:blipFill>
        <p:spPr>
          <a:xfrm>
            <a:off x="4755977" y="2067641"/>
            <a:ext cx="272125" cy="272125"/>
          </a:xfrm>
          <a:prstGeom prst="rect">
            <a:avLst/>
          </a:prstGeom>
        </p:spPr>
      </p:pic>
      <p:sp>
        <p:nvSpPr>
          <p:cNvPr id="16" name="Text 12"/>
          <p:cNvSpPr txBox="1"/>
          <p:nvPr/>
        </p:nvSpPr>
        <p:spPr>
          <a:xfrm>
            <a:off x="5340096" y="1993392"/>
            <a:ext cx="2377440" cy="411480"/>
          </a:xfrm>
          <a:prstGeom prst="rect">
            <a:avLst/>
          </a:prstGeom>
          <a:noFill/>
          <a:ln/>
        </p:spPr>
        <p:txBody>
          <a:bodyPr wrap="square" lIns="0" tIns="0" rIns="0" bIns="0" rtlCol="0" anchor="ctr"/>
          <a:lstStyle/>
          <a:p>
            <a:pPr indent="0" marL="0">
              <a:buNone/>
            </a:pPr>
            <a:r>
              <a:rPr lang="en-US" sz="1800" b="1" dirty="0">
                <a:solidFill>
                  <a:srgbClr val="0B1F2A"/>
                </a:solidFill>
                <a:latin typeface="Calibri" pitchFamily="34" charset="0"/>
                <a:ea typeface="Calibri" pitchFamily="34" charset="-122"/>
                <a:cs typeface="Calibri" pitchFamily="34" charset="-120"/>
              </a:rPr>
              <a:t>Analysis universe</a:t>
            </a:r>
            <a:endParaRPr lang="en-US" sz="1800" dirty="0"/>
          </a:p>
        </p:txBody>
      </p:sp>
      <p:sp>
        <p:nvSpPr>
          <p:cNvPr id="17" name="Text 13"/>
          <p:cNvSpPr txBox="1"/>
          <p:nvPr/>
        </p:nvSpPr>
        <p:spPr>
          <a:xfrm>
            <a:off x="4608576" y="2697480"/>
            <a:ext cx="3063240" cy="14173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1B2B34"/>
                </a:solidFill>
                <a:latin typeface="Calibri" pitchFamily="34" charset="0"/>
                <a:ea typeface="Calibri" pitchFamily="34" charset="-122"/>
                <a:cs typeface="Calibri" pitchFamily="34" charset="-120"/>
              </a:rPr>
              <a:t>1,137 funds</a:t>
            </a:r>
            <a:endParaRPr lang="en-US" sz="1400" dirty="0"/>
          </a:p>
          <a:p>
            <a:pPr marL="342900" indent="-342900">
              <a:spcAft>
                <a:spcPts val="400"/>
              </a:spcAft>
              <a:buSzPct val="100000"/>
              <a:buChar char="•"/>
            </a:pPr>
            <a:r>
              <a:rPr lang="en-US" sz="1400" dirty="0">
                <a:solidFill>
                  <a:srgbClr val="1B2B34"/>
                </a:solidFill>
                <a:latin typeface="Calibri" pitchFamily="34" charset="0"/>
                <a:ea typeface="Calibri" pitchFamily="34" charset="-122"/>
                <a:cs typeface="Calibri" pitchFamily="34" charset="-120"/>
              </a:rPr>
              <a:t>Growth options only</a:t>
            </a:r>
            <a:endParaRPr lang="en-US" sz="1400" dirty="0"/>
          </a:p>
          <a:p>
            <a:pPr marL="342900" indent="-342900">
              <a:spcAft>
                <a:spcPts val="400"/>
              </a:spcAft>
              <a:buSzPct val="100000"/>
              <a:buChar char="•"/>
            </a:pPr>
            <a:r>
              <a:rPr lang="en-US" sz="1400" dirty="0">
                <a:solidFill>
                  <a:srgbClr val="1B2B34"/>
                </a:solidFill>
                <a:latin typeface="Calibri" pitchFamily="34" charset="0"/>
                <a:ea typeface="Calibri" pitchFamily="34" charset="-122"/>
                <a:cs typeface="Calibri" pitchFamily="34" charset="-120"/>
              </a:rPr>
              <a:t>Full 10-year history</a:t>
            </a:r>
            <a:endParaRPr lang="en-US" sz="1400" dirty="0"/>
          </a:p>
          <a:p>
            <a:pPr marL="342900" indent="-342900">
              <a:spcAft>
                <a:spcPts val="400"/>
              </a:spcAft>
              <a:buSzPct val="100000"/>
              <a:buChar char="•"/>
            </a:pPr>
            <a:r>
              <a:rPr lang="en-US" sz="1400" dirty="0">
                <a:solidFill>
                  <a:srgbClr val="1B2B34"/>
                </a:solidFill>
                <a:latin typeface="Calibri" pitchFamily="34" charset="0"/>
                <a:ea typeface="Calibri" pitchFamily="34" charset="-122"/>
                <a:cs typeface="Calibri" pitchFamily="34" charset="-120"/>
              </a:rPr>
              <a:t>Still active today</a:t>
            </a:r>
            <a:endParaRPr lang="en-US" sz="1400" dirty="0"/>
          </a:p>
        </p:txBody>
      </p:sp>
      <p:sp>
        <p:nvSpPr>
          <p:cNvPr id="18" name="Text 14"/>
          <p:cNvSpPr txBox="1"/>
          <p:nvPr/>
        </p:nvSpPr>
        <p:spPr>
          <a:xfrm>
            <a:off x="4608576" y="4206240"/>
            <a:ext cx="3063240" cy="502920"/>
          </a:xfrm>
          <a:prstGeom prst="rect">
            <a:avLst/>
          </a:prstGeom>
          <a:noFill/>
          <a:ln/>
        </p:spPr>
        <p:txBody>
          <a:bodyPr wrap="square" lIns="0" tIns="0" rIns="0" bIns="0" rtlCol="0" anchor="t"/>
          <a:lstStyle/>
          <a:p>
            <a:pPr indent="0" marL="0">
              <a:buNone/>
            </a:pPr>
            <a:r>
              <a:rPr lang="en-US" sz="1200" i="1" dirty="0">
                <a:solidFill>
                  <a:srgbClr val="1F6F8B"/>
                </a:solidFill>
                <a:latin typeface="Calibri" pitchFamily="34" charset="0"/>
                <a:ea typeface="Calibri" pitchFamily="34" charset="-122"/>
                <a:cs typeface="Calibri" pitchFamily="34" charset="-120"/>
              </a:rPr>
              <a:t>Peer group for the risk score.</a:t>
            </a:r>
            <a:endParaRPr lang="en-US" sz="1200" dirty="0"/>
          </a:p>
        </p:txBody>
      </p:sp>
      <p:sp>
        <p:nvSpPr>
          <p:cNvPr id="19" name="Shape 15"/>
          <p:cNvSpPr/>
          <p:nvPr/>
        </p:nvSpPr>
        <p:spPr>
          <a:xfrm>
            <a:off x="7891272" y="3264408"/>
            <a:ext cx="192024" cy="0"/>
          </a:xfrm>
          <a:prstGeom prst="line">
            <a:avLst/>
          </a:prstGeom>
          <a:noFill/>
          <a:ln w="25400">
            <a:solidFill>
              <a:srgbClr val="0E9F6E"/>
            </a:solidFill>
            <a:prstDash val="solid"/>
            <a:tailEnd type="triangle"/>
          </a:ln>
        </p:spPr>
      </p:sp>
      <p:sp>
        <p:nvSpPr>
          <p:cNvPr id="20" name="Shape 16"/>
          <p:cNvSpPr/>
          <p:nvPr/>
        </p:nvSpPr>
        <p:spPr>
          <a:xfrm>
            <a:off x="8119872" y="1645920"/>
            <a:ext cx="3520440" cy="3246120"/>
          </a:xfrm>
          <a:prstGeom prst="roundRect">
            <a:avLst>
              <a:gd name="adj" fmla="val 3380"/>
            </a:avLst>
          </a:prstGeom>
          <a:solidFill>
            <a:srgbClr val="F2F6F8"/>
          </a:solidFill>
          <a:ln w="12700">
            <a:solidFill>
              <a:srgbClr val="F2F6F8"/>
            </a:solidFill>
            <a:prstDash val="solid"/>
          </a:ln>
        </p:spPr>
      </p:sp>
      <p:sp>
        <p:nvSpPr>
          <p:cNvPr id="21" name="Shape 17"/>
          <p:cNvSpPr/>
          <p:nvPr/>
        </p:nvSpPr>
        <p:spPr>
          <a:xfrm>
            <a:off x="8394192" y="1920240"/>
            <a:ext cx="566928" cy="566928"/>
          </a:xfrm>
          <a:prstGeom prst="ellipse">
            <a:avLst/>
          </a:prstGeom>
          <a:solidFill>
            <a:srgbClr val="0E9F6E"/>
          </a:solidFill>
          <a:ln w="12700">
            <a:solidFill>
              <a:srgbClr val="0E9F6E"/>
            </a:solidFill>
            <a:prstDash val="solid"/>
          </a:ln>
        </p:spPr>
      </p:sp>
      <p:pic>
        <p:nvPicPr>
          <p:cNvPr id="22" name="Image 2" descr="preencoded.png">    </p:cNvPr>
          <p:cNvPicPr>
            <a:picLocks noChangeAspect="1"/>
          </p:cNvPicPr>
          <p:nvPr/>
        </p:nvPicPr>
        <p:blipFill>
          <a:blip r:embed="rId3"/>
          <a:stretch>
            <a:fillRect/>
          </a:stretch>
        </p:blipFill>
        <p:spPr>
          <a:xfrm>
            <a:off x="8541593" y="2067641"/>
            <a:ext cx="272125" cy="272125"/>
          </a:xfrm>
          <a:prstGeom prst="rect">
            <a:avLst/>
          </a:prstGeom>
        </p:spPr>
      </p:pic>
      <p:sp>
        <p:nvSpPr>
          <p:cNvPr id="23" name="Text 18"/>
          <p:cNvSpPr txBox="1"/>
          <p:nvPr/>
        </p:nvSpPr>
        <p:spPr>
          <a:xfrm>
            <a:off x="9125712" y="1993392"/>
            <a:ext cx="2377440" cy="411480"/>
          </a:xfrm>
          <a:prstGeom prst="rect">
            <a:avLst/>
          </a:prstGeom>
          <a:noFill/>
          <a:ln/>
        </p:spPr>
        <p:txBody>
          <a:bodyPr wrap="square" lIns="0" tIns="0" rIns="0" bIns="0" rtlCol="0" anchor="ctr"/>
          <a:lstStyle/>
          <a:p>
            <a:pPr indent="0" marL="0">
              <a:buNone/>
            </a:pPr>
            <a:r>
              <a:rPr lang="en-US" sz="1800" b="1" dirty="0">
                <a:solidFill>
                  <a:srgbClr val="0B1F2A"/>
                </a:solidFill>
                <a:latin typeface="Calibri" pitchFamily="34" charset="0"/>
                <a:ea typeface="Calibri" pitchFamily="34" charset="-122"/>
                <a:cs typeface="Calibri" pitchFamily="34" charset="-120"/>
              </a:rPr>
              <a:t>Curated 30 funds</a:t>
            </a:r>
            <a:endParaRPr lang="en-US" sz="1800" dirty="0"/>
          </a:p>
        </p:txBody>
      </p:sp>
      <p:sp>
        <p:nvSpPr>
          <p:cNvPr id="24" name="Text 19"/>
          <p:cNvSpPr txBox="1"/>
          <p:nvPr/>
        </p:nvSpPr>
        <p:spPr>
          <a:xfrm>
            <a:off x="8394192" y="2697480"/>
            <a:ext cx="3063240" cy="14173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1B2B34"/>
                </a:solidFill>
                <a:latin typeface="Calibri" pitchFamily="34" charset="0"/>
                <a:ea typeface="Calibri" pitchFamily="34" charset="-122"/>
                <a:cs typeface="Calibri" pitchFamily="34" charset="-120"/>
              </a:rPr>
              <a:t>7 large-cap funds</a:t>
            </a:r>
            <a:endParaRPr lang="en-US" sz="1400" dirty="0"/>
          </a:p>
          <a:p>
            <a:pPr marL="342900" indent="-342900">
              <a:spcAft>
                <a:spcPts val="400"/>
              </a:spcAft>
              <a:buSzPct val="100000"/>
              <a:buChar char="•"/>
            </a:pPr>
            <a:r>
              <a:rPr lang="en-US" sz="1400" dirty="0">
                <a:solidFill>
                  <a:srgbClr val="1B2B34"/>
                </a:solidFill>
                <a:latin typeface="Calibri" pitchFamily="34" charset="0"/>
                <a:ea typeface="Calibri" pitchFamily="34" charset="-122"/>
                <a:cs typeface="Calibri" pitchFamily="34" charset="-120"/>
              </a:rPr>
              <a:t>8 flexi-cap funds</a:t>
            </a:r>
            <a:endParaRPr lang="en-US" sz="1400" dirty="0"/>
          </a:p>
          <a:p>
            <a:pPr marL="342900" indent="-342900">
              <a:spcAft>
                <a:spcPts val="400"/>
              </a:spcAft>
              <a:buSzPct val="100000"/>
              <a:buChar char="•"/>
            </a:pPr>
            <a:r>
              <a:rPr lang="en-US" sz="1400" dirty="0">
                <a:solidFill>
                  <a:srgbClr val="1B2B34"/>
                </a:solidFill>
                <a:latin typeface="Calibri" pitchFamily="34" charset="0"/>
                <a:ea typeface="Calibri" pitchFamily="34" charset="-122"/>
                <a:cs typeface="Calibri" pitchFamily="34" charset="-120"/>
              </a:rPr>
              <a:t>10 mid-cap funds</a:t>
            </a:r>
            <a:endParaRPr lang="en-US" sz="1400" dirty="0"/>
          </a:p>
          <a:p>
            <a:pPr marL="342900" indent="-342900">
              <a:spcAft>
                <a:spcPts val="400"/>
              </a:spcAft>
              <a:buSzPct val="100000"/>
              <a:buChar char="•"/>
            </a:pPr>
            <a:r>
              <a:rPr lang="en-US" sz="1400" dirty="0">
                <a:solidFill>
                  <a:srgbClr val="1B2B34"/>
                </a:solidFill>
                <a:latin typeface="Calibri" pitchFamily="34" charset="0"/>
                <a:ea typeface="Calibri" pitchFamily="34" charset="-122"/>
                <a:cs typeface="Calibri" pitchFamily="34" charset="-120"/>
              </a:rPr>
              <a:t>5 index funds</a:t>
            </a:r>
            <a:endParaRPr lang="en-US" sz="1400" dirty="0"/>
          </a:p>
        </p:txBody>
      </p:sp>
      <p:sp>
        <p:nvSpPr>
          <p:cNvPr id="25" name="Text 20"/>
          <p:cNvSpPr txBox="1"/>
          <p:nvPr/>
        </p:nvSpPr>
        <p:spPr>
          <a:xfrm>
            <a:off x="8394192" y="4206240"/>
            <a:ext cx="3063240" cy="502920"/>
          </a:xfrm>
          <a:prstGeom prst="rect">
            <a:avLst/>
          </a:prstGeom>
          <a:noFill/>
          <a:ln/>
        </p:spPr>
        <p:txBody>
          <a:bodyPr wrap="square" lIns="0" tIns="0" rIns="0" bIns="0" rtlCol="0" anchor="t"/>
          <a:lstStyle/>
          <a:p>
            <a:pPr indent="0" marL="0">
              <a:buNone/>
            </a:pPr>
            <a:r>
              <a:rPr lang="en-US" sz="1200" i="1" dirty="0">
                <a:solidFill>
                  <a:srgbClr val="1F6F8B"/>
                </a:solidFill>
                <a:latin typeface="Calibri" pitchFamily="34" charset="0"/>
                <a:ea typeface="Calibri" pitchFamily="34" charset="-122"/>
                <a:cs typeface="Calibri" pitchFamily="34" charset="-120"/>
              </a:rPr>
              <a:t>Studied in depth on the dashboard.</a:t>
            </a:r>
            <a:endParaRPr lang="en-US" sz="1200" dirty="0"/>
          </a:p>
        </p:txBody>
      </p:sp>
      <p:sp>
        <p:nvSpPr>
          <p:cNvPr id="26" name="Text 21"/>
          <p:cNvSpPr txBox="1"/>
          <p:nvPr/>
        </p:nvSpPr>
        <p:spPr>
          <a:xfrm>
            <a:off x="548640" y="5120640"/>
            <a:ext cx="2651760" cy="594360"/>
          </a:xfrm>
          <a:prstGeom prst="rect">
            <a:avLst/>
          </a:prstGeom>
          <a:noFill/>
          <a:ln/>
        </p:spPr>
        <p:txBody>
          <a:bodyPr wrap="square" lIns="0" tIns="0" rIns="0" bIns="0" rtlCol="0" anchor="t"/>
          <a:lstStyle/>
          <a:p>
            <a:pPr indent="0" marL="0">
              <a:buNone/>
            </a:pPr>
            <a:r>
              <a:rPr lang="en-US" sz="3200" b="1" dirty="0">
                <a:solidFill>
                  <a:srgbClr val="0E9F6E"/>
                </a:solidFill>
                <a:latin typeface="Arial" pitchFamily="34" charset="0"/>
                <a:ea typeface="Arial" pitchFamily="34" charset="-122"/>
                <a:cs typeface="Arial" pitchFamily="34" charset="-120"/>
              </a:rPr>
              <a:t>37.05M</a:t>
            </a:r>
            <a:endParaRPr lang="en-US" sz="3200" dirty="0"/>
          </a:p>
        </p:txBody>
      </p:sp>
      <p:sp>
        <p:nvSpPr>
          <p:cNvPr id="27" name="Text 22"/>
          <p:cNvSpPr txBox="1"/>
          <p:nvPr/>
        </p:nvSpPr>
        <p:spPr>
          <a:xfrm>
            <a:off x="548640" y="5715000"/>
            <a:ext cx="2651760" cy="411480"/>
          </a:xfrm>
          <a:prstGeom prst="rect">
            <a:avLst/>
          </a:prstGeom>
          <a:noFill/>
          <a:ln/>
        </p:spPr>
        <p:txBody>
          <a:bodyPr wrap="square" lIns="0" tIns="0" rIns="0" bIns="0" rtlCol="0" anchor="t"/>
          <a:lstStyle/>
          <a:p>
            <a:pPr indent="0" marL="0">
              <a:buNone/>
            </a:pPr>
            <a:r>
              <a:rPr lang="en-US" sz="1300" dirty="0">
                <a:solidFill>
                  <a:srgbClr val="5B6B75"/>
                </a:solidFill>
                <a:latin typeface="Calibri" pitchFamily="34" charset="0"/>
                <a:ea typeface="Calibri" pitchFamily="34" charset="-122"/>
                <a:cs typeface="Calibri" pitchFamily="34" charset="-120"/>
              </a:rPr>
              <a:t>raw NAV rows in Bronze</a:t>
            </a:r>
            <a:endParaRPr lang="en-US" sz="1300" dirty="0"/>
          </a:p>
        </p:txBody>
      </p:sp>
      <p:sp>
        <p:nvSpPr>
          <p:cNvPr id="28" name="Text 23"/>
          <p:cNvSpPr txBox="1"/>
          <p:nvPr/>
        </p:nvSpPr>
        <p:spPr>
          <a:xfrm>
            <a:off x="3364992" y="5120640"/>
            <a:ext cx="2651760" cy="594360"/>
          </a:xfrm>
          <a:prstGeom prst="rect">
            <a:avLst/>
          </a:prstGeom>
          <a:noFill/>
          <a:ln/>
        </p:spPr>
        <p:txBody>
          <a:bodyPr wrap="square" lIns="0" tIns="0" rIns="0" bIns="0" rtlCol="0" anchor="t"/>
          <a:lstStyle/>
          <a:p>
            <a:pPr indent="0" marL="0">
              <a:buNone/>
            </a:pPr>
            <a:r>
              <a:rPr lang="en-US" sz="3200" b="1" dirty="0">
                <a:solidFill>
                  <a:srgbClr val="0E9F6E"/>
                </a:solidFill>
                <a:latin typeface="Arial" pitchFamily="34" charset="0"/>
                <a:ea typeface="Arial" pitchFamily="34" charset="-122"/>
                <a:cs typeface="Arial" pitchFamily="34" charset="-120"/>
              </a:rPr>
              <a:t>31.19M</a:t>
            </a:r>
            <a:endParaRPr lang="en-US" sz="3200" dirty="0"/>
          </a:p>
        </p:txBody>
      </p:sp>
      <p:sp>
        <p:nvSpPr>
          <p:cNvPr id="29" name="Text 24"/>
          <p:cNvSpPr txBox="1"/>
          <p:nvPr/>
        </p:nvSpPr>
        <p:spPr>
          <a:xfrm>
            <a:off x="3364992" y="5715000"/>
            <a:ext cx="2651760" cy="411480"/>
          </a:xfrm>
          <a:prstGeom prst="rect">
            <a:avLst/>
          </a:prstGeom>
          <a:noFill/>
          <a:ln/>
        </p:spPr>
        <p:txBody>
          <a:bodyPr wrap="square" lIns="0" tIns="0" rIns="0" bIns="0" rtlCol="0" anchor="t"/>
          <a:lstStyle/>
          <a:p>
            <a:pPr indent="0" marL="0">
              <a:buNone/>
            </a:pPr>
            <a:r>
              <a:rPr lang="en-US" sz="1300" dirty="0">
                <a:solidFill>
                  <a:srgbClr val="5B6B75"/>
                </a:solidFill>
                <a:latin typeface="Calibri" pitchFamily="34" charset="0"/>
                <a:ea typeface="Calibri" pitchFamily="34" charset="-122"/>
                <a:cs typeface="Calibri" pitchFamily="34" charset="-120"/>
              </a:rPr>
              <a:t>clean rows in Silver (2013 onwards)</a:t>
            </a:r>
            <a:endParaRPr lang="en-US" sz="1300" dirty="0"/>
          </a:p>
        </p:txBody>
      </p:sp>
      <p:sp>
        <p:nvSpPr>
          <p:cNvPr id="30" name="Text 25"/>
          <p:cNvSpPr txBox="1"/>
          <p:nvPr/>
        </p:nvSpPr>
        <p:spPr>
          <a:xfrm>
            <a:off x="6181344" y="5120640"/>
            <a:ext cx="2651760" cy="594360"/>
          </a:xfrm>
          <a:prstGeom prst="rect">
            <a:avLst/>
          </a:prstGeom>
          <a:noFill/>
          <a:ln/>
        </p:spPr>
        <p:txBody>
          <a:bodyPr wrap="square" lIns="0" tIns="0" rIns="0" bIns="0" rtlCol="0" anchor="t"/>
          <a:lstStyle/>
          <a:p>
            <a:pPr indent="0" marL="0">
              <a:buNone/>
            </a:pPr>
            <a:r>
              <a:rPr lang="en-US" sz="3200" b="1" dirty="0">
                <a:solidFill>
                  <a:srgbClr val="0E9F6E"/>
                </a:solidFill>
                <a:latin typeface="Arial" pitchFamily="34" charset="0"/>
                <a:ea typeface="Arial" pitchFamily="34" charset="-122"/>
                <a:cs typeface="Arial" pitchFamily="34" charset="-120"/>
              </a:rPr>
              <a:t>1,137</a:t>
            </a:r>
            <a:endParaRPr lang="en-US" sz="3200" dirty="0"/>
          </a:p>
        </p:txBody>
      </p:sp>
      <p:sp>
        <p:nvSpPr>
          <p:cNvPr id="31" name="Text 26"/>
          <p:cNvSpPr txBox="1"/>
          <p:nvPr/>
        </p:nvSpPr>
        <p:spPr>
          <a:xfrm>
            <a:off x="6181344" y="5715000"/>
            <a:ext cx="2651760" cy="411480"/>
          </a:xfrm>
          <a:prstGeom prst="rect">
            <a:avLst/>
          </a:prstGeom>
          <a:noFill/>
          <a:ln/>
        </p:spPr>
        <p:txBody>
          <a:bodyPr wrap="square" lIns="0" tIns="0" rIns="0" bIns="0" rtlCol="0" anchor="t"/>
          <a:lstStyle/>
          <a:p>
            <a:pPr indent="0" marL="0">
              <a:buNone/>
            </a:pPr>
            <a:r>
              <a:rPr lang="en-US" sz="1300" dirty="0">
                <a:solidFill>
                  <a:srgbClr val="5B6B75"/>
                </a:solidFill>
                <a:latin typeface="Calibri" pitchFamily="34" charset="0"/>
                <a:ea typeface="Calibri" pitchFamily="34" charset="-122"/>
                <a:cs typeface="Calibri" pitchFamily="34" charset="-120"/>
              </a:rPr>
              <a:t>funds with a risk score</a:t>
            </a:r>
            <a:endParaRPr lang="en-US" sz="1300" dirty="0"/>
          </a:p>
        </p:txBody>
      </p:sp>
      <p:sp>
        <p:nvSpPr>
          <p:cNvPr id="32" name="Text 27"/>
          <p:cNvSpPr txBox="1"/>
          <p:nvPr/>
        </p:nvSpPr>
        <p:spPr>
          <a:xfrm>
            <a:off x="8997696" y="5120640"/>
            <a:ext cx="2651760" cy="594360"/>
          </a:xfrm>
          <a:prstGeom prst="rect">
            <a:avLst/>
          </a:prstGeom>
          <a:noFill/>
          <a:ln/>
        </p:spPr>
        <p:txBody>
          <a:bodyPr wrap="square" lIns="0" tIns="0" rIns="0" bIns="0" rtlCol="0" anchor="t"/>
          <a:lstStyle/>
          <a:p>
            <a:pPr indent="0" marL="0">
              <a:buNone/>
            </a:pPr>
            <a:r>
              <a:rPr lang="en-US" sz="3200" b="1" dirty="0">
                <a:solidFill>
                  <a:srgbClr val="0E9F6E"/>
                </a:solidFill>
                <a:latin typeface="Arial" pitchFamily="34" charset="0"/>
                <a:ea typeface="Arial" pitchFamily="34" charset="-122"/>
                <a:cs typeface="Arial" pitchFamily="34" charset="-120"/>
              </a:rPr>
              <a:t>30</a:t>
            </a:r>
            <a:endParaRPr lang="en-US" sz="3200" dirty="0"/>
          </a:p>
        </p:txBody>
      </p:sp>
      <p:sp>
        <p:nvSpPr>
          <p:cNvPr id="33" name="Text 28"/>
          <p:cNvSpPr txBox="1"/>
          <p:nvPr/>
        </p:nvSpPr>
        <p:spPr>
          <a:xfrm>
            <a:off x="8997696" y="5715000"/>
            <a:ext cx="2651760" cy="411480"/>
          </a:xfrm>
          <a:prstGeom prst="rect">
            <a:avLst/>
          </a:prstGeom>
          <a:noFill/>
          <a:ln/>
        </p:spPr>
        <p:txBody>
          <a:bodyPr wrap="square" lIns="0" tIns="0" rIns="0" bIns="0" rtlCol="0" anchor="t"/>
          <a:lstStyle/>
          <a:p>
            <a:pPr indent="0" marL="0">
              <a:buNone/>
            </a:pPr>
            <a:r>
              <a:rPr lang="en-US" sz="1300" dirty="0">
                <a:solidFill>
                  <a:srgbClr val="5B6B75"/>
                </a:solidFill>
                <a:latin typeface="Calibri" pitchFamily="34" charset="0"/>
                <a:ea typeface="Calibri" pitchFamily="34" charset="-122"/>
                <a:cs typeface="Calibri" pitchFamily="34" charset="-120"/>
              </a:rPr>
              <a:t>curated funds on the dashboard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300" kern="0" dirty="0">
                <a:solidFill>
                  <a:srgbClr val="0E9F6E"/>
                </a:solidFill>
                <a:latin typeface="Calibri" pitchFamily="34" charset="0"/>
                <a:ea typeface="Calibri" pitchFamily="34" charset="-122"/>
                <a:cs typeface="Calibri" pitchFamily="34" charset="-120"/>
              </a:rPr>
              <a:t>04  ·  BIG DATA CHARACTERISTICS</a:t>
            </a:r>
            <a:endParaRPr lang="en-US" sz="1200" dirty="0"/>
          </a:p>
        </p:txBody>
      </p:sp>
      <p:sp>
        <p:nvSpPr>
          <p:cNvPr id="3" name="Text 1"/>
          <p:cNvSpPr txBox="1"/>
          <p:nvPr/>
        </p:nvSpPr>
        <p:spPr>
          <a:xfrm>
            <a:off x="548640" y="676656"/>
            <a:ext cx="11064240" cy="685800"/>
          </a:xfrm>
          <a:prstGeom prst="rect">
            <a:avLst/>
          </a:prstGeom>
          <a:noFill/>
          <a:ln/>
        </p:spPr>
        <p:txBody>
          <a:bodyPr wrap="square" lIns="0" tIns="0" rIns="0" bIns="0" rtlCol="0" anchor="ctr"/>
          <a:lstStyle/>
          <a:p>
            <a:pPr indent="0" marL="0">
              <a:buNone/>
            </a:pPr>
            <a:r>
              <a:rPr lang="en-US" sz="3000" b="1" dirty="0">
                <a:solidFill>
                  <a:srgbClr val="0B1F2A"/>
                </a:solidFill>
                <a:latin typeface="Arial" pitchFamily="34" charset="0"/>
                <a:ea typeface="Arial" pitchFamily="34" charset="-122"/>
                <a:cs typeface="Arial" pitchFamily="34" charset="-120"/>
              </a:rPr>
              <a:t>Why this is a Big Data problem: the 5 Vs</a:t>
            </a:r>
            <a:endParaRPr lang="en-US" sz="3000" dirty="0"/>
          </a:p>
        </p:txBody>
      </p:sp>
      <p:sp>
        <p:nvSpPr>
          <p:cNvPr id="4" name="Text 2"/>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B75"/>
                </a:solidFill>
                <a:latin typeface="Calibri" pitchFamily="34" charset="0"/>
                <a:ea typeface="Calibri" pitchFamily="34" charset="-122"/>
                <a:cs typeface="Calibri" pitchFamily="34" charset="-120"/>
              </a:rPr>
              <a:t>Big Data Architecture  |  Stock Market &amp; Mutual Fund Risk Analytics</a:t>
            </a:r>
            <a:endParaRPr lang="en-US" sz="900" dirty="0"/>
          </a:p>
        </p:txBody>
      </p:sp>
      <p:sp>
        <p:nvSpPr>
          <p:cNvPr id="5" name="Text 3"/>
          <p:cNvSpPr txBox="1"/>
          <p:nvPr/>
        </p:nvSpPr>
        <p:spPr>
          <a:xfrm>
            <a:off x="11183112" y="6473952"/>
            <a:ext cx="457200" cy="228600"/>
          </a:xfrm>
          <a:prstGeom prst="rect">
            <a:avLst/>
          </a:prstGeom>
          <a:noFill/>
          <a:ln/>
        </p:spPr>
        <p:txBody>
          <a:bodyPr wrap="square" lIns="0" tIns="0" rIns="0" bIns="0" rtlCol="0" anchor="t"/>
          <a:lstStyle/>
          <a:p>
            <a:pPr algn="r" indent="0" marL="0">
              <a:buNone/>
            </a:pPr>
            <a:r>
              <a:rPr lang="en-US" sz="900" dirty="0">
                <a:solidFill>
                  <a:srgbClr val="5B6B75"/>
                </a:solidFill>
                <a:latin typeface="Calibri" pitchFamily="34" charset="0"/>
                <a:ea typeface="Calibri" pitchFamily="34" charset="-122"/>
                <a:cs typeface="Calibri" pitchFamily="34" charset="-120"/>
              </a:rPr>
              <a:t>5</a:t>
            </a:r>
            <a:endParaRPr lang="en-US" sz="900" dirty="0"/>
          </a:p>
        </p:txBody>
      </p:sp>
      <p:sp>
        <p:nvSpPr>
          <p:cNvPr id="6" name="Shape 4"/>
          <p:cNvSpPr/>
          <p:nvPr/>
        </p:nvSpPr>
        <p:spPr>
          <a:xfrm>
            <a:off x="548640" y="1691640"/>
            <a:ext cx="2075688" cy="3017520"/>
          </a:xfrm>
          <a:prstGeom prst="roundRect">
            <a:avLst>
              <a:gd name="adj" fmla="val 5286"/>
            </a:avLst>
          </a:prstGeom>
          <a:solidFill>
            <a:srgbClr val="F2F6F8"/>
          </a:solidFill>
          <a:ln w="12700">
            <a:solidFill>
              <a:srgbClr val="F2F6F8"/>
            </a:solidFill>
            <a:prstDash val="solid"/>
          </a:ln>
        </p:spPr>
      </p:sp>
      <p:sp>
        <p:nvSpPr>
          <p:cNvPr id="7" name="Shape 5"/>
          <p:cNvSpPr/>
          <p:nvPr/>
        </p:nvSpPr>
        <p:spPr>
          <a:xfrm>
            <a:off x="777240" y="1947672"/>
            <a:ext cx="566928" cy="566928"/>
          </a:xfrm>
          <a:prstGeom prst="ellipse">
            <a:avLst/>
          </a:prstGeom>
          <a:solidFill>
            <a:srgbClr val="0E9F6E"/>
          </a:solidFill>
          <a:ln w="12700">
            <a:solidFill>
              <a:srgbClr val="0E9F6E"/>
            </a:solidFill>
            <a:prstDash val="solid"/>
          </a:ln>
        </p:spPr>
      </p:sp>
      <p:pic>
        <p:nvPicPr>
          <p:cNvPr id="8" name="Image 0" descr="preencoded.png">    </p:cNvPr>
          <p:cNvPicPr>
            <a:picLocks noChangeAspect="1"/>
          </p:cNvPicPr>
          <p:nvPr/>
        </p:nvPicPr>
        <p:blipFill>
          <a:blip r:embed="rId1"/>
          <a:stretch>
            <a:fillRect/>
          </a:stretch>
        </p:blipFill>
        <p:spPr>
          <a:xfrm>
            <a:off x="924641" y="2095073"/>
            <a:ext cx="272125" cy="272125"/>
          </a:xfrm>
          <a:prstGeom prst="rect">
            <a:avLst/>
          </a:prstGeom>
        </p:spPr>
      </p:pic>
      <p:sp>
        <p:nvSpPr>
          <p:cNvPr id="9" name="Text 6"/>
          <p:cNvSpPr txBox="1"/>
          <p:nvPr/>
        </p:nvSpPr>
        <p:spPr>
          <a:xfrm>
            <a:off x="777240" y="2651760"/>
            <a:ext cx="1737360" cy="384048"/>
          </a:xfrm>
          <a:prstGeom prst="rect">
            <a:avLst/>
          </a:prstGeom>
          <a:noFill/>
          <a:ln/>
        </p:spPr>
        <p:txBody>
          <a:bodyPr wrap="square" lIns="0" tIns="0" rIns="0" bIns="0" rtlCol="0" anchor="t"/>
          <a:lstStyle/>
          <a:p>
            <a:pPr indent="0" marL="0">
              <a:buNone/>
            </a:pPr>
            <a:r>
              <a:rPr lang="en-US" sz="1800" b="1" dirty="0">
                <a:solidFill>
                  <a:srgbClr val="0B1F2A"/>
                </a:solidFill>
                <a:latin typeface="Calibri" pitchFamily="34" charset="0"/>
                <a:ea typeface="Calibri" pitchFamily="34" charset="-122"/>
                <a:cs typeface="Calibri" pitchFamily="34" charset="-120"/>
              </a:rPr>
              <a:t>Volume</a:t>
            </a:r>
            <a:endParaRPr lang="en-US" sz="1800" dirty="0"/>
          </a:p>
        </p:txBody>
      </p:sp>
      <p:sp>
        <p:nvSpPr>
          <p:cNvPr id="10" name="Text 7"/>
          <p:cNvSpPr txBox="1"/>
          <p:nvPr/>
        </p:nvSpPr>
        <p:spPr>
          <a:xfrm>
            <a:off x="777240" y="3063240"/>
            <a:ext cx="1691640" cy="1554480"/>
          </a:xfrm>
          <a:prstGeom prst="rect">
            <a:avLst/>
          </a:prstGeom>
          <a:noFill/>
          <a:ln/>
        </p:spPr>
        <p:txBody>
          <a:bodyPr wrap="square" lIns="0" tIns="0" rIns="0" bIns="0" rtlCol="0" anchor="t"/>
          <a:lstStyle/>
          <a:p>
            <a:pPr indent="0" marL="0">
              <a:buNone/>
            </a:pPr>
            <a:r>
              <a:rPr lang="en-US" sz="1250" dirty="0">
                <a:solidFill>
                  <a:srgbClr val="5B6B75"/>
                </a:solidFill>
                <a:latin typeface="Calibri" pitchFamily="34" charset="0"/>
                <a:ea typeface="Calibri" pitchFamily="34" charset="-122"/>
                <a:cs typeface="Calibri" pitchFamily="34" charset="-120"/>
              </a:rPr>
              <a:t>37 million NAV rows for 38,279 schemes: about 1.2 GB as a database, 310 MB as Parquet.</a:t>
            </a:r>
            <a:endParaRPr lang="en-US" sz="1250" dirty="0"/>
          </a:p>
        </p:txBody>
      </p:sp>
      <p:sp>
        <p:nvSpPr>
          <p:cNvPr id="11" name="Shape 8"/>
          <p:cNvSpPr/>
          <p:nvPr/>
        </p:nvSpPr>
        <p:spPr>
          <a:xfrm>
            <a:off x="2807208" y="1691640"/>
            <a:ext cx="2075688" cy="3017520"/>
          </a:xfrm>
          <a:prstGeom prst="roundRect">
            <a:avLst>
              <a:gd name="adj" fmla="val 5286"/>
            </a:avLst>
          </a:prstGeom>
          <a:solidFill>
            <a:srgbClr val="F2F6F8"/>
          </a:solidFill>
          <a:ln w="12700">
            <a:solidFill>
              <a:srgbClr val="F2F6F8"/>
            </a:solidFill>
            <a:prstDash val="solid"/>
          </a:ln>
        </p:spPr>
      </p:sp>
      <p:sp>
        <p:nvSpPr>
          <p:cNvPr id="12" name="Shape 9"/>
          <p:cNvSpPr/>
          <p:nvPr/>
        </p:nvSpPr>
        <p:spPr>
          <a:xfrm>
            <a:off x="3035808" y="1947672"/>
            <a:ext cx="566928" cy="566928"/>
          </a:xfrm>
          <a:prstGeom prst="ellipse">
            <a:avLst/>
          </a:prstGeom>
          <a:solidFill>
            <a:srgbClr val="0E9F6E"/>
          </a:solidFill>
          <a:ln w="12700">
            <a:solidFill>
              <a:srgbClr val="0E9F6E"/>
            </a:solidFill>
            <a:prstDash val="solid"/>
          </a:ln>
        </p:spPr>
      </p:sp>
      <p:pic>
        <p:nvPicPr>
          <p:cNvPr id="13" name="Image 1" descr="preencoded.png">    </p:cNvPr>
          <p:cNvPicPr>
            <a:picLocks noChangeAspect="1"/>
          </p:cNvPicPr>
          <p:nvPr/>
        </p:nvPicPr>
        <p:blipFill>
          <a:blip r:embed="rId2"/>
          <a:stretch>
            <a:fillRect/>
          </a:stretch>
        </p:blipFill>
        <p:spPr>
          <a:xfrm>
            <a:off x="3183209" y="2095073"/>
            <a:ext cx="272125" cy="272125"/>
          </a:xfrm>
          <a:prstGeom prst="rect">
            <a:avLst/>
          </a:prstGeom>
        </p:spPr>
      </p:pic>
      <p:sp>
        <p:nvSpPr>
          <p:cNvPr id="14" name="Text 10"/>
          <p:cNvSpPr txBox="1"/>
          <p:nvPr/>
        </p:nvSpPr>
        <p:spPr>
          <a:xfrm>
            <a:off x="3035808" y="2651760"/>
            <a:ext cx="1737360" cy="384048"/>
          </a:xfrm>
          <a:prstGeom prst="rect">
            <a:avLst/>
          </a:prstGeom>
          <a:noFill/>
          <a:ln/>
        </p:spPr>
        <p:txBody>
          <a:bodyPr wrap="square" lIns="0" tIns="0" rIns="0" bIns="0" rtlCol="0" anchor="t"/>
          <a:lstStyle/>
          <a:p>
            <a:pPr indent="0" marL="0">
              <a:buNone/>
            </a:pPr>
            <a:r>
              <a:rPr lang="en-US" sz="1800" b="1" dirty="0">
                <a:solidFill>
                  <a:srgbClr val="0B1F2A"/>
                </a:solidFill>
                <a:latin typeface="Calibri" pitchFamily="34" charset="0"/>
                <a:ea typeface="Calibri" pitchFamily="34" charset="-122"/>
                <a:cs typeface="Calibri" pitchFamily="34" charset="-120"/>
              </a:rPr>
              <a:t>Velocity</a:t>
            </a:r>
            <a:endParaRPr lang="en-US" sz="1800" dirty="0"/>
          </a:p>
        </p:txBody>
      </p:sp>
      <p:sp>
        <p:nvSpPr>
          <p:cNvPr id="15" name="Text 11"/>
          <p:cNvSpPr txBox="1"/>
          <p:nvPr/>
        </p:nvSpPr>
        <p:spPr>
          <a:xfrm>
            <a:off x="3035808" y="3063240"/>
            <a:ext cx="1691640" cy="1554480"/>
          </a:xfrm>
          <a:prstGeom prst="rect">
            <a:avLst/>
          </a:prstGeom>
          <a:noFill/>
          <a:ln/>
        </p:spPr>
        <p:txBody>
          <a:bodyPr wrap="square" lIns="0" tIns="0" rIns="0" bIns="0" rtlCol="0" anchor="t"/>
          <a:lstStyle/>
          <a:p>
            <a:pPr indent="0" marL="0">
              <a:buNone/>
            </a:pPr>
            <a:r>
              <a:rPr lang="en-US" sz="1250" dirty="0">
                <a:solidFill>
                  <a:srgbClr val="5B6B75"/>
                </a:solidFill>
                <a:latin typeface="Calibri" pitchFamily="34" charset="0"/>
                <a:ea typeface="Calibri" pitchFamily="34" charset="-122"/>
                <a:cs typeface="Calibri" pitchFamily="34" charset="-120"/>
              </a:rPr>
              <a:t>Every scheme publishes a new NAV each business day; the source archive is refreshed daily.</a:t>
            </a:r>
            <a:endParaRPr lang="en-US" sz="1250" dirty="0"/>
          </a:p>
        </p:txBody>
      </p:sp>
      <p:sp>
        <p:nvSpPr>
          <p:cNvPr id="16" name="Shape 12"/>
          <p:cNvSpPr/>
          <p:nvPr/>
        </p:nvSpPr>
        <p:spPr>
          <a:xfrm>
            <a:off x="5065776" y="1691640"/>
            <a:ext cx="2075688" cy="3017520"/>
          </a:xfrm>
          <a:prstGeom prst="roundRect">
            <a:avLst>
              <a:gd name="adj" fmla="val 5286"/>
            </a:avLst>
          </a:prstGeom>
          <a:solidFill>
            <a:srgbClr val="F2F6F8"/>
          </a:solidFill>
          <a:ln w="12700">
            <a:solidFill>
              <a:srgbClr val="F2F6F8"/>
            </a:solidFill>
            <a:prstDash val="solid"/>
          </a:ln>
        </p:spPr>
      </p:sp>
      <p:sp>
        <p:nvSpPr>
          <p:cNvPr id="17" name="Shape 13"/>
          <p:cNvSpPr/>
          <p:nvPr/>
        </p:nvSpPr>
        <p:spPr>
          <a:xfrm>
            <a:off x="5294376" y="1947672"/>
            <a:ext cx="566928" cy="566928"/>
          </a:xfrm>
          <a:prstGeom prst="ellipse">
            <a:avLst/>
          </a:prstGeom>
          <a:solidFill>
            <a:srgbClr val="0E9F6E"/>
          </a:solidFill>
          <a:ln w="12700">
            <a:solidFill>
              <a:srgbClr val="0E9F6E"/>
            </a:solidFill>
            <a:prstDash val="solid"/>
          </a:ln>
        </p:spPr>
      </p:sp>
      <p:pic>
        <p:nvPicPr>
          <p:cNvPr id="18" name="Image 2" descr="preencoded.png">    </p:cNvPr>
          <p:cNvPicPr>
            <a:picLocks noChangeAspect="1"/>
          </p:cNvPicPr>
          <p:nvPr/>
        </p:nvPicPr>
        <p:blipFill>
          <a:blip r:embed="rId3"/>
          <a:stretch>
            <a:fillRect/>
          </a:stretch>
        </p:blipFill>
        <p:spPr>
          <a:xfrm>
            <a:off x="5441777" y="2095073"/>
            <a:ext cx="272125" cy="272125"/>
          </a:xfrm>
          <a:prstGeom prst="rect">
            <a:avLst/>
          </a:prstGeom>
        </p:spPr>
      </p:pic>
      <p:sp>
        <p:nvSpPr>
          <p:cNvPr id="19" name="Text 14"/>
          <p:cNvSpPr txBox="1"/>
          <p:nvPr/>
        </p:nvSpPr>
        <p:spPr>
          <a:xfrm>
            <a:off x="5294376" y="2651760"/>
            <a:ext cx="1737360" cy="384048"/>
          </a:xfrm>
          <a:prstGeom prst="rect">
            <a:avLst/>
          </a:prstGeom>
          <a:noFill/>
          <a:ln/>
        </p:spPr>
        <p:txBody>
          <a:bodyPr wrap="square" lIns="0" tIns="0" rIns="0" bIns="0" rtlCol="0" anchor="t"/>
          <a:lstStyle/>
          <a:p>
            <a:pPr indent="0" marL="0">
              <a:buNone/>
            </a:pPr>
            <a:r>
              <a:rPr lang="en-US" sz="1800" b="1" dirty="0">
                <a:solidFill>
                  <a:srgbClr val="0B1F2A"/>
                </a:solidFill>
                <a:latin typeface="Calibri" pitchFamily="34" charset="0"/>
                <a:ea typeface="Calibri" pitchFamily="34" charset="-122"/>
                <a:cs typeface="Calibri" pitchFamily="34" charset="-120"/>
              </a:rPr>
              <a:t>Variety</a:t>
            </a:r>
            <a:endParaRPr lang="en-US" sz="1800" dirty="0"/>
          </a:p>
        </p:txBody>
      </p:sp>
      <p:sp>
        <p:nvSpPr>
          <p:cNvPr id="20" name="Text 15"/>
          <p:cNvSpPr txBox="1"/>
          <p:nvPr/>
        </p:nvSpPr>
        <p:spPr>
          <a:xfrm>
            <a:off x="5294376" y="3063240"/>
            <a:ext cx="1691640" cy="1554480"/>
          </a:xfrm>
          <a:prstGeom prst="rect">
            <a:avLst/>
          </a:prstGeom>
          <a:noFill/>
          <a:ln/>
        </p:spPr>
        <p:txBody>
          <a:bodyPr wrap="square" lIns="0" tIns="0" rIns="0" bIns="0" rtlCol="0" anchor="t"/>
          <a:lstStyle/>
          <a:p>
            <a:pPr indent="0" marL="0">
              <a:buNone/>
            </a:pPr>
            <a:r>
              <a:rPr lang="en-US" sz="1250" dirty="0">
                <a:solidFill>
                  <a:srgbClr val="5B6B75"/>
                </a:solidFill>
                <a:latin typeface="Calibri" pitchFamily="34" charset="0"/>
                <a:ea typeface="Calibri" pitchFamily="34" charset="-122"/>
                <a:cs typeface="Calibri" pitchFamily="34" charset="-120"/>
              </a:rPr>
              <a:t>Compressed SQLite archive, CSV lists, Parquet tables and JSON served by the API.</a:t>
            </a:r>
            <a:endParaRPr lang="en-US" sz="1250" dirty="0"/>
          </a:p>
        </p:txBody>
      </p:sp>
      <p:sp>
        <p:nvSpPr>
          <p:cNvPr id="21" name="Shape 16"/>
          <p:cNvSpPr/>
          <p:nvPr/>
        </p:nvSpPr>
        <p:spPr>
          <a:xfrm>
            <a:off x="7324344" y="1691640"/>
            <a:ext cx="2075688" cy="3017520"/>
          </a:xfrm>
          <a:prstGeom prst="roundRect">
            <a:avLst>
              <a:gd name="adj" fmla="val 5286"/>
            </a:avLst>
          </a:prstGeom>
          <a:solidFill>
            <a:srgbClr val="F2F6F8"/>
          </a:solidFill>
          <a:ln w="12700">
            <a:solidFill>
              <a:srgbClr val="F2F6F8"/>
            </a:solidFill>
            <a:prstDash val="solid"/>
          </a:ln>
        </p:spPr>
      </p:sp>
      <p:sp>
        <p:nvSpPr>
          <p:cNvPr id="22" name="Shape 17"/>
          <p:cNvSpPr/>
          <p:nvPr/>
        </p:nvSpPr>
        <p:spPr>
          <a:xfrm>
            <a:off x="7552944" y="1947672"/>
            <a:ext cx="566928" cy="566928"/>
          </a:xfrm>
          <a:prstGeom prst="ellipse">
            <a:avLst/>
          </a:prstGeom>
          <a:solidFill>
            <a:srgbClr val="0E9F6E"/>
          </a:solidFill>
          <a:ln w="12700">
            <a:solidFill>
              <a:srgbClr val="0E9F6E"/>
            </a:solidFill>
            <a:prstDash val="solid"/>
          </a:ln>
        </p:spPr>
      </p:sp>
      <p:pic>
        <p:nvPicPr>
          <p:cNvPr id="23" name="Image 3" descr="preencoded.png">    </p:cNvPr>
          <p:cNvPicPr>
            <a:picLocks noChangeAspect="1"/>
          </p:cNvPicPr>
          <p:nvPr/>
        </p:nvPicPr>
        <p:blipFill>
          <a:blip r:embed="rId4"/>
          <a:stretch>
            <a:fillRect/>
          </a:stretch>
        </p:blipFill>
        <p:spPr>
          <a:xfrm>
            <a:off x="7700345" y="2095073"/>
            <a:ext cx="272125" cy="272125"/>
          </a:xfrm>
          <a:prstGeom prst="rect">
            <a:avLst/>
          </a:prstGeom>
        </p:spPr>
      </p:pic>
      <p:sp>
        <p:nvSpPr>
          <p:cNvPr id="24" name="Text 18"/>
          <p:cNvSpPr txBox="1"/>
          <p:nvPr/>
        </p:nvSpPr>
        <p:spPr>
          <a:xfrm>
            <a:off x="7552944" y="2651760"/>
            <a:ext cx="1737360" cy="384048"/>
          </a:xfrm>
          <a:prstGeom prst="rect">
            <a:avLst/>
          </a:prstGeom>
          <a:noFill/>
          <a:ln/>
        </p:spPr>
        <p:txBody>
          <a:bodyPr wrap="square" lIns="0" tIns="0" rIns="0" bIns="0" rtlCol="0" anchor="t"/>
          <a:lstStyle/>
          <a:p>
            <a:pPr indent="0" marL="0">
              <a:buNone/>
            </a:pPr>
            <a:r>
              <a:rPr lang="en-US" sz="1800" b="1" dirty="0">
                <a:solidFill>
                  <a:srgbClr val="0B1F2A"/>
                </a:solidFill>
                <a:latin typeface="Calibri" pitchFamily="34" charset="0"/>
                <a:ea typeface="Calibri" pitchFamily="34" charset="-122"/>
                <a:cs typeface="Calibri" pitchFamily="34" charset="-120"/>
              </a:rPr>
              <a:t>Veracity</a:t>
            </a:r>
            <a:endParaRPr lang="en-US" sz="1800" dirty="0"/>
          </a:p>
        </p:txBody>
      </p:sp>
      <p:sp>
        <p:nvSpPr>
          <p:cNvPr id="25" name="Text 19"/>
          <p:cNvSpPr txBox="1"/>
          <p:nvPr/>
        </p:nvSpPr>
        <p:spPr>
          <a:xfrm>
            <a:off x="7552944" y="3063240"/>
            <a:ext cx="1691640" cy="1554480"/>
          </a:xfrm>
          <a:prstGeom prst="rect">
            <a:avLst/>
          </a:prstGeom>
          <a:noFill/>
          <a:ln/>
        </p:spPr>
        <p:txBody>
          <a:bodyPr wrap="square" lIns="0" tIns="0" rIns="0" bIns="0" rtlCol="0" anchor="t"/>
          <a:lstStyle/>
          <a:p>
            <a:pPr indent="0" marL="0">
              <a:buNone/>
            </a:pPr>
            <a:r>
              <a:rPr lang="en-US" sz="1250" dirty="0">
                <a:solidFill>
                  <a:srgbClr val="5B6B75"/>
                </a:solidFill>
                <a:latin typeface="Calibri" pitchFamily="34" charset="0"/>
                <a:ea typeface="Calibri" pitchFamily="34" charset="-122"/>
                <a:cs typeface="Calibri" pitchFamily="34" charset="-120"/>
              </a:rPr>
              <a:t>Duplicate rows, bad NAVs, payout drops in dividend plans and sudden unit changes are cleaned out.</a:t>
            </a:r>
            <a:endParaRPr lang="en-US" sz="1250" dirty="0"/>
          </a:p>
        </p:txBody>
      </p:sp>
      <p:sp>
        <p:nvSpPr>
          <p:cNvPr id="26" name="Shape 20"/>
          <p:cNvSpPr/>
          <p:nvPr/>
        </p:nvSpPr>
        <p:spPr>
          <a:xfrm>
            <a:off x="9582912" y="1691640"/>
            <a:ext cx="2075688" cy="3017520"/>
          </a:xfrm>
          <a:prstGeom prst="roundRect">
            <a:avLst>
              <a:gd name="adj" fmla="val 5286"/>
            </a:avLst>
          </a:prstGeom>
          <a:solidFill>
            <a:srgbClr val="F2F6F8"/>
          </a:solidFill>
          <a:ln w="12700">
            <a:solidFill>
              <a:srgbClr val="F2F6F8"/>
            </a:solidFill>
            <a:prstDash val="solid"/>
          </a:ln>
        </p:spPr>
      </p:sp>
      <p:sp>
        <p:nvSpPr>
          <p:cNvPr id="27" name="Shape 21"/>
          <p:cNvSpPr/>
          <p:nvPr/>
        </p:nvSpPr>
        <p:spPr>
          <a:xfrm>
            <a:off x="9811512" y="1947672"/>
            <a:ext cx="566928" cy="566928"/>
          </a:xfrm>
          <a:prstGeom prst="ellipse">
            <a:avLst/>
          </a:prstGeom>
          <a:solidFill>
            <a:srgbClr val="F5A524"/>
          </a:solidFill>
          <a:ln w="12700">
            <a:solidFill>
              <a:srgbClr val="F5A524"/>
            </a:solidFill>
            <a:prstDash val="solid"/>
          </a:ln>
        </p:spPr>
      </p:sp>
      <p:pic>
        <p:nvPicPr>
          <p:cNvPr id="28" name="Image 4" descr="preencoded.png">    </p:cNvPr>
          <p:cNvPicPr>
            <a:picLocks noChangeAspect="1"/>
          </p:cNvPicPr>
          <p:nvPr/>
        </p:nvPicPr>
        <p:blipFill>
          <a:blip r:embed="rId5"/>
          <a:stretch>
            <a:fillRect/>
          </a:stretch>
        </p:blipFill>
        <p:spPr>
          <a:xfrm>
            <a:off x="9958913" y="2095073"/>
            <a:ext cx="272125" cy="272125"/>
          </a:xfrm>
          <a:prstGeom prst="rect">
            <a:avLst/>
          </a:prstGeom>
        </p:spPr>
      </p:pic>
      <p:sp>
        <p:nvSpPr>
          <p:cNvPr id="29" name="Text 22"/>
          <p:cNvSpPr txBox="1"/>
          <p:nvPr/>
        </p:nvSpPr>
        <p:spPr>
          <a:xfrm>
            <a:off x="9811512" y="2651760"/>
            <a:ext cx="1737360" cy="384048"/>
          </a:xfrm>
          <a:prstGeom prst="rect">
            <a:avLst/>
          </a:prstGeom>
          <a:noFill/>
          <a:ln/>
        </p:spPr>
        <p:txBody>
          <a:bodyPr wrap="square" lIns="0" tIns="0" rIns="0" bIns="0" rtlCol="0" anchor="t"/>
          <a:lstStyle/>
          <a:p>
            <a:pPr indent="0" marL="0">
              <a:buNone/>
            </a:pPr>
            <a:r>
              <a:rPr lang="en-US" sz="1800" b="1" dirty="0">
                <a:solidFill>
                  <a:srgbClr val="0B1F2A"/>
                </a:solidFill>
                <a:latin typeface="Calibri" pitchFamily="34" charset="0"/>
                <a:ea typeface="Calibri" pitchFamily="34" charset="-122"/>
                <a:cs typeface="Calibri" pitchFamily="34" charset="-120"/>
              </a:rPr>
              <a:t>Value</a:t>
            </a:r>
            <a:endParaRPr lang="en-US" sz="1800" dirty="0"/>
          </a:p>
        </p:txBody>
      </p:sp>
      <p:sp>
        <p:nvSpPr>
          <p:cNvPr id="30" name="Text 23"/>
          <p:cNvSpPr txBox="1"/>
          <p:nvPr/>
        </p:nvSpPr>
        <p:spPr>
          <a:xfrm>
            <a:off x="9811512" y="3063240"/>
            <a:ext cx="1691640" cy="1554480"/>
          </a:xfrm>
          <a:prstGeom prst="rect">
            <a:avLst/>
          </a:prstGeom>
          <a:noFill/>
          <a:ln/>
        </p:spPr>
        <p:txBody>
          <a:bodyPr wrap="square" lIns="0" tIns="0" rIns="0" bIns="0" rtlCol="0" anchor="t"/>
          <a:lstStyle/>
          <a:p>
            <a:pPr indent="0" marL="0">
              <a:buNone/>
            </a:pPr>
            <a:r>
              <a:rPr lang="en-US" sz="1250" dirty="0">
                <a:solidFill>
                  <a:srgbClr val="5B6B75"/>
                </a:solidFill>
                <a:latin typeface="Calibri" pitchFamily="34" charset="0"/>
                <a:ea typeface="Calibri" pitchFamily="34" charset="-122"/>
                <a:cs typeface="Calibri" pitchFamily="34" charset="-120"/>
              </a:rPr>
              <a:t>Raw NAVs become risk scores, return ranges and tested forecasts an investor can use.</a:t>
            </a:r>
            <a:endParaRPr lang="en-US" sz="1250" dirty="0"/>
          </a:p>
        </p:txBody>
      </p:sp>
      <p:sp>
        <p:nvSpPr>
          <p:cNvPr id="31" name="Shape 24"/>
          <p:cNvSpPr/>
          <p:nvPr/>
        </p:nvSpPr>
        <p:spPr>
          <a:xfrm>
            <a:off x="548640" y="4983480"/>
            <a:ext cx="11091672" cy="1097280"/>
          </a:xfrm>
          <a:prstGeom prst="roundRect">
            <a:avLst>
              <a:gd name="adj" fmla="val 10000"/>
            </a:avLst>
          </a:prstGeom>
          <a:solidFill>
            <a:srgbClr val="0B1F2A"/>
          </a:solidFill>
          <a:ln w="12700">
            <a:solidFill>
              <a:srgbClr val="0B1F2A"/>
            </a:solidFill>
            <a:prstDash val="solid"/>
          </a:ln>
        </p:spPr>
      </p:sp>
      <p:sp>
        <p:nvSpPr>
          <p:cNvPr id="32" name="Text 25"/>
          <p:cNvSpPr txBox="1"/>
          <p:nvPr/>
        </p:nvSpPr>
        <p:spPr>
          <a:xfrm>
            <a:off x="868680" y="5074920"/>
            <a:ext cx="10515600" cy="914400"/>
          </a:xfrm>
          <a:prstGeom prst="rect">
            <a:avLst/>
          </a:prstGeom>
          <a:noFill/>
          <a:ln/>
        </p:spPr>
        <p:txBody>
          <a:bodyPr wrap="square" lIns="0" tIns="0" rIns="0" bIns="0" rtlCol="0" anchor="ctr"/>
          <a:lstStyle/>
          <a:p>
            <a:pPr indent="0" marL="0">
              <a:buNone/>
            </a:pPr>
            <a:r>
              <a:rPr lang="en-US" sz="1500" b="1" dirty="0">
                <a:solidFill>
                  <a:srgbClr val="F5A524"/>
                </a:solidFill>
                <a:latin typeface="Calibri" pitchFamily="34" charset="0"/>
                <a:ea typeface="Calibri" pitchFamily="34" charset="-122"/>
                <a:cs typeface="Calibri" pitchFamily="34" charset="-120"/>
              </a:rPr>
              <a:t>Ingest broadly, analyse deeply.  </a:t>
            </a:r>
            <a:pPr indent="0" marL="0">
              <a:buNone/>
            </a:pPr>
            <a:r>
              <a:rPr lang="en-US" sz="1500" dirty="0">
                <a:solidFill>
                  <a:srgbClr val="FFFFFF"/>
                </a:solidFill>
                <a:latin typeface="Calibri" pitchFamily="34" charset="0"/>
                <a:ea typeface="Calibri" pitchFamily="34" charset="-122"/>
                <a:cs typeface="Calibri" pitchFamily="34" charset="-120"/>
              </a:rPr>
              <a:t>Spark processes all 38,279 schemes; the 1,137-fund universe gets risk scores, and the 30 curated funds get the detailed and machine-learning analysis.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300" kern="0" dirty="0">
                <a:solidFill>
                  <a:srgbClr val="0E9F6E"/>
                </a:solidFill>
                <a:latin typeface="Calibri" pitchFamily="34" charset="0"/>
                <a:ea typeface="Calibri" pitchFamily="34" charset="-122"/>
                <a:cs typeface="Calibri" pitchFamily="34" charset="-120"/>
              </a:rPr>
              <a:t>05  ·  DATA SOURCES</a:t>
            </a:r>
            <a:endParaRPr lang="en-US" sz="1200" dirty="0"/>
          </a:p>
        </p:txBody>
      </p:sp>
      <p:sp>
        <p:nvSpPr>
          <p:cNvPr id="3" name="Text 1"/>
          <p:cNvSpPr txBox="1"/>
          <p:nvPr/>
        </p:nvSpPr>
        <p:spPr>
          <a:xfrm>
            <a:off x="548640" y="676656"/>
            <a:ext cx="11064240" cy="685800"/>
          </a:xfrm>
          <a:prstGeom prst="rect">
            <a:avLst/>
          </a:prstGeom>
          <a:noFill/>
          <a:ln/>
        </p:spPr>
        <p:txBody>
          <a:bodyPr wrap="square" lIns="0" tIns="0" rIns="0" bIns="0" rtlCol="0" anchor="ctr"/>
          <a:lstStyle/>
          <a:p>
            <a:pPr indent="0" marL="0">
              <a:buNone/>
            </a:pPr>
            <a:r>
              <a:rPr lang="en-US" sz="3000" b="1" dirty="0">
                <a:solidFill>
                  <a:srgbClr val="0B1F2A"/>
                </a:solidFill>
                <a:latin typeface="Arial" pitchFamily="34" charset="0"/>
                <a:ea typeface="Arial" pitchFamily="34" charset="-122"/>
                <a:cs typeface="Arial" pitchFamily="34" charset="-120"/>
              </a:rPr>
              <a:t>Data sources and where each one stands</a:t>
            </a:r>
            <a:endParaRPr lang="en-US" sz="3000" dirty="0"/>
          </a:p>
        </p:txBody>
      </p:sp>
      <p:sp>
        <p:nvSpPr>
          <p:cNvPr id="4" name="Text 2"/>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B75"/>
                </a:solidFill>
                <a:latin typeface="Calibri" pitchFamily="34" charset="0"/>
                <a:ea typeface="Calibri" pitchFamily="34" charset="-122"/>
                <a:cs typeface="Calibri" pitchFamily="34" charset="-120"/>
              </a:rPr>
              <a:t>Big Data Architecture  |  Stock Market &amp; Mutual Fund Risk Analytics</a:t>
            </a:r>
            <a:endParaRPr lang="en-US" sz="900" dirty="0"/>
          </a:p>
        </p:txBody>
      </p:sp>
      <p:sp>
        <p:nvSpPr>
          <p:cNvPr id="5" name="Text 3"/>
          <p:cNvSpPr txBox="1"/>
          <p:nvPr/>
        </p:nvSpPr>
        <p:spPr>
          <a:xfrm>
            <a:off x="11183112" y="6473952"/>
            <a:ext cx="457200" cy="228600"/>
          </a:xfrm>
          <a:prstGeom prst="rect">
            <a:avLst/>
          </a:prstGeom>
          <a:noFill/>
          <a:ln/>
        </p:spPr>
        <p:txBody>
          <a:bodyPr wrap="square" lIns="0" tIns="0" rIns="0" bIns="0" rtlCol="0" anchor="t"/>
          <a:lstStyle/>
          <a:p>
            <a:pPr algn="r" indent="0" marL="0">
              <a:buNone/>
            </a:pPr>
            <a:r>
              <a:rPr lang="en-US" sz="900" dirty="0">
                <a:solidFill>
                  <a:srgbClr val="5B6B75"/>
                </a:solidFill>
                <a:latin typeface="Calibri" pitchFamily="34" charset="0"/>
                <a:ea typeface="Calibri" pitchFamily="34" charset="-122"/>
                <a:cs typeface="Calibri" pitchFamily="34" charset="-120"/>
              </a:rPr>
              <a:t>6</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3108960"/>
                <a:gridCol w="4572000"/>
                <a:gridCol w="1783080"/>
                <a:gridCol w="1627632"/>
              </a:tblGrid>
              <a:tr h="42976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Data</a:t>
                      </a:r>
                      <a:endParaRPr lang="en-US" sz="1300" dirty="0">
                        <a:latin typeface="Calibri" charset="0"/>
                        <a:ea typeface="Calibri" charset="0"/>
                        <a:cs typeface="Calibri" charset="0"/>
                      </a:endParaRPr>
                    </a:p>
                  </a:txBody>
                  <a:tcPr marL="109728" marR="109728"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0B1F2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Source</a:t>
                      </a:r>
                      <a:endParaRPr lang="en-US" sz="1300" dirty="0">
                        <a:latin typeface="Calibri" charset="0"/>
                        <a:ea typeface="Calibri" charset="0"/>
                        <a:cs typeface="Calibri" charset="0"/>
                      </a:endParaRPr>
                    </a:p>
                  </a:txBody>
                  <a:tcPr marL="109728" marR="109728"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0B1F2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Format</a:t>
                      </a:r>
                      <a:endParaRPr lang="en-US" sz="1300" dirty="0">
                        <a:latin typeface="Calibri" charset="0"/>
                        <a:ea typeface="Calibri" charset="0"/>
                        <a:cs typeface="Calibri" charset="0"/>
                      </a:endParaRPr>
                    </a:p>
                  </a:txBody>
                  <a:tcPr marL="109728" marR="109728"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0B1F2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Status</a:t>
                      </a:r>
                      <a:endParaRPr lang="en-US" sz="1300" dirty="0">
                        <a:latin typeface="Calibri" charset="0"/>
                        <a:ea typeface="Calibri" charset="0"/>
                        <a:cs typeface="Calibri" charset="0"/>
                      </a:endParaRPr>
                    </a:p>
                  </a:txBody>
                  <a:tcPr marL="109728" marR="109728"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0B1F2A"/>
                    </a:solidFill>
                  </a:tcPr>
                </a:tc>
              </a:tr>
              <a:tr h="429768">
                <a:tc>
                  <a:txBody>
                    <a:bodyPr/>
                    <a:lstStyle/>
                    <a:p>
                      <a:pPr indent="0" marL="0">
                        <a:buNone/>
                      </a:pPr>
                      <a:r>
                        <a:rPr lang="en-US" sz="1300" b="1" dirty="0">
                          <a:solidFill>
                            <a:srgbClr val="0B1F2A"/>
                          </a:solidFill>
                          <a:latin typeface="Calibri" pitchFamily="34" charset="0"/>
                          <a:ea typeface="Calibri" pitchFamily="34" charset="-122"/>
                          <a:cs typeface="Calibri" pitchFamily="34" charset="-120"/>
                        </a:rPr>
                        <a:t>Mutual fund NAV history, all schemes</a:t>
                      </a:r>
                      <a:endParaRPr lang="en-US" sz="1300" dirty="0">
                        <a:latin typeface="Calibri" charset="0"/>
                        <a:ea typeface="Calibri" charset="0"/>
                        <a:cs typeface="Calibri" charset="0"/>
                      </a:endParaRPr>
                    </a:p>
                  </a:txBody>
                  <a:tcPr marL="109728" marR="109728"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2F6F8"/>
                    </a:solidFill>
                  </a:tcPr>
                </a:tc>
                <a:tc>
                  <a:txBody>
                    <a:bodyPr/>
                    <a:lstStyle/>
                    <a:p>
                      <a:pPr indent="0" marL="0">
                        <a:buNone/>
                      </a:pPr>
                      <a:r>
                        <a:rPr lang="en-US" sz="1300" dirty="0">
                          <a:solidFill>
                            <a:srgbClr val="1B2B34"/>
                          </a:solidFill>
                          <a:latin typeface="Calibri" pitchFamily="34" charset="0"/>
                          <a:ea typeface="Calibri" pitchFamily="34" charset="-122"/>
                          <a:cs typeface="Calibri" pitchFamily="34" charset="-120"/>
                        </a:rPr>
                        <a:t>AMFI NAVs via the open historical-mf-data archive</a:t>
                      </a:r>
                      <a:endParaRPr lang="en-US" sz="1300" dirty="0">
                        <a:latin typeface="Calibri" charset="0"/>
                        <a:ea typeface="Calibri" charset="0"/>
                        <a:cs typeface="Calibri" charset="0"/>
                      </a:endParaRPr>
                    </a:p>
                  </a:txBody>
                  <a:tcPr marL="109728" marR="109728"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2F6F8"/>
                    </a:solidFill>
                  </a:tcPr>
                </a:tc>
                <a:tc>
                  <a:txBody>
                    <a:bodyPr/>
                    <a:lstStyle/>
                    <a:p>
                      <a:pPr indent="0" marL="0">
                        <a:buNone/>
                      </a:pPr>
                      <a:r>
                        <a:rPr lang="en-US" sz="1300" dirty="0">
                          <a:solidFill>
                            <a:srgbClr val="1B2B34"/>
                          </a:solidFill>
                          <a:latin typeface="Calibri" pitchFamily="34" charset="0"/>
                          <a:ea typeface="Calibri" pitchFamily="34" charset="-122"/>
                          <a:cs typeface="Calibri" pitchFamily="34" charset="-120"/>
                        </a:rPr>
                        <a:t>SQLite → Parquet</a:t>
                      </a:r>
                      <a:endParaRPr lang="en-US" sz="1300" dirty="0">
                        <a:latin typeface="Calibri" charset="0"/>
                        <a:ea typeface="Calibri" charset="0"/>
                        <a:cs typeface="Calibri" charset="0"/>
                      </a:endParaRPr>
                    </a:p>
                  </a:txBody>
                  <a:tcPr marL="109728" marR="109728"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2F6F8"/>
                    </a:solidFill>
                  </a:tcPr>
                </a:tc>
                <a:tc>
                  <a:txBody>
                    <a:bodyPr/>
                    <a:lstStyle/>
                    <a:p>
                      <a:pPr indent="0" marL="0">
                        <a:buNone/>
                      </a:pPr>
                      <a:r>
                        <a:rPr lang="en-US" sz="1300" b="1" dirty="0">
                          <a:solidFill>
                            <a:srgbClr val="0E9F6E"/>
                          </a:solidFill>
                          <a:latin typeface="Calibri" pitchFamily="34" charset="0"/>
                          <a:ea typeface="Calibri" pitchFamily="34" charset="-122"/>
                          <a:cs typeface="Calibri" pitchFamily="34" charset="-120"/>
                        </a:rPr>
                        <a:t>In pipeline</a:t>
                      </a:r>
                      <a:endParaRPr lang="en-US" sz="1300" dirty="0">
                        <a:latin typeface="Calibri" charset="0"/>
                        <a:ea typeface="Calibri" charset="0"/>
                        <a:cs typeface="Calibri" charset="0"/>
                      </a:endParaRPr>
                    </a:p>
                  </a:txBody>
                  <a:tcPr marL="109728" marR="109728"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2F6F8"/>
                    </a:solidFill>
                  </a:tcPr>
                </a:tc>
              </a:tr>
              <a:tr h="429768">
                <a:tc>
                  <a:txBody>
                    <a:bodyPr/>
                    <a:lstStyle/>
                    <a:p>
                      <a:pPr indent="0" marL="0">
                        <a:buNone/>
                      </a:pPr>
                      <a:r>
                        <a:rPr lang="en-US" sz="1300" b="1" dirty="0">
                          <a:solidFill>
                            <a:srgbClr val="0B1F2A"/>
                          </a:solidFill>
                          <a:latin typeface="Calibri" pitchFamily="34" charset="0"/>
                          <a:ea typeface="Calibri" pitchFamily="34" charset="-122"/>
                          <a:cs typeface="Calibri" pitchFamily="34" charset="-120"/>
                        </a:rPr>
                        <a:t>Scheme names</a:t>
                      </a:r>
                      <a:endParaRPr lang="en-US" sz="1300" dirty="0">
                        <a:latin typeface="Calibri" charset="0"/>
                        <a:ea typeface="Calibri" charset="0"/>
                        <a:cs typeface="Calibri" charset="0"/>
                      </a:endParaRPr>
                    </a:p>
                  </a:txBody>
                  <a:tcPr marL="109728" marR="109728"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latin typeface="Calibri" pitchFamily="34" charset="0"/>
                          <a:ea typeface="Calibri" pitchFamily="34" charset="-122"/>
                          <a:cs typeface="Calibri" pitchFamily="34" charset="-120"/>
                        </a:rPr>
                        <a:t>Same archive</a:t>
                      </a:r>
                      <a:endParaRPr lang="en-US" sz="1300" dirty="0">
                        <a:latin typeface="Calibri" charset="0"/>
                        <a:ea typeface="Calibri" charset="0"/>
                        <a:cs typeface="Calibri" charset="0"/>
                      </a:endParaRPr>
                    </a:p>
                  </a:txBody>
                  <a:tcPr marL="109728" marR="109728"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latin typeface="Calibri" pitchFamily="34" charset="0"/>
                          <a:ea typeface="Calibri" pitchFamily="34" charset="-122"/>
                          <a:cs typeface="Calibri" pitchFamily="34" charset="-120"/>
                        </a:rPr>
                        <a:t>CSV</a:t>
                      </a:r>
                      <a:endParaRPr lang="en-US" sz="1300" dirty="0">
                        <a:latin typeface="Calibri" charset="0"/>
                        <a:ea typeface="Calibri" charset="0"/>
                        <a:cs typeface="Calibri" charset="0"/>
                      </a:endParaRPr>
                    </a:p>
                  </a:txBody>
                  <a:tcPr marL="109728" marR="109728"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300" b="1" dirty="0">
                          <a:solidFill>
                            <a:srgbClr val="0E9F6E"/>
                          </a:solidFill>
                          <a:latin typeface="Calibri" pitchFamily="34" charset="0"/>
                          <a:ea typeface="Calibri" pitchFamily="34" charset="-122"/>
                          <a:cs typeface="Calibri" pitchFamily="34" charset="-120"/>
                        </a:rPr>
                        <a:t>In pipeline</a:t>
                      </a:r>
                      <a:endParaRPr lang="en-US" sz="1300" dirty="0">
                        <a:latin typeface="Calibri" charset="0"/>
                        <a:ea typeface="Calibri" charset="0"/>
                        <a:cs typeface="Calibri" charset="0"/>
                      </a:endParaRPr>
                    </a:p>
                  </a:txBody>
                  <a:tcPr marL="109728" marR="109728"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FFFFF"/>
                    </a:solidFill>
                  </a:tcPr>
                </a:tc>
              </a:tr>
              <a:tr h="429768">
                <a:tc>
                  <a:txBody>
                    <a:bodyPr/>
                    <a:lstStyle/>
                    <a:p>
                      <a:pPr indent="0" marL="0">
                        <a:buNone/>
                      </a:pPr>
                      <a:r>
                        <a:rPr lang="en-US" sz="1300" b="1" dirty="0">
                          <a:solidFill>
                            <a:srgbClr val="0B1F2A"/>
                          </a:solidFill>
                          <a:latin typeface="Calibri" pitchFamily="34" charset="0"/>
                          <a:ea typeface="Calibri" pitchFamily="34" charset="-122"/>
                          <a:cs typeface="Calibri" pitchFamily="34" charset="-120"/>
                        </a:rPr>
                        <a:t>Market benchmark</a:t>
                      </a:r>
                      <a:endParaRPr lang="en-US" sz="1300" dirty="0">
                        <a:latin typeface="Calibri" charset="0"/>
                        <a:ea typeface="Calibri" charset="0"/>
                        <a:cs typeface="Calibri" charset="0"/>
                      </a:endParaRPr>
                    </a:p>
                  </a:txBody>
                  <a:tcPr marL="109728" marR="109728"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2F6F8"/>
                    </a:solidFill>
                  </a:tcPr>
                </a:tc>
                <a:tc>
                  <a:txBody>
                    <a:bodyPr/>
                    <a:lstStyle/>
                    <a:p>
                      <a:pPr indent="0" marL="0">
                        <a:buNone/>
                      </a:pPr>
                      <a:r>
                        <a:rPr lang="en-US" sz="1300" dirty="0">
                          <a:solidFill>
                            <a:srgbClr val="1B2B34"/>
                          </a:solidFill>
                          <a:latin typeface="Calibri" pitchFamily="34" charset="0"/>
                          <a:ea typeface="Calibri" pitchFamily="34" charset="-122"/>
                          <a:cs typeface="Calibri" pitchFamily="34" charset="-120"/>
                        </a:rPr>
                        <a:t>UTI Nifty 50 Index Fund NAV (stands in for the Nifty 50)</a:t>
                      </a:r>
                      <a:endParaRPr lang="en-US" sz="1300" dirty="0">
                        <a:latin typeface="Calibri" charset="0"/>
                        <a:ea typeface="Calibri" charset="0"/>
                        <a:cs typeface="Calibri" charset="0"/>
                      </a:endParaRPr>
                    </a:p>
                  </a:txBody>
                  <a:tcPr marL="109728" marR="109728"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2F6F8"/>
                    </a:solidFill>
                  </a:tcPr>
                </a:tc>
                <a:tc>
                  <a:txBody>
                    <a:bodyPr/>
                    <a:lstStyle/>
                    <a:p>
                      <a:pPr indent="0" marL="0">
                        <a:buNone/>
                      </a:pPr>
                      <a:r>
                        <a:rPr lang="en-US" sz="1300" dirty="0">
                          <a:solidFill>
                            <a:srgbClr val="1B2B34"/>
                          </a:solidFill>
                          <a:latin typeface="Calibri" pitchFamily="34" charset="0"/>
                          <a:ea typeface="Calibri" pitchFamily="34" charset="-122"/>
                          <a:cs typeface="Calibri" pitchFamily="34" charset="-120"/>
                        </a:rPr>
                        <a:t>From NAV data</a:t>
                      </a:r>
                      <a:endParaRPr lang="en-US" sz="1300" dirty="0">
                        <a:latin typeface="Calibri" charset="0"/>
                        <a:ea typeface="Calibri" charset="0"/>
                        <a:cs typeface="Calibri" charset="0"/>
                      </a:endParaRPr>
                    </a:p>
                  </a:txBody>
                  <a:tcPr marL="109728" marR="109728"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2F6F8"/>
                    </a:solidFill>
                  </a:tcPr>
                </a:tc>
                <a:tc>
                  <a:txBody>
                    <a:bodyPr/>
                    <a:lstStyle/>
                    <a:p>
                      <a:pPr indent="0" marL="0">
                        <a:buNone/>
                      </a:pPr>
                      <a:r>
                        <a:rPr lang="en-US" sz="1300" b="1" dirty="0">
                          <a:solidFill>
                            <a:srgbClr val="0E9F6E"/>
                          </a:solidFill>
                          <a:latin typeface="Calibri" pitchFamily="34" charset="0"/>
                          <a:ea typeface="Calibri" pitchFamily="34" charset="-122"/>
                          <a:cs typeface="Calibri" pitchFamily="34" charset="-120"/>
                        </a:rPr>
                        <a:t>In pipeline</a:t>
                      </a:r>
                      <a:endParaRPr lang="en-US" sz="1300" dirty="0">
                        <a:latin typeface="Calibri" charset="0"/>
                        <a:ea typeface="Calibri" charset="0"/>
                        <a:cs typeface="Calibri" charset="0"/>
                      </a:endParaRPr>
                    </a:p>
                  </a:txBody>
                  <a:tcPr marL="109728" marR="109728"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2F6F8"/>
                    </a:solidFill>
                  </a:tcPr>
                </a:tc>
              </a:tr>
              <a:tr h="429768">
                <a:tc>
                  <a:txBody>
                    <a:bodyPr/>
                    <a:lstStyle/>
                    <a:p>
                      <a:pPr indent="0" marL="0">
                        <a:buNone/>
                      </a:pPr>
                      <a:r>
                        <a:rPr lang="en-US" sz="1300" b="1" dirty="0">
                          <a:solidFill>
                            <a:srgbClr val="0B1F2A"/>
                          </a:solidFill>
                          <a:latin typeface="Calibri" pitchFamily="34" charset="0"/>
                          <a:ea typeface="Calibri" pitchFamily="34" charset="-122"/>
                          <a:cs typeface="Calibri" pitchFamily="34" charset="-120"/>
                        </a:rPr>
                        <a:t>Risk-free rate</a:t>
                      </a:r>
                      <a:endParaRPr lang="en-US" sz="1300" dirty="0">
                        <a:latin typeface="Calibri" charset="0"/>
                        <a:ea typeface="Calibri" charset="0"/>
                        <a:cs typeface="Calibri" charset="0"/>
                      </a:endParaRPr>
                    </a:p>
                  </a:txBody>
                  <a:tcPr marL="109728" marR="109728"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latin typeface="Calibri" pitchFamily="34" charset="0"/>
                          <a:ea typeface="Calibri" pitchFamily="34" charset="-122"/>
                          <a:cs typeface="Calibri" pitchFamily="34" charset="-120"/>
                        </a:rPr>
                        <a:t>Assumed 6.5% a year (near the 91-day T-bill yield)</a:t>
                      </a:r>
                      <a:endParaRPr lang="en-US" sz="1300" dirty="0">
                        <a:latin typeface="Calibri" charset="0"/>
                        <a:ea typeface="Calibri" charset="0"/>
                        <a:cs typeface="Calibri" charset="0"/>
                      </a:endParaRPr>
                    </a:p>
                  </a:txBody>
                  <a:tcPr marL="109728" marR="109728"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latin typeface="Calibri" pitchFamily="34" charset="0"/>
                          <a:ea typeface="Calibri" pitchFamily="34" charset="-122"/>
                          <a:cs typeface="Calibri" pitchFamily="34" charset="-120"/>
                        </a:rPr>
                        <a:t>Constant</a:t>
                      </a:r>
                      <a:endParaRPr lang="en-US" sz="1300" dirty="0">
                        <a:latin typeface="Calibri" charset="0"/>
                        <a:ea typeface="Calibri" charset="0"/>
                        <a:cs typeface="Calibri" charset="0"/>
                      </a:endParaRPr>
                    </a:p>
                  </a:txBody>
                  <a:tcPr marL="109728" marR="109728"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300" b="1" dirty="0">
                          <a:solidFill>
                            <a:srgbClr val="0E9F6E"/>
                          </a:solidFill>
                          <a:latin typeface="Calibri" pitchFamily="34" charset="0"/>
                          <a:ea typeface="Calibri" pitchFamily="34" charset="-122"/>
                          <a:cs typeface="Calibri" pitchFamily="34" charset="-120"/>
                        </a:rPr>
                        <a:t>In pipeline</a:t>
                      </a:r>
                      <a:endParaRPr lang="en-US" sz="1300" dirty="0">
                        <a:latin typeface="Calibri" charset="0"/>
                        <a:ea typeface="Calibri" charset="0"/>
                        <a:cs typeface="Calibri" charset="0"/>
                      </a:endParaRPr>
                    </a:p>
                  </a:txBody>
                  <a:tcPr marL="109728" marR="109728"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FFFFF"/>
                    </a:solidFill>
                  </a:tcPr>
                </a:tc>
              </a:tr>
              <a:tr h="429768">
                <a:tc>
                  <a:txBody>
                    <a:bodyPr/>
                    <a:lstStyle/>
                    <a:p>
                      <a:pPr indent="0" marL="0">
                        <a:buNone/>
                      </a:pPr>
                      <a:r>
                        <a:rPr lang="en-US" sz="1300" b="1" dirty="0">
                          <a:solidFill>
                            <a:srgbClr val="0B1F2A"/>
                          </a:solidFill>
                          <a:latin typeface="Calibri" pitchFamily="34" charset="0"/>
                          <a:ea typeface="Calibri" pitchFamily="34" charset="-122"/>
                          <a:cs typeface="Calibri" pitchFamily="34" charset="-120"/>
                        </a:rPr>
                        <a:t>Nifty 50 company list</a:t>
                      </a:r>
                      <a:endParaRPr lang="en-US" sz="1300" dirty="0">
                        <a:latin typeface="Calibri" charset="0"/>
                        <a:ea typeface="Calibri" charset="0"/>
                        <a:cs typeface="Calibri" charset="0"/>
                      </a:endParaRPr>
                    </a:p>
                  </a:txBody>
                  <a:tcPr marL="109728" marR="109728"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2F6F8"/>
                    </a:solidFill>
                  </a:tcPr>
                </a:tc>
                <a:tc>
                  <a:txBody>
                    <a:bodyPr/>
                    <a:lstStyle/>
                    <a:p>
                      <a:pPr indent="0" marL="0">
                        <a:buNone/>
                      </a:pPr>
                      <a:r>
                        <a:rPr lang="en-US" sz="1300" dirty="0">
                          <a:solidFill>
                            <a:srgbClr val="1B2B34"/>
                          </a:solidFill>
                          <a:latin typeface="Calibri" pitchFamily="34" charset="0"/>
                          <a:ea typeface="Calibri" pitchFamily="34" charset="-122"/>
                          <a:cs typeface="Calibri" pitchFamily="34" charset="-120"/>
                        </a:rPr>
                        <a:t>NSE index constituents file</a:t>
                      </a:r>
                      <a:endParaRPr lang="en-US" sz="1300" dirty="0">
                        <a:latin typeface="Calibri" charset="0"/>
                        <a:ea typeface="Calibri" charset="0"/>
                        <a:cs typeface="Calibri" charset="0"/>
                      </a:endParaRPr>
                    </a:p>
                  </a:txBody>
                  <a:tcPr marL="109728" marR="109728"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2F6F8"/>
                    </a:solidFill>
                  </a:tcPr>
                </a:tc>
                <a:tc>
                  <a:txBody>
                    <a:bodyPr/>
                    <a:lstStyle/>
                    <a:p>
                      <a:pPr indent="0" marL="0">
                        <a:buNone/>
                      </a:pPr>
                      <a:r>
                        <a:rPr lang="en-US" sz="1300" dirty="0">
                          <a:solidFill>
                            <a:srgbClr val="1B2B34"/>
                          </a:solidFill>
                          <a:latin typeface="Calibri" pitchFamily="34" charset="0"/>
                          <a:ea typeface="Calibri" pitchFamily="34" charset="-122"/>
                          <a:cs typeface="Calibri" pitchFamily="34" charset="-120"/>
                        </a:rPr>
                        <a:t>CSV</a:t>
                      </a:r>
                      <a:endParaRPr lang="en-US" sz="1300" dirty="0">
                        <a:latin typeface="Calibri" charset="0"/>
                        <a:ea typeface="Calibri" charset="0"/>
                        <a:cs typeface="Calibri" charset="0"/>
                      </a:endParaRPr>
                    </a:p>
                  </a:txBody>
                  <a:tcPr marL="109728" marR="109728"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2F6F8"/>
                    </a:solidFill>
                  </a:tcPr>
                </a:tc>
                <a:tc>
                  <a:txBody>
                    <a:bodyPr/>
                    <a:lstStyle/>
                    <a:p>
                      <a:pPr indent="0" marL="0">
                        <a:buNone/>
                      </a:pPr>
                      <a:r>
                        <a:rPr lang="en-US" sz="1300" b="1" dirty="0">
                          <a:solidFill>
                            <a:srgbClr val="0E9F6E"/>
                          </a:solidFill>
                          <a:latin typeface="Calibri" pitchFamily="34" charset="0"/>
                          <a:ea typeface="Calibri" pitchFamily="34" charset="-122"/>
                          <a:cs typeface="Calibri" pitchFamily="34" charset="-120"/>
                        </a:rPr>
                        <a:t>In pipeline</a:t>
                      </a:r>
                      <a:endParaRPr lang="en-US" sz="1300" dirty="0">
                        <a:latin typeface="Calibri" charset="0"/>
                        <a:ea typeface="Calibri" charset="0"/>
                        <a:cs typeface="Calibri" charset="0"/>
                      </a:endParaRPr>
                    </a:p>
                  </a:txBody>
                  <a:tcPr marL="109728" marR="109728"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2F6F8"/>
                    </a:solidFill>
                  </a:tcPr>
                </a:tc>
              </a:tr>
              <a:tr h="429768">
                <a:tc>
                  <a:txBody>
                    <a:bodyPr/>
                    <a:lstStyle/>
                    <a:p>
                      <a:pPr indent="0" marL="0">
                        <a:buNone/>
                      </a:pPr>
                      <a:r>
                        <a:rPr lang="en-US" sz="1300" b="1" dirty="0">
                          <a:solidFill>
                            <a:srgbClr val="0B1F2A"/>
                          </a:solidFill>
                          <a:latin typeface="Calibri" pitchFamily="34" charset="0"/>
                          <a:ea typeface="Calibri" pitchFamily="34" charset="-122"/>
                          <a:cs typeface="Calibri" pitchFamily="34" charset="-120"/>
                        </a:rPr>
                        <a:t>Stock prices and index values</a:t>
                      </a:r>
                      <a:endParaRPr lang="en-US" sz="1300" dirty="0">
                        <a:latin typeface="Calibri" charset="0"/>
                        <a:ea typeface="Calibri" charset="0"/>
                        <a:cs typeface="Calibri" charset="0"/>
                      </a:endParaRPr>
                    </a:p>
                  </a:txBody>
                  <a:tcPr marL="109728" marR="109728"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latin typeface="Calibri" pitchFamily="34" charset="0"/>
                          <a:ea typeface="Calibri" pitchFamily="34" charset="-122"/>
                          <a:cs typeface="Calibri" pitchFamily="34" charset="-120"/>
                        </a:rPr>
                        <a:t>Yahoo Finance: 10 years, daily, Nifty 50 and Sensex</a:t>
                      </a:r>
                      <a:endParaRPr lang="en-US" sz="1300" dirty="0">
                        <a:latin typeface="Calibri" charset="0"/>
                        <a:ea typeface="Calibri" charset="0"/>
                        <a:cs typeface="Calibri" charset="0"/>
                      </a:endParaRPr>
                    </a:p>
                  </a:txBody>
                  <a:tcPr marL="109728" marR="109728"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latin typeface="Calibri" pitchFamily="34" charset="0"/>
                          <a:ea typeface="Calibri" pitchFamily="34" charset="-122"/>
                          <a:cs typeface="Calibri" pitchFamily="34" charset="-120"/>
                        </a:rPr>
                        <a:t>CSV → Parquet</a:t>
                      </a:r>
                      <a:endParaRPr lang="en-US" sz="1300" dirty="0">
                        <a:latin typeface="Calibri" charset="0"/>
                        <a:ea typeface="Calibri" charset="0"/>
                        <a:cs typeface="Calibri" charset="0"/>
                      </a:endParaRPr>
                    </a:p>
                  </a:txBody>
                  <a:tcPr marL="109728" marR="109728"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300" b="1" dirty="0">
                          <a:solidFill>
                            <a:srgbClr val="0E9F6E"/>
                          </a:solidFill>
                          <a:latin typeface="Calibri" pitchFamily="34" charset="0"/>
                          <a:ea typeface="Calibri" pitchFamily="34" charset="-122"/>
                          <a:cs typeface="Calibri" pitchFamily="34" charset="-120"/>
                        </a:rPr>
                        <a:t>In pipeline</a:t>
                      </a:r>
                      <a:endParaRPr lang="en-US" sz="1300" dirty="0">
                        <a:latin typeface="Calibri" charset="0"/>
                        <a:ea typeface="Calibri" charset="0"/>
                        <a:cs typeface="Calibri" charset="0"/>
                      </a:endParaRPr>
                    </a:p>
                  </a:txBody>
                  <a:tcPr marL="109728" marR="109728"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FFFFF"/>
                    </a:solidFill>
                  </a:tcPr>
                </a:tc>
              </a:tr>
              <a:tr h="429768">
                <a:tc>
                  <a:txBody>
                    <a:bodyPr/>
                    <a:lstStyle/>
                    <a:p>
                      <a:pPr indent="0" marL="0">
                        <a:buNone/>
                      </a:pPr>
                      <a:r>
                        <a:rPr lang="en-US" sz="1300" b="1" dirty="0">
                          <a:solidFill>
                            <a:srgbClr val="0B1F2A"/>
                          </a:solidFill>
                          <a:latin typeface="Calibri" pitchFamily="34" charset="0"/>
                          <a:ea typeface="Calibri" pitchFamily="34" charset="-122"/>
                          <a:cs typeface="Calibri" pitchFamily="34" charset="-120"/>
                        </a:rPr>
                        <a:t>Company debt (balance sheets)</a:t>
                      </a:r>
                      <a:endParaRPr lang="en-US" sz="1300" dirty="0">
                        <a:latin typeface="Calibri" charset="0"/>
                        <a:ea typeface="Calibri" charset="0"/>
                        <a:cs typeface="Calibri" charset="0"/>
                      </a:endParaRPr>
                    </a:p>
                  </a:txBody>
                  <a:tcPr marL="109728" marR="109728"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2F6F8"/>
                    </a:solidFill>
                  </a:tcPr>
                </a:tc>
                <a:tc>
                  <a:txBody>
                    <a:bodyPr/>
                    <a:lstStyle/>
                    <a:p>
                      <a:pPr indent="0" marL="0">
                        <a:buNone/>
                      </a:pPr>
                      <a:r>
                        <a:rPr lang="en-US" sz="1300" dirty="0">
                          <a:solidFill>
                            <a:srgbClr val="1B2B34"/>
                          </a:solidFill>
                          <a:latin typeface="Calibri" pitchFamily="34" charset="0"/>
                          <a:ea typeface="Calibri" pitchFamily="34" charset="-122"/>
                          <a:cs typeface="Calibri" pitchFamily="34" charset="-120"/>
                        </a:rPr>
                        <a:t>Yahoo Finance: about four financial years per company</a:t>
                      </a:r>
                      <a:endParaRPr lang="en-US" sz="1300" dirty="0">
                        <a:latin typeface="Calibri" charset="0"/>
                        <a:ea typeface="Calibri" charset="0"/>
                        <a:cs typeface="Calibri" charset="0"/>
                      </a:endParaRPr>
                    </a:p>
                  </a:txBody>
                  <a:tcPr marL="109728" marR="109728"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2F6F8"/>
                    </a:solidFill>
                  </a:tcPr>
                </a:tc>
                <a:tc>
                  <a:txBody>
                    <a:bodyPr/>
                    <a:lstStyle/>
                    <a:p>
                      <a:pPr indent="0" marL="0">
                        <a:buNone/>
                      </a:pPr>
                      <a:r>
                        <a:rPr lang="en-US" sz="1300" dirty="0">
                          <a:solidFill>
                            <a:srgbClr val="1B2B34"/>
                          </a:solidFill>
                          <a:latin typeface="Calibri" pitchFamily="34" charset="0"/>
                          <a:ea typeface="Calibri" pitchFamily="34" charset="-122"/>
                          <a:cs typeface="Calibri" pitchFamily="34" charset="-120"/>
                        </a:rPr>
                        <a:t>CSV → Parquet</a:t>
                      </a:r>
                      <a:endParaRPr lang="en-US" sz="1300" dirty="0">
                        <a:latin typeface="Calibri" charset="0"/>
                        <a:ea typeface="Calibri" charset="0"/>
                        <a:cs typeface="Calibri" charset="0"/>
                      </a:endParaRPr>
                    </a:p>
                  </a:txBody>
                  <a:tcPr marL="109728" marR="109728"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2F6F8"/>
                    </a:solidFill>
                  </a:tcPr>
                </a:tc>
                <a:tc>
                  <a:txBody>
                    <a:bodyPr/>
                    <a:lstStyle/>
                    <a:p>
                      <a:pPr indent="0" marL="0">
                        <a:buNone/>
                      </a:pPr>
                      <a:r>
                        <a:rPr lang="en-US" sz="1300" b="1" dirty="0">
                          <a:solidFill>
                            <a:srgbClr val="0E9F6E"/>
                          </a:solidFill>
                          <a:latin typeface="Calibri" pitchFamily="34" charset="0"/>
                          <a:ea typeface="Calibri" pitchFamily="34" charset="-122"/>
                          <a:cs typeface="Calibri" pitchFamily="34" charset="-120"/>
                        </a:rPr>
                        <a:t>In pipeline</a:t>
                      </a:r>
                      <a:endParaRPr lang="en-US" sz="1300" dirty="0">
                        <a:latin typeface="Calibri" charset="0"/>
                        <a:ea typeface="Calibri" charset="0"/>
                        <a:cs typeface="Calibri" charset="0"/>
                      </a:endParaRPr>
                    </a:p>
                  </a:txBody>
                  <a:tcPr marL="109728" marR="109728"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2F6F8"/>
                    </a:solidFill>
                  </a:tcPr>
                </a:tc>
              </a:tr>
              <a:tr h="429768">
                <a:tc>
                  <a:txBody>
                    <a:bodyPr/>
                    <a:lstStyle/>
                    <a:p>
                      <a:pPr indent="0" marL="0">
                        <a:buNone/>
                      </a:pPr>
                      <a:r>
                        <a:rPr lang="en-US" sz="1300" b="1" dirty="0">
                          <a:solidFill>
                            <a:srgbClr val="0B1F2A"/>
                          </a:solidFill>
                          <a:latin typeface="Calibri" pitchFamily="34" charset="0"/>
                          <a:ea typeface="Calibri" pitchFamily="34" charset="-122"/>
                          <a:cs typeface="Calibri" pitchFamily="34" charset="-120"/>
                        </a:rPr>
                        <a:t>Index changes (churn)</a:t>
                      </a:r>
                      <a:endParaRPr lang="en-US" sz="1300" dirty="0">
                        <a:latin typeface="Calibri" charset="0"/>
                        <a:ea typeface="Calibri" charset="0"/>
                        <a:cs typeface="Calibri" charset="0"/>
                      </a:endParaRPr>
                    </a:p>
                  </a:txBody>
                  <a:tcPr marL="109728" marR="109728"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latin typeface="Calibri" pitchFamily="34" charset="0"/>
                          <a:ea typeface="Calibri" pitchFamily="34" charset="-122"/>
                          <a:cs typeface="Calibri" pitchFamily="34" charset="-120"/>
                        </a:rPr>
                        <a:t>NSE notices; no dated open list exists</a:t>
                      </a:r>
                      <a:endParaRPr lang="en-US" sz="1300" dirty="0">
                        <a:latin typeface="Calibri" charset="0"/>
                        <a:ea typeface="Calibri" charset="0"/>
                        <a:cs typeface="Calibri" charset="0"/>
                      </a:endParaRPr>
                    </a:p>
                  </a:txBody>
                  <a:tcPr marL="109728" marR="109728"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300" dirty="0">
                          <a:solidFill>
                            <a:srgbClr val="1B2B34"/>
                          </a:solidFill>
                          <a:latin typeface="Calibri" pitchFamily="34" charset="0"/>
                          <a:ea typeface="Calibri" pitchFamily="34" charset="-122"/>
                          <a:cs typeface="Calibri" pitchFamily="34" charset="-120"/>
                        </a:rPr>
                        <a:t>PDF</a:t>
                      </a:r>
                      <a:endParaRPr lang="en-US" sz="1300" dirty="0">
                        <a:latin typeface="Calibri" charset="0"/>
                        <a:ea typeface="Calibri" charset="0"/>
                        <a:cs typeface="Calibri" charset="0"/>
                      </a:endParaRPr>
                    </a:p>
                  </a:txBody>
                  <a:tcPr marL="109728" marR="109728"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FFFFF"/>
                    </a:solidFill>
                  </a:tcPr>
                </a:tc>
                <a:tc>
                  <a:txBody>
                    <a:bodyPr/>
                    <a:lstStyle/>
                    <a:p>
                      <a:pPr indent="0" marL="0">
                        <a:buNone/>
                      </a:pPr>
                      <a:r>
                        <a:rPr lang="en-US" sz="1300" b="1" dirty="0">
                          <a:solidFill>
                            <a:srgbClr val="5B6B75"/>
                          </a:solidFill>
                          <a:latin typeface="Calibri" pitchFamily="34" charset="0"/>
                          <a:ea typeface="Calibri" pitchFamily="34" charset="-122"/>
                          <a:cs typeface="Calibri" pitchFamily="34" charset="-120"/>
                        </a:rPr>
                        <a:t>Not built</a:t>
                      </a:r>
                      <a:endParaRPr lang="en-US" sz="1300" dirty="0">
                        <a:latin typeface="Calibri" charset="0"/>
                        <a:ea typeface="Calibri" charset="0"/>
                        <a:cs typeface="Calibri" charset="0"/>
                      </a:endParaRPr>
                    </a:p>
                  </a:txBody>
                  <a:tcPr marL="109728" marR="109728"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806440"/>
            <a:ext cx="384048" cy="384048"/>
          </a:xfrm>
          <a:prstGeom prst="ellipse">
            <a:avLst/>
          </a:prstGeom>
          <a:solidFill>
            <a:srgbClr val="E6F5EE"/>
          </a:solidFill>
          <a:ln w="12700">
            <a:solidFill>
              <a:srgbClr val="E6F5EE"/>
            </a:solidFill>
            <a:prstDash val="solid"/>
          </a:ln>
        </p:spPr>
      </p:sp>
      <p:pic>
        <p:nvPicPr>
          <p:cNvPr id="8" name="Image 0" descr="preencoded.png">    </p:cNvPr>
          <p:cNvPicPr>
            <a:picLocks noChangeAspect="1"/>
          </p:cNvPicPr>
          <p:nvPr/>
        </p:nvPicPr>
        <p:blipFill>
          <a:blip r:embed="rId1"/>
          <a:stretch>
            <a:fillRect/>
          </a:stretch>
        </p:blipFill>
        <p:spPr>
          <a:xfrm>
            <a:off x="648492" y="5906292"/>
            <a:ext cx="184343" cy="184343"/>
          </a:xfrm>
          <a:prstGeom prst="rect">
            <a:avLst/>
          </a:prstGeom>
        </p:spPr>
      </p:pic>
      <p:sp>
        <p:nvSpPr>
          <p:cNvPr id="9" name="Text 5"/>
          <p:cNvSpPr txBox="1"/>
          <p:nvPr/>
        </p:nvSpPr>
        <p:spPr>
          <a:xfrm>
            <a:off x="1051560" y="5806440"/>
            <a:ext cx="10515600" cy="384048"/>
          </a:xfrm>
          <a:prstGeom prst="rect">
            <a:avLst/>
          </a:prstGeom>
          <a:noFill/>
          <a:ln/>
        </p:spPr>
        <p:txBody>
          <a:bodyPr wrap="square" lIns="0" tIns="0" rIns="0" bIns="0" rtlCol="0" anchor="ctr"/>
          <a:lstStyle/>
          <a:p>
            <a:pPr indent="0" marL="0">
              <a:buNone/>
            </a:pPr>
            <a:r>
              <a:rPr lang="en-US" sz="1300" dirty="0">
                <a:solidFill>
                  <a:srgbClr val="5B6B75"/>
                </a:solidFill>
                <a:latin typeface="Calibri" pitchFamily="34" charset="0"/>
                <a:ea typeface="Calibri" pitchFamily="34" charset="-122"/>
                <a:cs typeface="Calibri" pitchFamily="34" charset="-120"/>
              </a:rPr>
              <a:t>All sources are free and public. Raw files land unchanged in the Bronze layer, and every download is logged in a manifest file.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300" kern="0" dirty="0">
                <a:solidFill>
                  <a:srgbClr val="0E9F6E"/>
                </a:solidFill>
                <a:latin typeface="Calibri" pitchFamily="34" charset="0"/>
                <a:ea typeface="Calibri" pitchFamily="34" charset="-122"/>
                <a:cs typeface="Calibri" pitchFamily="34" charset="-120"/>
              </a:rPr>
              <a:t>06  ·  ARCHITECTURE</a:t>
            </a:r>
            <a:endParaRPr lang="en-US" sz="1200" dirty="0"/>
          </a:p>
        </p:txBody>
      </p:sp>
      <p:sp>
        <p:nvSpPr>
          <p:cNvPr id="3" name="Text 1"/>
          <p:cNvSpPr txBox="1"/>
          <p:nvPr/>
        </p:nvSpPr>
        <p:spPr>
          <a:xfrm>
            <a:off x="548640" y="676656"/>
            <a:ext cx="11064240" cy="685800"/>
          </a:xfrm>
          <a:prstGeom prst="rect">
            <a:avLst/>
          </a:prstGeom>
          <a:noFill/>
          <a:ln/>
        </p:spPr>
        <p:txBody>
          <a:bodyPr wrap="square" lIns="0" tIns="0" rIns="0" bIns="0" rtlCol="0" anchor="ctr"/>
          <a:lstStyle/>
          <a:p>
            <a:pPr indent="0" marL="0">
              <a:buNone/>
            </a:pPr>
            <a:r>
              <a:rPr lang="en-US" sz="3000" b="1" dirty="0">
                <a:solidFill>
                  <a:srgbClr val="0B1F2A"/>
                </a:solidFill>
                <a:latin typeface="Arial" pitchFamily="34" charset="0"/>
                <a:ea typeface="Arial" pitchFamily="34" charset="-122"/>
                <a:cs typeface="Arial" pitchFamily="34" charset="-120"/>
              </a:rPr>
              <a:t>End-to-end system architecture, as built</a:t>
            </a:r>
            <a:endParaRPr lang="en-US" sz="3000" dirty="0"/>
          </a:p>
        </p:txBody>
      </p:sp>
      <p:sp>
        <p:nvSpPr>
          <p:cNvPr id="4" name="Text 2"/>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B75"/>
                </a:solidFill>
                <a:latin typeface="Calibri" pitchFamily="34" charset="0"/>
                <a:ea typeface="Calibri" pitchFamily="34" charset="-122"/>
                <a:cs typeface="Calibri" pitchFamily="34" charset="-120"/>
              </a:rPr>
              <a:t>Big Data Architecture  |  Stock Market &amp; Mutual Fund Risk Analytics</a:t>
            </a:r>
            <a:endParaRPr lang="en-US" sz="900" dirty="0"/>
          </a:p>
        </p:txBody>
      </p:sp>
      <p:sp>
        <p:nvSpPr>
          <p:cNvPr id="5" name="Text 3"/>
          <p:cNvSpPr txBox="1"/>
          <p:nvPr/>
        </p:nvSpPr>
        <p:spPr>
          <a:xfrm>
            <a:off x="11183112" y="6473952"/>
            <a:ext cx="457200" cy="228600"/>
          </a:xfrm>
          <a:prstGeom prst="rect">
            <a:avLst/>
          </a:prstGeom>
          <a:noFill/>
          <a:ln/>
        </p:spPr>
        <p:txBody>
          <a:bodyPr wrap="square" lIns="0" tIns="0" rIns="0" bIns="0" rtlCol="0" anchor="t"/>
          <a:lstStyle/>
          <a:p>
            <a:pPr algn="r" indent="0" marL="0">
              <a:buNone/>
            </a:pPr>
            <a:r>
              <a:rPr lang="en-US" sz="900" dirty="0">
                <a:solidFill>
                  <a:srgbClr val="5B6B75"/>
                </a:solidFill>
                <a:latin typeface="Calibri" pitchFamily="34" charset="0"/>
                <a:ea typeface="Calibri" pitchFamily="34" charset="-122"/>
                <a:cs typeface="Calibri" pitchFamily="34" charset="-120"/>
              </a:rPr>
              <a:t>7</a:t>
            </a:r>
            <a:endParaRPr lang="en-US" sz="900" dirty="0"/>
          </a:p>
        </p:txBody>
      </p:sp>
      <p:sp>
        <p:nvSpPr>
          <p:cNvPr id="6" name="Shape 4"/>
          <p:cNvSpPr/>
          <p:nvPr/>
        </p:nvSpPr>
        <p:spPr>
          <a:xfrm>
            <a:off x="548640" y="1691640"/>
            <a:ext cx="1344168" cy="2697480"/>
          </a:xfrm>
          <a:prstGeom prst="roundRect">
            <a:avLst>
              <a:gd name="adj" fmla="val 8163"/>
            </a:avLst>
          </a:prstGeom>
          <a:solidFill>
            <a:srgbClr val="F2F6F8"/>
          </a:solidFill>
          <a:ln w="12700">
            <a:solidFill>
              <a:srgbClr val="F2F6F8"/>
            </a:solidFill>
            <a:prstDash val="solid"/>
          </a:ln>
        </p:spPr>
      </p:sp>
      <p:sp>
        <p:nvSpPr>
          <p:cNvPr id="7" name="Shape 5"/>
          <p:cNvSpPr/>
          <p:nvPr/>
        </p:nvSpPr>
        <p:spPr>
          <a:xfrm>
            <a:off x="946404" y="1920240"/>
            <a:ext cx="548640" cy="548640"/>
          </a:xfrm>
          <a:prstGeom prst="ellipse">
            <a:avLst/>
          </a:prstGeom>
          <a:solidFill>
            <a:srgbClr val="0E9F6E"/>
          </a:solidFill>
          <a:ln w="12700">
            <a:solidFill>
              <a:srgbClr val="0E9F6E"/>
            </a:solidFill>
            <a:prstDash val="solid"/>
          </a:ln>
        </p:spPr>
      </p:sp>
      <p:pic>
        <p:nvPicPr>
          <p:cNvPr id="8" name="Image 0" descr="preencoded.png">    </p:cNvPr>
          <p:cNvPicPr>
            <a:picLocks noChangeAspect="1"/>
          </p:cNvPicPr>
          <p:nvPr/>
        </p:nvPicPr>
        <p:blipFill>
          <a:blip r:embed="rId1"/>
          <a:stretch>
            <a:fillRect/>
          </a:stretch>
        </p:blipFill>
        <p:spPr>
          <a:xfrm>
            <a:off x="1089050" y="2062886"/>
            <a:ext cx="263347" cy="263347"/>
          </a:xfrm>
          <a:prstGeom prst="rect">
            <a:avLst/>
          </a:prstGeom>
        </p:spPr>
      </p:pic>
      <p:sp>
        <p:nvSpPr>
          <p:cNvPr id="9" name="Text 6"/>
          <p:cNvSpPr txBox="1"/>
          <p:nvPr/>
        </p:nvSpPr>
        <p:spPr>
          <a:xfrm>
            <a:off x="548640" y="2560320"/>
            <a:ext cx="1344168" cy="256032"/>
          </a:xfrm>
          <a:prstGeom prst="rect">
            <a:avLst/>
          </a:prstGeom>
          <a:noFill/>
          <a:ln/>
        </p:spPr>
        <p:txBody>
          <a:bodyPr wrap="square" lIns="0" tIns="0" rIns="0" bIns="0" rtlCol="0" anchor="t"/>
          <a:lstStyle/>
          <a:p>
            <a:pPr algn="ctr" indent="0" marL="0">
              <a:buNone/>
            </a:pPr>
            <a:r>
              <a:rPr lang="en-US" sz="1100" b="1" dirty="0">
                <a:solidFill>
                  <a:srgbClr val="0E9F6E"/>
                </a:solidFill>
                <a:latin typeface="Calibri" pitchFamily="34" charset="0"/>
                <a:ea typeface="Calibri" pitchFamily="34" charset="-122"/>
                <a:cs typeface="Calibri" pitchFamily="34" charset="-120"/>
              </a:rPr>
              <a:t>01</a:t>
            </a:r>
            <a:endParaRPr lang="en-US" sz="1100" dirty="0"/>
          </a:p>
        </p:txBody>
      </p:sp>
      <p:sp>
        <p:nvSpPr>
          <p:cNvPr id="10" name="Text 7"/>
          <p:cNvSpPr txBox="1"/>
          <p:nvPr/>
        </p:nvSpPr>
        <p:spPr>
          <a:xfrm>
            <a:off x="621792" y="2807208"/>
            <a:ext cx="1197864" cy="457200"/>
          </a:xfrm>
          <a:prstGeom prst="rect">
            <a:avLst/>
          </a:prstGeom>
          <a:noFill/>
          <a:ln/>
        </p:spPr>
        <p:txBody>
          <a:bodyPr wrap="square" lIns="0" tIns="0" rIns="0" bIns="0" rtlCol="0" anchor="ctr"/>
          <a:lstStyle/>
          <a:p>
            <a:pPr algn="ctr" indent="0" marL="0">
              <a:buNone/>
            </a:pPr>
            <a:r>
              <a:rPr lang="en-US" sz="1400" b="1" dirty="0">
                <a:solidFill>
                  <a:srgbClr val="0B1F2A"/>
                </a:solidFill>
                <a:latin typeface="Calibri" pitchFamily="34" charset="0"/>
                <a:ea typeface="Calibri" pitchFamily="34" charset="-122"/>
                <a:cs typeface="Calibri" pitchFamily="34" charset="-120"/>
              </a:rPr>
              <a:t>Source</a:t>
            </a:r>
            <a:endParaRPr lang="en-US" sz="1400" dirty="0"/>
          </a:p>
        </p:txBody>
      </p:sp>
      <p:sp>
        <p:nvSpPr>
          <p:cNvPr id="11" name="Text 8"/>
          <p:cNvSpPr txBox="1"/>
          <p:nvPr/>
        </p:nvSpPr>
        <p:spPr>
          <a:xfrm>
            <a:off x="658368" y="3291840"/>
            <a:ext cx="1124712" cy="1005840"/>
          </a:xfrm>
          <a:prstGeom prst="rect">
            <a:avLst/>
          </a:prstGeom>
          <a:noFill/>
          <a:ln/>
        </p:spPr>
        <p:txBody>
          <a:bodyPr wrap="square" lIns="0" tIns="0" rIns="0" bIns="0" rtlCol="0" anchor="t"/>
          <a:lstStyle/>
          <a:p>
            <a:pPr algn="ctr" indent="0" marL="0">
              <a:buNone/>
            </a:pPr>
            <a:r>
              <a:rPr lang="en-US" sz="1100" dirty="0">
                <a:solidFill>
                  <a:srgbClr val="5B6B75"/>
                </a:solidFill>
                <a:latin typeface="Calibri" pitchFamily="34" charset="0"/>
                <a:ea typeface="Calibri" pitchFamily="34" charset="-122"/>
                <a:cs typeface="Calibri" pitchFamily="34" charset="-120"/>
              </a:rPr>
              <a:t>AMFI NAVs since 2006; NSE list and Yahoo Finance for stocks</a:t>
            </a:r>
            <a:endParaRPr lang="en-US" sz="1100" dirty="0"/>
          </a:p>
        </p:txBody>
      </p:sp>
      <p:sp>
        <p:nvSpPr>
          <p:cNvPr id="12" name="Shape 9"/>
          <p:cNvSpPr/>
          <p:nvPr/>
        </p:nvSpPr>
        <p:spPr>
          <a:xfrm>
            <a:off x="1929384" y="3040380"/>
            <a:ext cx="210312" cy="0"/>
          </a:xfrm>
          <a:prstGeom prst="line">
            <a:avLst/>
          </a:prstGeom>
          <a:noFill/>
          <a:ln w="25400">
            <a:solidFill>
              <a:srgbClr val="0E9F6E"/>
            </a:solidFill>
            <a:prstDash val="solid"/>
            <a:tailEnd type="triangle"/>
          </a:ln>
        </p:spPr>
      </p:sp>
      <p:sp>
        <p:nvSpPr>
          <p:cNvPr id="13" name="Shape 10"/>
          <p:cNvSpPr/>
          <p:nvPr/>
        </p:nvSpPr>
        <p:spPr>
          <a:xfrm>
            <a:off x="2176272" y="1691640"/>
            <a:ext cx="1344168" cy="2697480"/>
          </a:xfrm>
          <a:prstGeom prst="roundRect">
            <a:avLst>
              <a:gd name="adj" fmla="val 8163"/>
            </a:avLst>
          </a:prstGeom>
          <a:solidFill>
            <a:srgbClr val="F2F6F8"/>
          </a:solidFill>
          <a:ln w="12700">
            <a:solidFill>
              <a:srgbClr val="F2F6F8"/>
            </a:solidFill>
            <a:prstDash val="solid"/>
          </a:ln>
        </p:spPr>
      </p:sp>
      <p:sp>
        <p:nvSpPr>
          <p:cNvPr id="14" name="Shape 11"/>
          <p:cNvSpPr/>
          <p:nvPr/>
        </p:nvSpPr>
        <p:spPr>
          <a:xfrm>
            <a:off x="2574036" y="1920240"/>
            <a:ext cx="548640" cy="548640"/>
          </a:xfrm>
          <a:prstGeom prst="ellipse">
            <a:avLst/>
          </a:prstGeom>
          <a:solidFill>
            <a:srgbClr val="0E9F6E"/>
          </a:solidFill>
          <a:ln w="12700">
            <a:solidFill>
              <a:srgbClr val="0E9F6E"/>
            </a:solidFill>
            <a:prstDash val="solid"/>
          </a:ln>
        </p:spPr>
      </p:sp>
      <p:pic>
        <p:nvPicPr>
          <p:cNvPr id="15" name="Image 1" descr="preencoded.png">    </p:cNvPr>
          <p:cNvPicPr>
            <a:picLocks noChangeAspect="1"/>
          </p:cNvPicPr>
          <p:nvPr/>
        </p:nvPicPr>
        <p:blipFill>
          <a:blip r:embed="rId2"/>
          <a:stretch>
            <a:fillRect/>
          </a:stretch>
        </p:blipFill>
        <p:spPr>
          <a:xfrm>
            <a:off x="2716682" y="2062886"/>
            <a:ext cx="263347" cy="263347"/>
          </a:xfrm>
          <a:prstGeom prst="rect">
            <a:avLst/>
          </a:prstGeom>
        </p:spPr>
      </p:pic>
      <p:sp>
        <p:nvSpPr>
          <p:cNvPr id="16" name="Text 12"/>
          <p:cNvSpPr txBox="1"/>
          <p:nvPr/>
        </p:nvSpPr>
        <p:spPr>
          <a:xfrm>
            <a:off x="2176272" y="2560320"/>
            <a:ext cx="1344168" cy="256032"/>
          </a:xfrm>
          <a:prstGeom prst="rect">
            <a:avLst/>
          </a:prstGeom>
          <a:noFill/>
          <a:ln/>
        </p:spPr>
        <p:txBody>
          <a:bodyPr wrap="square" lIns="0" tIns="0" rIns="0" bIns="0" rtlCol="0" anchor="t"/>
          <a:lstStyle/>
          <a:p>
            <a:pPr algn="ctr" indent="0" marL="0">
              <a:buNone/>
            </a:pPr>
            <a:r>
              <a:rPr lang="en-US" sz="1100" b="1" dirty="0">
                <a:solidFill>
                  <a:srgbClr val="0E9F6E"/>
                </a:solidFill>
                <a:latin typeface="Calibri" pitchFamily="34" charset="0"/>
                <a:ea typeface="Calibri" pitchFamily="34" charset="-122"/>
                <a:cs typeface="Calibri" pitchFamily="34" charset="-120"/>
              </a:rPr>
              <a:t>02</a:t>
            </a:r>
            <a:endParaRPr lang="en-US" sz="1100" dirty="0"/>
          </a:p>
        </p:txBody>
      </p:sp>
      <p:sp>
        <p:nvSpPr>
          <p:cNvPr id="17" name="Text 13"/>
          <p:cNvSpPr txBox="1"/>
          <p:nvPr/>
        </p:nvSpPr>
        <p:spPr>
          <a:xfrm>
            <a:off x="2249424" y="2807208"/>
            <a:ext cx="1197864" cy="457200"/>
          </a:xfrm>
          <a:prstGeom prst="rect">
            <a:avLst/>
          </a:prstGeom>
          <a:noFill/>
          <a:ln/>
        </p:spPr>
        <p:txBody>
          <a:bodyPr wrap="square" lIns="0" tIns="0" rIns="0" bIns="0" rtlCol="0" anchor="ctr"/>
          <a:lstStyle/>
          <a:p>
            <a:pPr algn="ctr" indent="0" marL="0">
              <a:buNone/>
            </a:pPr>
            <a:r>
              <a:rPr lang="en-US" sz="1400" b="1" dirty="0">
                <a:solidFill>
                  <a:srgbClr val="0B1F2A"/>
                </a:solidFill>
                <a:latin typeface="Calibri" pitchFamily="34" charset="0"/>
                <a:ea typeface="Calibri" pitchFamily="34" charset="-122"/>
                <a:cs typeface="Calibri" pitchFamily="34" charset="-120"/>
              </a:rPr>
              <a:t>Ingestion</a:t>
            </a:r>
            <a:endParaRPr lang="en-US" sz="1400" dirty="0"/>
          </a:p>
        </p:txBody>
      </p:sp>
      <p:sp>
        <p:nvSpPr>
          <p:cNvPr id="18" name="Text 14"/>
          <p:cNvSpPr txBox="1"/>
          <p:nvPr/>
        </p:nvSpPr>
        <p:spPr>
          <a:xfrm>
            <a:off x="2286000" y="3291840"/>
            <a:ext cx="1124712" cy="1005840"/>
          </a:xfrm>
          <a:prstGeom prst="rect">
            <a:avLst/>
          </a:prstGeom>
          <a:noFill/>
          <a:ln/>
        </p:spPr>
        <p:txBody>
          <a:bodyPr wrap="square" lIns="0" tIns="0" rIns="0" bIns="0" rtlCol="0" anchor="t"/>
          <a:lstStyle/>
          <a:p>
            <a:pPr algn="ctr" indent="0" marL="0">
              <a:buNone/>
            </a:pPr>
            <a:r>
              <a:rPr lang="en-US" sz="1100" dirty="0">
                <a:solidFill>
                  <a:srgbClr val="5B6B75"/>
                </a:solidFill>
                <a:latin typeface="Calibri" pitchFamily="34" charset="0"/>
                <a:ea typeface="Calibri" pitchFamily="34" charset="-122"/>
                <a:cs typeface="Calibri" pitchFamily="34" charset="-120"/>
              </a:rPr>
              <a:t>Python downloader: resumable, logs a manifest</a:t>
            </a:r>
            <a:endParaRPr lang="en-US" sz="1100" dirty="0"/>
          </a:p>
        </p:txBody>
      </p:sp>
      <p:sp>
        <p:nvSpPr>
          <p:cNvPr id="19" name="Shape 15"/>
          <p:cNvSpPr/>
          <p:nvPr/>
        </p:nvSpPr>
        <p:spPr>
          <a:xfrm>
            <a:off x="3557016" y="3040380"/>
            <a:ext cx="210312" cy="0"/>
          </a:xfrm>
          <a:prstGeom prst="line">
            <a:avLst/>
          </a:prstGeom>
          <a:noFill/>
          <a:ln w="25400">
            <a:solidFill>
              <a:srgbClr val="0E9F6E"/>
            </a:solidFill>
            <a:prstDash val="solid"/>
            <a:tailEnd type="triangle"/>
          </a:ln>
        </p:spPr>
      </p:sp>
      <p:sp>
        <p:nvSpPr>
          <p:cNvPr id="20" name="Shape 16"/>
          <p:cNvSpPr/>
          <p:nvPr/>
        </p:nvSpPr>
        <p:spPr>
          <a:xfrm>
            <a:off x="3803904" y="1691640"/>
            <a:ext cx="1344168" cy="2697480"/>
          </a:xfrm>
          <a:prstGeom prst="roundRect">
            <a:avLst>
              <a:gd name="adj" fmla="val 8163"/>
            </a:avLst>
          </a:prstGeom>
          <a:solidFill>
            <a:srgbClr val="0B1F2A"/>
          </a:solidFill>
          <a:ln w="12700">
            <a:solidFill>
              <a:srgbClr val="0B1F2A"/>
            </a:solidFill>
            <a:prstDash val="solid"/>
          </a:ln>
          <a:effectLst>
            <a:outerShdw sx="100000" sy="100000" kx="0" ky="0" algn="bl" rotWithShape="0" blurRad="101600" dist="25400" dir="5400000">
              <a:srgbClr val="000000">
                <a:alpha val="10000"/>
              </a:srgbClr>
            </a:outerShdw>
          </a:effectLst>
        </p:spPr>
      </p:sp>
      <p:sp>
        <p:nvSpPr>
          <p:cNvPr id="21" name="Shape 17"/>
          <p:cNvSpPr/>
          <p:nvPr/>
        </p:nvSpPr>
        <p:spPr>
          <a:xfrm>
            <a:off x="4201668" y="1920240"/>
            <a:ext cx="548640" cy="548640"/>
          </a:xfrm>
          <a:prstGeom prst="ellipse">
            <a:avLst/>
          </a:prstGeom>
          <a:solidFill>
            <a:srgbClr val="0E9F6E"/>
          </a:solidFill>
          <a:ln w="12700">
            <a:solidFill>
              <a:srgbClr val="0E9F6E"/>
            </a:solidFill>
            <a:prstDash val="solid"/>
          </a:ln>
        </p:spPr>
      </p:sp>
      <p:pic>
        <p:nvPicPr>
          <p:cNvPr id="22" name="Image 2" descr="preencoded.png">    </p:cNvPr>
          <p:cNvPicPr>
            <a:picLocks noChangeAspect="1"/>
          </p:cNvPicPr>
          <p:nvPr/>
        </p:nvPicPr>
        <p:blipFill>
          <a:blip r:embed="rId3"/>
          <a:stretch>
            <a:fillRect/>
          </a:stretch>
        </p:blipFill>
        <p:spPr>
          <a:xfrm>
            <a:off x="4344314" y="2062886"/>
            <a:ext cx="263347" cy="263347"/>
          </a:xfrm>
          <a:prstGeom prst="rect">
            <a:avLst/>
          </a:prstGeom>
        </p:spPr>
      </p:pic>
      <p:sp>
        <p:nvSpPr>
          <p:cNvPr id="23" name="Text 18"/>
          <p:cNvSpPr txBox="1"/>
          <p:nvPr/>
        </p:nvSpPr>
        <p:spPr>
          <a:xfrm>
            <a:off x="3803904" y="2560320"/>
            <a:ext cx="1344168" cy="256032"/>
          </a:xfrm>
          <a:prstGeom prst="rect">
            <a:avLst/>
          </a:prstGeom>
          <a:noFill/>
          <a:ln/>
        </p:spPr>
        <p:txBody>
          <a:bodyPr wrap="square" lIns="0" tIns="0" rIns="0" bIns="0" rtlCol="0" anchor="t"/>
          <a:lstStyle/>
          <a:p>
            <a:pPr algn="ctr" indent="0" marL="0">
              <a:buNone/>
            </a:pPr>
            <a:r>
              <a:rPr lang="en-US" sz="1100" b="1" dirty="0">
                <a:solidFill>
                  <a:srgbClr val="F5A524"/>
                </a:solidFill>
                <a:latin typeface="Calibri" pitchFamily="34" charset="0"/>
                <a:ea typeface="Calibri" pitchFamily="34" charset="-122"/>
                <a:cs typeface="Calibri" pitchFamily="34" charset="-120"/>
              </a:rPr>
              <a:t>03</a:t>
            </a:r>
            <a:endParaRPr lang="en-US" sz="1100" dirty="0"/>
          </a:p>
        </p:txBody>
      </p:sp>
      <p:sp>
        <p:nvSpPr>
          <p:cNvPr id="24" name="Text 19"/>
          <p:cNvSpPr txBox="1"/>
          <p:nvPr/>
        </p:nvSpPr>
        <p:spPr>
          <a:xfrm>
            <a:off x="3877056" y="2807208"/>
            <a:ext cx="1197864"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Data lake</a:t>
            </a:r>
            <a:endParaRPr lang="en-US" sz="1400" dirty="0"/>
          </a:p>
        </p:txBody>
      </p:sp>
      <p:sp>
        <p:nvSpPr>
          <p:cNvPr id="25" name="Text 20"/>
          <p:cNvSpPr txBox="1"/>
          <p:nvPr/>
        </p:nvSpPr>
        <p:spPr>
          <a:xfrm>
            <a:off x="3913632" y="3291840"/>
            <a:ext cx="1124712" cy="1005840"/>
          </a:xfrm>
          <a:prstGeom prst="rect">
            <a:avLst/>
          </a:prstGeom>
          <a:noFill/>
          <a:ln/>
        </p:spPr>
        <p:txBody>
          <a:bodyPr wrap="square" lIns="0" tIns="0" rIns="0" bIns="0" rtlCol="0" anchor="t"/>
          <a:lstStyle/>
          <a:p>
            <a:pPr algn="ctr" indent="0" marL="0">
              <a:buNone/>
            </a:pPr>
            <a:r>
              <a:rPr lang="en-US" sz="1100" dirty="0">
                <a:solidFill>
                  <a:srgbClr val="B8C7CF"/>
                </a:solidFill>
                <a:latin typeface="Calibri" pitchFamily="34" charset="0"/>
                <a:ea typeface="Calibri" pitchFamily="34" charset="-122"/>
                <a:cs typeface="Calibri" pitchFamily="34" charset="-120"/>
              </a:rPr>
              <a:t>HDFS on Hadoop 3.4.3, Parquet, Bronze → Silver → Gold</a:t>
            </a:r>
            <a:endParaRPr lang="en-US" sz="1100" dirty="0"/>
          </a:p>
        </p:txBody>
      </p:sp>
      <p:sp>
        <p:nvSpPr>
          <p:cNvPr id="26" name="Shape 21"/>
          <p:cNvSpPr/>
          <p:nvPr/>
        </p:nvSpPr>
        <p:spPr>
          <a:xfrm>
            <a:off x="5184648" y="3040380"/>
            <a:ext cx="210312" cy="0"/>
          </a:xfrm>
          <a:prstGeom prst="line">
            <a:avLst/>
          </a:prstGeom>
          <a:noFill/>
          <a:ln w="25400">
            <a:solidFill>
              <a:srgbClr val="0E9F6E"/>
            </a:solidFill>
            <a:prstDash val="solid"/>
            <a:tailEnd type="triangle"/>
          </a:ln>
        </p:spPr>
      </p:sp>
      <p:sp>
        <p:nvSpPr>
          <p:cNvPr id="27" name="Shape 22"/>
          <p:cNvSpPr/>
          <p:nvPr/>
        </p:nvSpPr>
        <p:spPr>
          <a:xfrm>
            <a:off x="5431536" y="1691640"/>
            <a:ext cx="1344168" cy="2697480"/>
          </a:xfrm>
          <a:prstGeom prst="roundRect">
            <a:avLst>
              <a:gd name="adj" fmla="val 8163"/>
            </a:avLst>
          </a:prstGeom>
          <a:solidFill>
            <a:srgbClr val="0B1F2A"/>
          </a:solidFill>
          <a:ln w="12700">
            <a:solidFill>
              <a:srgbClr val="0B1F2A"/>
            </a:solidFill>
            <a:prstDash val="solid"/>
          </a:ln>
          <a:effectLst>
            <a:outerShdw sx="100000" sy="100000" kx="0" ky="0" algn="bl" rotWithShape="0" blurRad="101600" dist="25400" dir="5400000">
              <a:srgbClr val="000000">
                <a:alpha val="10000"/>
              </a:srgbClr>
            </a:outerShdw>
          </a:effectLst>
        </p:spPr>
      </p:sp>
      <p:sp>
        <p:nvSpPr>
          <p:cNvPr id="28" name="Shape 23"/>
          <p:cNvSpPr/>
          <p:nvPr/>
        </p:nvSpPr>
        <p:spPr>
          <a:xfrm>
            <a:off x="5829300" y="1920240"/>
            <a:ext cx="548640" cy="548640"/>
          </a:xfrm>
          <a:prstGeom prst="ellipse">
            <a:avLst/>
          </a:prstGeom>
          <a:solidFill>
            <a:srgbClr val="0E9F6E"/>
          </a:solidFill>
          <a:ln w="12700">
            <a:solidFill>
              <a:srgbClr val="0E9F6E"/>
            </a:solidFill>
            <a:prstDash val="solid"/>
          </a:ln>
        </p:spPr>
      </p:sp>
      <p:pic>
        <p:nvPicPr>
          <p:cNvPr id="29" name="Image 3" descr="preencoded.png">    </p:cNvPr>
          <p:cNvPicPr>
            <a:picLocks noChangeAspect="1"/>
          </p:cNvPicPr>
          <p:nvPr/>
        </p:nvPicPr>
        <p:blipFill>
          <a:blip r:embed="rId4"/>
          <a:stretch>
            <a:fillRect/>
          </a:stretch>
        </p:blipFill>
        <p:spPr>
          <a:xfrm>
            <a:off x="5971946" y="2062886"/>
            <a:ext cx="263347" cy="263347"/>
          </a:xfrm>
          <a:prstGeom prst="rect">
            <a:avLst/>
          </a:prstGeom>
        </p:spPr>
      </p:pic>
      <p:sp>
        <p:nvSpPr>
          <p:cNvPr id="30" name="Text 24"/>
          <p:cNvSpPr txBox="1"/>
          <p:nvPr/>
        </p:nvSpPr>
        <p:spPr>
          <a:xfrm>
            <a:off x="5431536" y="2560320"/>
            <a:ext cx="1344168" cy="256032"/>
          </a:xfrm>
          <a:prstGeom prst="rect">
            <a:avLst/>
          </a:prstGeom>
          <a:noFill/>
          <a:ln/>
        </p:spPr>
        <p:txBody>
          <a:bodyPr wrap="square" lIns="0" tIns="0" rIns="0" bIns="0" rtlCol="0" anchor="t"/>
          <a:lstStyle/>
          <a:p>
            <a:pPr algn="ctr" indent="0" marL="0">
              <a:buNone/>
            </a:pPr>
            <a:r>
              <a:rPr lang="en-US" sz="1100" b="1" dirty="0">
                <a:solidFill>
                  <a:srgbClr val="F5A524"/>
                </a:solidFill>
                <a:latin typeface="Calibri" pitchFamily="34" charset="0"/>
                <a:ea typeface="Calibri" pitchFamily="34" charset="-122"/>
                <a:cs typeface="Calibri" pitchFamily="34" charset="-120"/>
              </a:rPr>
              <a:t>04</a:t>
            </a:r>
            <a:endParaRPr lang="en-US" sz="1100" dirty="0"/>
          </a:p>
        </p:txBody>
      </p:sp>
      <p:sp>
        <p:nvSpPr>
          <p:cNvPr id="31" name="Text 25"/>
          <p:cNvSpPr txBox="1"/>
          <p:nvPr/>
        </p:nvSpPr>
        <p:spPr>
          <a:xfrm>
            <a:off x="5504688" y="2807208"/>
            <a:ext cx="1197864"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Processing</a:t>
            </a:r>
            <a:endParaRPr lang="en-US" sz="1400" dirty="0"/>
          </a:p>
        </p:txBody>
      </p:sp>
      <p:sp>
        <p:nvSpPr>
          <p:cNvPr id="32" name="Text 26"/>
          <p:cNvSpPr txBox="1"/>
          <p:nvPr/>
        </p:nvSpPr>
        <p:spPr>
          <a:xfrm>
            <a:off x="5541264" y="3291840"/>
            <a:ext cx="1124712" cy="1005840"/>
          </a:xfrm>
          <a:prstGeom prst="rect">
            <a:avLst/>
          </a:prstGeom>
          <a:noFill/>
          <a:ln/>
        </p:spPr>
        <p:txBody>
          <a:bodyPr wrap="square" lIns="0" tIns="0" rIns="0" bIns="0" rtlCol="0" anchor="t"/>
          <a:lstStyle/>
          <a:p>
            <a:pPr algn="ctr" indent="0" marL="0">
              <a:buNone/>
            </a:pPr>
            <a:r>
              <a:rPr lang="en-US" sz="1100" dirty="0">
                <a:solidFill>
                  <a:srgbClr val="B8C7CF"/>
                </a:solidFill>
                <a:latin typeface="Calibri" pitchFamily="34" charset="0"/>
                <a:ea typeface="Calibri" pitchFamily="34" charset="-122"/>
                <a:cs typeface="Calibri" pitchFamily="34" charset="-120"/>
              </a:rPr>
              <a:t>Apache Spark 3.5 (PySpark): four spark-submit jobs</a:t>
            </a:r>
            <a:endParaRPr lang="en-US" sz="1100" dirty="0"/>
          </a:p>
        </p:txBody>
      </p:sp>
      <p:sp>
        <p:nvSpPr>
          <p:cNvPr id="33" name="Shape 27"/>
          <p:cNvSpPr/>
          <p:nvPr/>
        </p:nvSpPr>
        <p:spPr>
          <a:xfrm>
            <a:off x="6812280" y="3040380"/>
            <a:ext cx="210312" cy="0"/>
          </a:xfrm>
          <a:prstGeom prst="line">
            <a:avLst/>
          </a:prstGeom>
          <a:noFill/>
          <a:ln w="25400">
            <a:solidFill>
              <a:srgbClr val="0E9F6E"/>
            </a:solidFill>
            <a:prstDash val="solid"/>
            <a:tailEnd type="triangle"/>
          </a:ln>
        </p:spPr>
      </p:sp>
      <p:sp>
        <p:nvSpPr>
          <p:cNvPr id="34" name="Shape 28"/>
          <p:cNvSpPr/>
          <p:nvPr/>
        </p:nvSpPr>
        <p:spPr>
          <a:xfrm>
            <a:off x="7059168" y="1691640"/>
            <a:ext cx="1344168" cy="2697480"/>
          </a:xfrm>
          <a:prstGeom prst="roundRect">
            <a:avLst>
              <a:gd name="adj" fmla="val 8163"/>
            </a:avLst>
          </a:prstGeom>
          <a:solidFill>
            <a:srgbClr val="F2F6F8"/>
          </a:solidFill>
          <a:ln w="12700">
            <a:solidFill>
              <a:srgbClr val="F2F6F8"/>
            </a:solidFill>
            <a:prstDash val="solid"/>
          </a:ln>
        </p:spPr>
      </p:sp>
      <p:sp>
        <p:nvSpPr>
          <p:cNvPr id="35" name="Shape 29"/>
          <p:cNvSpPr/>
          <p:nvPr/>
        </p:nvSpPr>
        <p:spPr>
          <a:xfrm>
            <a:off x="7456932" y="1920240"/>
            <a:ext cx="548640" cy="548640"/>
          </a:xfrm>
          <a:prstGeom prst="ellipse">
            <a:avLst/>
          </a:prstGeom>
          <a:solidFill>
            <a:srgbClr val="0E9F6E"/>
          </a:solidFill>
          <a:ln w="12700">
            <a:solidFill>
              <a:srgbClr val="0E9F6E"/>
            </a:solidFill>
            <a:prstDash val="solid"/>
          </a:ln>
        </p:spPr>
      </p:sp>
      <p:pic>
        <p:nvPicPr>
          <p:cNvPr id="36" name="Image 4" descr="preencoded.png">    </p:cNvPr>
          <p:cNvPicPr>
            <a:picLocks noChangeAspect="1"/>
          </p:cNvPicPr>
          <p:nvPr/>
        </p:nvPicPr>
        <p:blipFill>
          <a:blip r:embed="rId5"/>
          <a:stretch>
            <a:fillRect/>
          </a:stretch>
        </p:blipFill>
        <p:spPr>
          <a:xfrm>
            <a:off x="7599578" y="2062886"/>
            <a:ext cx="263347" cy="263347"/>
          </a:xfrm>
          <a:prstGeom prst="rect">
            <a:avLst/>
          </a:prstGeom>
        </p:spPr>
      </p:pic>
      <p:sp>
        <p:nvSpPr>
          <p:cNvPr id="37" name="Text 30"/>
          <p:cNvSpPr txBox="1"/>
          <p:nvPr/>
        </p:nvSpPr>
        <p:spPr>
          <a:xfrm>
            <a:off x="7059168" y="2560320"/>
            <a:ext cx="1344168" cy="256032"/>
          </a:xfrm>
          <a:prstGeom prst="rect">
            <a:avLst/>
          </a:prstGeom>
          <a:noFill/>
          <a:ln/>
        </p:spPr>
        <p:txBody>
          <a:bodyPr wrap="square" lIns="0" tIns="0" rIns="0" bIns="0" rtlCol="0" anchor="t"/>
          <a:lstStyle/>
          <a:p>
            <a:pPr algn="ctr" indent="0" marL="0">
              <a:buNone/>
            </a:pPr>
            <a:r>
              <a:rPr lang="en-US" sz="1100" b="1" dirty="0">
                <a:solidFill>
                  <a:srgbClr val="0E9F6E"/>
                </a:solidFill>
                <a:latin typeface="Calibri" pitchFamily="34" charset="0"/>
                <a:ea typeface="Calibri" pitchFamily="34" charset="-122"/>
                <a:cs typeface="Calibri" pitchFamily="34" charset="-120"/>
              </a:rPr>
              <a:t>05</a:t>
            </a:r>
            <a:endParaRPr lang="en-US" sz="1100" dirty="0"/>
          </a:p>
        </p:txBody>
      </p:sp>
      <p:sp>
        <p:nvSpPr>
          <p:cNvPr id="38" name="Text 31"/>
          <p:cNvSpPr txBox="1"/>
          <p:nvPr/>
        </p:nvSpPr>
        <p:spPr>
          <a:xfrm>
            <a:off x="7132320" y="2807208"/>
            <a:ext cx="1197864" cy="457200"/>
          </a:xfrm>
          <a:prstGeom prst="rect">
            <a:avLst/>
          </a:prstGeom>
          <a:noFill/>
          <a:ln/>
        </p:spPr>
        <p:txBody>
          <a:bodyPr wrap="square" lIns="0" tIns="0" rIns="0" bIns="0" rtlCol="0" anchor="ctr"/>
          <a:lstStyle/>
          <a:p>
            <a:pPr algn="ctr" indent="0" marL="0">
              <a:buNone/>
            </a:pPr>
            <a:r>
              <a:rPr lang="en-US" sz="1400" b="1" dirty="0">
                <a:solidFill>
                  <a:srgbClr val="0B1F2A"/>
                </a:solidFill>
                <a:latin typeface="Calibri" pitchFamily="34" charset="0"/>
                <a:ea typeface="Calibri" pitchFamily="34" charset="-122"/>
                <a:cs typeface="Calibri" pitchFamily="34" charset="-120"/>
              </a:rPr>
              <a:t>Analytics &amp; ML</a:t>
            </a:r>
            <a:endParaRPr lang="en-US" sz="1400" dirty="0"/>
          </a:p>
        </p:txBody>
      </p:sp>
      <p:sp>
        <p:nvSpPr>
          <p:cNvPr id="39" name="Text 32"/>
          <p:cNvSpPr txBox="1"/>
          <p:nvPr/>
        </p:nvSpPr>
        <p:spPr>
          <a:xfrm>
            <a:off x="7168896" y="3291840"/>
            <a:ext cx="1124712" cy="1005840"/>
          </a:xfrm>
          <a:prstGeom prst="rect">
            <a:avLst/>
          </a:prstGeom>
          <a:noFill/>
          <a:ln/>
        </p:spPr>
        <p:txBody>
          <a:bodyPr wrap="square" lIns="0" tIns="0" rIns="0" bIns="0" rtlCol="0" anchor="t"/>
          <a:lstStyle/>
          <a:p>
            <a:pPr algn="ctr" indent="0" marL="0">
              <a:buNone/>
            </a:pPr>
            <a:r>
              <a:rPr lang="en-US" sz="1100" dirty="0">
                <a:solidFill>
                  <a:srgbClr val="5B6B75"/>
                </a:solidFill>
                <a:latin typeface="Calibri" pitchFamily="34" charset="0"/>
                <a:ea typeface="Calibri" pitchFamily="34" charset="-122"/>
                <a:cs typeface="Calibri" pitchFamily="34" charset="-120"/>
              </a:rPr>
              <a:t>Risk metrics, risk score, Spark MLlib, ARIMA</a:t>
            </a:r>
            <a:endParaRPr lang="en-US" sz="1100" dirty="0"/>
          </a:p>
        </p:txBody>
      </p:sp>
      <p:sp>
        <p:nvSpPr>
          <p:cNvPr id="40" name="Shape 33"/>
          <p:cNvSpPr/>
          <p:nvPr/>
        </p:nvSpPr>
        <p:spPr>
          <a:xfrm>
            <a:off x="8439912" y="3040380"/>
            <a:ext cx="210312" cy="0"/>
          </a:xfrm>
          <a:prstGeom prst="line">
            <a:avLst/>
          </a:prstGeom>
          <a:noFill/>
          <a:ln w="25400">
            <a:solidFill>
              <a:srgbClr val="0E9F6E"/>
            </a:solidFill>
            <a:prstDash val="solid"/>
            <a:tailEnd type="triangle"/>
          </a:ln>
        </p:spPr>
      </p:sp>
      <p:sp>
        <p:nvSpPr>
          <p:cNvPr id="41" name="Shape 34"/>
          <p:cNvSpPr/>
          <p:nvPr/>
        </p:nvSpPr>
        <p:spPr>
          <a:xfrm>
            <a:off x="8686800" y="1691640"/>
            <a:ext cx="1344168" cy="2697480"/>
          </a:xfrm>
          <a:prstGeom prst="roundRect">
            <a:avLst>
              <a:gd name="adj" fmla="val 8163"/>
            </a:avLst>
          </a:prstGeom>
          <a:solidFill>
            <a:srgbClr val="F2F6F8"/>
          </a:solidFill>
          <a:ln w="12700">
            <a:solidFill>
              <a:srgbClr val="F2F6F8"/>
            </a:solidFill>
            <a:prstDash val="solid"/>
          </a:ln>
        </p:spPr>
      </p:sp>
      <p:sp>
        <p:nvSpPr>
          <p:cNvPr id="42" name="Shape 35"/>
          <p:cNvSpPr/>
          <p:nvPr/>
        </p:nvSpPr>
        <p:spPr>
          <a:xfrm>
            <a:off x="9084564" y="1920240"/>
            <a:ext cx="548640" cy="548640"/>
          </a:xfrm>
          <a:prstGeom prst="ellipse">
            <a:avLst/>
          </a:prstGeom>
          <a:solidFill>
            <a:srgbClr val="0E9F6E"/>
          </a:solidFill>
          <a:ln w="12700">
            <a:solidFill>
              <a:srgbClr val="0E9F6E"/>
            </a:solidFill>
            <a:prstDash val="solid"/>
          </a:ln>
        </p:spPr>
      </p:sp>
      <p:pic>
        <p:nvPicPr>
          <p:cNvPr id="43" name="Image 5" descr="preencoded.png">    </p:cNvPr>
          <p:cNvPicPr>
            <a:picLocks noChangeAspect="1"/>
          </p:cNvPicPr>
          <p:nvPr/>
        </p:nvPicPr>
        <p:blipFill>
          <a:blip r:embed="rId6"/>
          <a:stretch>
            <a:fillRect/>
          </a:stretch>
        </p:blipFill>
        <p:spPr>
          <a:xfrm>
            <a:off x="9227210" y="2062886"/>
            <a:ext cx="263347" cy="263347"/>
          </a:xfrm>
          <a:prstGeom prst="rect">
            <a:avLst/>
          </a:prstGeom>
        </p:spPr>
      </p:pic>
      <p:sp>
        <p:nvSpPr>
          <p:cNvPr id="44" name="Text 36"/>
          <p:cNvSpPr txBox="1"/>
          <p:nvPr/>
        </p:nvSpPr>
        <p:spPr>
          <a:xfrm>
            <a:off x="8686800" y="2560320"/>
            <a:ext cx="1344168" cy="256032"/>
          </a:xfrm>
          <a:prstGeom prst="rect">
            <a:avLst/>
          </a:prstGeom>
          <a:noFill/>
          <a:ln/>
        </p:spPr>
        <p:txBody>
          <a:bodyPr wrap="square" lIns="0" tIns="0" rIns="0" bIns="0" rtlCol="0" anchor="t"/>
          <a:lstStyle/>
          <a:p>
            <a:pPr algn="ctr" indent="0" marL="0">
              <a:buNone/>
            </a:pPr>
            <a:r>
              <a:rPr lang="en-US" sz="1100" b="1" dirty="0">
                <a:solidFill>
                  <a:srgbClr val="0E9F6E"/>
                </a:solidFill>
                <a:latin typeface="Calibri" pitchFamily="34" charset="0"/>
                <a:ea typeface="Calibri" pitchFamily="34" charset="-122"/>
                <a:cs typeface="Calibri" pitchFamily="34" charset="-120"/>
              </a:rPr>
              <a:t>06</a:t>
            </a:r>
            <a:endParaRPr lang="en-US" sz="1100" dirty="0"/>
          </a:p>
        </p:txBody>
      </p:sp>
      <p:sp>
        <p:nvSpPr>
          <p:cNvPr id="45" name="Text 37"/>
          <p:cNvSpPr txBox="1"/>
          <p:nvPr/>
        </p:nvSpPr>
        <p:spPr>
          <a:xfrm>
            <a:off x="8759952" y="2807208"/>
            <a:ext cx="1197864" cy="457200"/>
          </a:xfrm>
          <a:prstGeom prst="rect">
            <a:avLst/>
          </a:prstGeom>
          <a:noFill/>
          <a:ln/>
        </p:spPr>
        <p:txBody>
          <a:bodyPr wrap="square" lIns="0" tIns="0" rIns="0" bIns="0" rtlCol="0" anchor="ctr"/>
          <a:lstStyle/>
          <a:p>
            <a:pPr algn="ctr" indent="0" marL="0">
              <a:buNone/>
            </a:pPr>
            <a:r>
              <a:rPr lang="en-US" sz="1400" b="1" dirty="0">
                <a:solidFill>
                  <a:srgbClr val="0B1F2A"/>
                </a:solidFill>
                <a:latin typeface="Calibri" pitchFamily="34" charset="0"/>
                <a:ea typeface="Calibri" pitchFamily="34" charset="-122"/>
                <a:cs typeface="Calibri" pitchFamily="34" charset="-120"/>
              </a:rPr>
              <a:t>Serving</a:t>
            </a:r>
            <a:endParaRPr lang="en-US" sz="1400" dirty="0"/>
          </a:p>
        </p:txBody>
      </p:sp>
      <p:sp>
        <p:nvSpPr>
          <p:cNvPr id="46" name="Text 38"/>
          <p:cNvSpPr txBox="1"/>
          <p:nvPr/>
        </p:nvSpPr>
        <p:spPr>
          <a:xfrm>
            <a:off x="8796528" y="3291840"/>
            <a:ext cx="1124712" cy="1005840"/>
          </a:xfrm>
          <a:prstGeom prst="rect">
            <a:avLst/>
          </a:prstGeom>
          <a:noFill/>
          <a:ln/>
        </p:spPr>
        <p:txBody>
          <a:bodyPr wrap="square" lIns="0" tIns="0" rIns="0" bIns="0" rtlCol="0" anchor="t"/>
          <a:lstStyle/>
          <a:p>
            <a:pPr algn="ctr" indent="0" marL="0">
              <a:buNone/>
            </a:pPr>
            <a:r>
              <a:rPr lang="en-US" sz="1100" dirty="0">
                <a:solidFill>
                  <a:srgbClr val="5B6B75"/>
                </a:solidFill>
                <a:latin typeface="Calibri" pitchFamily="34" charset="0"/>
                <a:ea typeface="Calibri" pitchFamily="34" charset="-122"/>
                <a:cs typeface="Calibri" pitchFamily="34" charset="-120"/>
              </a:rPr>
              <a:t>FastAPI: 15 endpoints behind an X-API-Key header</a:t>
            </a:r>
            <a:endParaRPr lang="en-US" sz="1100" dirty="0"/>
          </a:p>
        </p:txBody>
      </p:sp>
      <p:sp>
        <p:nvSpPr>
          <p:cNvPr id="47" name="Shape 39"/>
          <p:cNvSpPr/>
          <p:nvPr/>
        </p:nvSpPr>
        <p:spPr>
          <a:xfrm>
            <a:off x="10067544" y="3040380"/>
            <a:ext cx="210312" cy="0"/>
          </a:xfrm>
          <a:prstGeom prst="line">
            <a:avLst/>
          </a:prstGeom>
          <a:noFill/>
          <a:ln w="25400">
            <a:solidFill>
              <a:srgbClr val="0E9F6E"/>
            </a:solidFill>
            <a:prstDash val="solid"/>
            <a:tailEnd type="triangle"/>
          </a:ln>
        </p:spPr>
      </p:sp>
      <p:sp>
        <p:nvSpPr>
          <p:cNvPr id="48" name="Shape 40"/>
          <p:cNvSpPr/>
          <p:nvPr/>
        </p:nvSpPr>
        <p:spPr>
          <a:xfrm>
            <a:off x="10314432" y="1691640"/>
            <a:ext cx="1344168" cy="2697480"/>
          </a:xfrm>
          <a:prstGeom prst="roundRect">
            <a:avLst>
              <a:gd name="adj" fmla="val 8163"/>
            </a:avLst>
          </a:prstGeom>
          <a:solidFill>
            <a:srgbClr val="F2F6F8"/>
          </a:solidFill>
          <a:ln w="12700">
            <a:solidFill>
              <a:srgbClr val="F2F6F8"/>
            </a:solidFill>
            <a:prstDash val="solid"/>
          </a:ln>
        </p:spPr>
      </p:sp>
      <p:sp>
        <p:nvSpPr>
          <p:cNvPr id="49" name="Shape 41"/>
          <p:cNvSpPr/>
          <p:nvPr/>
        </p:nvSpPr>
        <p:spPr>
          <a:xfrm>
            <a:off x="10712196" y="1920240"/>
            <a:ext cx="548640" cy="548640"/>
          </a:xfrm>
          <a:prstGeom prst="ellipse">
            <a:avLst/>
          </a:prstGeom>
          <a:solidFill>
            <a:srgbClr val="F5A524"/>
          </a:solidFill>
          <a:ln w="12700">
            <a:solidFill>
              <a:srgbClr val="F5A524"/>
            </a:solidFill>
            <a:prstDash val="solid"/>
          </a:ln>
        </p:spPr>
      </p:sp>
      <p:pic>
        <p:nvPicPr>
          <p:cNvPr id="50" name="Image 6" descr="preencoded.png">    </p:cNvPr>
          <p:cNvPicPr>
            <a:picLocks noChangeAspect="1"/>
          </p:cNvPicPr>
          <p:nvPr/>
        </p:nvPicPr>
        <p:blipFill>
          <a:blip r:embed="rId7"/>
          <a:stretch>
            <a:fillRect/>
          </a:stretch>
        </p:blipFill>
        <p:spPr>
          <a:xfrm>
            <a:off x="10854842" y="2062886"/>
            <a:ext cx="263347" cy="263347"/>
          </a:xfrm>
          <a:prstGeom prst="rect">
            <a:avLst/>
          </a:prstGeom>
        </p:spPr>
      </p:pic>
      <p:sp>
        <p:nvSpPr>
          <p:cNvPr id="51" name="Text 42"/>
          <p:cNvSpPr txBox="1"/>
          <p:nvPr/>
        </p:nvSpPr>
        <p:spPr>
          <a:xfrm>
            <a:off x="10314432" y="2560320"/>
            <a:ext cx="1344168" cy="256032"/>
          </a:xfrm>
          <a:prstGeom prst="rect">
            <a:avLst/>
          </a:prstGeom>
          <a:noFill/>
          <a:ln/>
        </p:spPr>
        <p:txBody>
          <a:bodyPr wrap="square" lIns="0" tIns="0" rIns="0" bIns="0" rtlCol="0" anchor="t"/>
          <a:lstStyle/>
          <a:p>
            <a:pPr algn="ctr" indent="0" marL="0">
              <a:buNone/>
            </a:pPr>
            <a:r>
              <a:rPr lang="en-US" sz="1100" b="1" dirty="0">
                <a:solidFill>
                  <a:srgbClr val="0E9F6E"/>
                </a:solidFill>
                <a:latin typeface="Calibri" pitchFamily="34" charset="0"/>
                <a:ea typeface="Calibri" pitchFamily="34" charset="-122"/>
                <a:cs typeface="Calibri" pitchFamily="34" charset="-120"/>
              </a:rPr>
              <a:t>07</a:t>
            </a:r>
            <a:endParaRPr lang="en-US" sz="1100" dirty="0"/>
          </a:p>
        </p:txBody>
      </p:sp>
      <p:sp>
        <p:nvSpPr>
          <p:cNvPr id="52" name="Text 43"/>
          <p:cNvSpPr txBox="1"/>
          <p:nvPr/>
        </p:nvSpPr>
        <p:spPr>
          <a:xfrm>
            <a:off x="10387584" y="2807208"/>
            <a:ext cx="1197864" cy="457200"/>
          </a:xfrm>
          <a:prstGeom prst="rect">
            <a:avLst/>
          </a:prstGeom>
          <a:noFill/>
          <a:ln/>
        </p:spPr>
        <p:txBody>
          <a:bodyPr wrap="square" lIns="0" tIns="0" rIns="0" bIns="0" rtlCol="0" anchor="ctr"/>
          <a:lstStyle/>
          <a:p>
            <a:pPr algn="ctr" indent="0" marL="0">
              <a:buNone/>
            </a:pPr>
            <a:r>
              <a:rPr lang="en-US" sz="1400" b="1" dirty="0">
                <a:solidFill>
                  <a:srgbClr val="0B1F2A"/>
                </a:solidFill>
                <a:latin typeface="Calibri" pitchFamily="34" charset="0"/>
                <a:ea typeface="Calibri" pitchFamily="34" charset="-122"/>
                <a:cs typeface="Calibri" pitchFamily="34" charset="-120"/>
              </a:rPr>
              <a:t>Visualization</a:t>
            </a:r>
            <a:endParaRPr lang="en-US" sz="1400" dirty="0"/>
          </a:p>
        </p:txBody>
      </p:sp>
      <p:sp>
        <p:nvSpPr>
          <p:cNvPr id="53" name="Text 44"/>
          <p:cNvSpPr txBox="1"/>
          <p:nvPr/>
        </p:nvSpPr>
        <p:spPr>
          <a:xfrm>
            <a:off x="10424160" y="3291840"/>
            <a:ext cx="1124712" cy="1005840"/>
          </a:xfrm>
          <a:prstGeom prst="rect">
            <a:avLst/>
          </a:prstGeom>
          <a:noFill/>
          <a:ln/>
        </p:spPr>
        <p:txBody>
          <a:bodyPr wrap="square" lIns="0" tIns="0" rIns="0" bIns="0" rtlCol="0" anchor="t"/>
          <a:lstStyle/>
          <a:p>
            <a:pPr algn="ctr" indent="0" marL="0">
              <a:buNone/>
            </a:pPr>
            <a:r>
              <a:rPr lang="en-US" sz="1100" dirty="0">
                <a:solidFill>
                  <a:srgbClr val="5B6B75"/>
                </a:solidFill>
                <a:latin typeface="Calibri" pitchFamily="34" charset="0"/>
                <a:ea typeface="Calibri" pitchFamily="34" charset="-122"/>
                <a:cs typeface="Calibri" pitchFamily="34" charset="-120"/>
              </a:rPr>
              <a:t>A website and a four-page Power BI dashboard</a:t>
            </a:r>
            <a:endParaRPr lang="en-US" sz="1100" dirty="0"/>
          </a:p>
        </p:txBody>
      </p:sp>
      <p:sp>
        <p:nvSpPr>
          <p:cNvPr id="54" name="Text 45"/>
          <p:cNvSpPr txBox="1"/>
          <p:nvPr/>
        </p:nvSpPr>
        <p:spPr>
          <a:xfrm>
            <a:off x="3803904" y="4462272"/>
            <a:ext cx="2971800" cy="274320"/>
          </a:xfrm>
          <a:prstGeom prst="rect">
            <a:avLst/>
          </a:prstGeom>
          <a:noFill/>
          <a:ln/>
        </p:spPr>
        <p:txBody>
          <a:bodyPr wrap="square" lIns="0" tIns="0" rIns="0" bIns="0" rtlCol="0" anchor="t"/>
          <a:lstStyle/>
          <a:p>
            <a:pPr algn="ctr" indent="0" marL="0">
              <a:buNone/>
            </a:pPr>
            <a:r>
              <a:rPr lang="en-US" sz="1000" b="1" spc="300" kern="0" dirty="0">
                <a:solidFill>
                  <a:srgbClr val="0E9F6E"/>
                </a:solidFill>
                <a:latin typeface="Calibri" pitchFamily="34" charset="0"/>
                <a:ea typeface="Calibri" pitchFamily="34" charset="-122"/>
                <a:cs typeface="Calibri" pitchFamily="34" charset="-120"/>
              </a:rPr>
              <a:t>BIG DATA CORE</a:t>
            </a:r>
            <a:endParaRPr lang="en-US" sz="1000" dirty="0"/>
          </a:p>
        </p:txBody>
      </p:sp>
      <p:sp>
        <p:nvSpPr>
          <p:cNvPr id="55" name="Shape 46"/>
          <p:cNvSpPr/>
          <p:nvPr/>
        </p:nvSpPr>
        <p:spPr>
          <a:xfrm>
            <a:off x="548640" y="4846320"/>
            <a:ext cx="3520440" cy="1234440"/>
          </a:xfrm>
          <a:prstGeom prst="roundRect">
            <a:avLst>
              <a:gd name="adj" fmla="val 8889"/>
            </a:avLst>
          </a:prstGeom>
          <a:solidFill>
            <a:srgbClr val="E6F5EE"/>
          </a:solidFill>
          <a:ln w="12700">
            <a:solidFill>
              <a:srgbClr val="E6F5EE"/>
            </a:solidFill>
            <a:prstDash val="solid"/>
          </a:ln>
        </p:spPr>
      </p:sp>
      <p:sp>
        <p:nvSpPr>
          <p:cNvPr id="56" name="Shape 47"/>
          <p:cNvSpPr/>
          <p:nvPr/>
        </p:nvSpPr>
        <p:spPr>
          <a:xfrm>
            <a:off x="777240" y="5148072"/>
            <a:ext cx="566928" cy="566928"/>
          </a:xfrm>
          <a:prstGeom prst="ellipse">
            <a:avLst/>
          </a:prstGeom>
          <a:solidFill>
            <a:srgbClr val="0E9F6E"/>
          </a:solidFill>
          <a:ln w="12700">
            <a:solidFill>
              <a:srgbClr val="0E9F6E"/>
            </a:solidFill>
            <a:prstDash val="solid"/>
          </a:ln>
        </p:spPr>
      </p:sp>
      <p:pic>
        <p:nvPicPr>
          <p:cNvPr id="57" name="Image 7" descr="preencoded.png">    </p:cNvPr>
          <p:cNvPicPr>
            <a:picLocks noChangeAspect="1"/>
          </p:cNvPicPr>
          <p:nvPr/>
        </p:nvPicPr>
        <p:blipFill>
          <a:blip r:embed="rId8"/>
          <a:stretch>
            <a:fillRect/>
          </a:stretch>
        </p:blipFill>
        <p:spPr>
          <a:xfrm>
            <a:off x="924641" y="5295473"/>
            <a:ext cx="272125" cy="272125"/>
          </a:xfrm>
          <a:prstGeom prst="rect">
            <a:avLst/>
          </a:prstGeom>
        </p:spPr>
      </p:pic>
      <p:sp>
        <p:nvSpPr>
          <p:cNvPr id="58" name="Text 48"/>
          <p:cNvSpPr txBox="1"/>
          <p:nvPr/>
        </p:nvSpPr>
        <p:spPr>
          <a:xfrm>
            <a:off x="1508760" y="5029200"/>
            <a:ext cx="2377440" cy="320040"/>
          </a:xfrm>
          <a:prstGeom prst="rect">
            <a:avLst/>
          </a:prstGeom>
          <a:noFill/>
          <a:ln/>
        </p:spPr>
        <p:txBody>
          <a:bodyPr wrap="square" lIns="0" tIns="0" rIns="0" bIns="0" rtlCol="0" anchor="t"/>
          <a:lstStyle/>
          <a:p>
            <a:pPr indent="0" marL="0">
              <a:buNone/>
            </a:pPr>
            <a:r>
              <a:rPr lang="en-US" sz="1400" b="1" dirty="0">
                <a:solidFill>
                  <a:srgbClr val="0B1F2A"/>
                </a:solidFill>
                <a:latin typeface="Calibri" pitchFamily="34" charset="0"/>
                <a:ea typeface="Calibri" pitchFamily="34" charset="-122"/>
                <a:cs typeface="Calibri" pitchFamily="34" charset="-120"/>
              </a:rPr>
              <a:t>Repeatable run order</a:t>
            </a:r>
            <a:endParaRPr lang="en-US" sz="1400" dirty="0"/>
          </a:p>
        </p:txBody>
      </p:sp>
      <p:sp>
        <p:nvSpPr>
          <p:cNvPr id="59" name="Text 49"/>
          <p:cNvSpPr txBox="1"/>
          <p:nvPr/>
        </p:nvSpPr>
        <p:spPr>
          <a:xfrm>
            <a:off x="1508760" y="5349240"/>
            <a:ext cx="2423160" cy="658368"/>
          </a:xfrm>
          <a:prstGeom prst="rect">
            <a:avLst/>
          </a:prstGeom>
          <a:noFill/>
          <a:ln/>
        </p:spPr>
        <p:txBody>
          <a:bodyPr wrap="square" lIns="0" tIns="0" rIns="0" bIns="0" rtlCol="0" anchor="t"/>
          <a:lstStyle/>
          <a:p>
            <a:pPr indent="0" marL="0">
              <a:buNone/>
            </a:pPr>
            <a:r>
              <a:rPr lang="en-US" sz="1200" dirty="0">
                <a:solidFill>
                  <a:srgbClr val="1B2B34"/>
                </a:solidFill>
                <a:latin typeface="Calibri" pitchFamily="34" charset="0"/>
                <a:ea typeface="Calibri" pitchFamily="34" charset="-122"/>
                <a:cs typeface="Calibri" pitchFamily="34" charset="-120"/>
              </a:rPr>
              <a:t>download → silver → gold → models → stocks. Each step can be re-run on its own.</a:t>
            </a:r>
            <a:endParaRPr lang="en-US" sz="1200" dirty="0"/>
          </a:p>
        </p:txBody>
      </p:sp>
      <p:sp>
        <p:nvSpPr>
          <p:cNvPr id="60" name="Shape 50"/>
          <p:cNvSpPr/>
          <p:nvPr/>
        </p:nvSpPr>
        <p:spPr>
          <a:xfrm>
            <a:off x="4334256" y="4846320"/>
            <a:ext cx="3520440" cy="1234440"/>
          </a:xfrm>
          <a:prstGeom prst="roundRect">
            <a:avLst>
              <a:gd name="adj" fmla="val 8889"/>
            </a:avLst>
          </a:prstGeom>
          <a:solidFill>
            <a:srgbClr val="E6F5EE"/>
          </a:solidFill>
          <a:ln w="12700">
            <a:solidFill>
              <a:srgbClr val="E6F5EE"/>
            </a:solidFill>
            <a:prstDash val="solid"/>
          </a:ln>
        </p:spPr>
      </p:sp>
      <p:sp>
        <p:nvSpPr>
          <p:cNvPr id="61" name="Shape 51"/>
          <p:cNvSpPr/>
          <p:nvPr/>
        </p:nvSpPr>
        <p:spPr>
          <a:xfrm>
            <a:off x="4562856" y="5148072"/>
            <a:ext cx="566928" cy="566928"/>
          </a:xfrm>
          <a:prstGeom prst="ellipse">
            <a:avLst/>
          </a:prstGeom>
          <a:solidFill>
            <a:srgbClr val="0E9F6E"/>
          </a:solidFill>
          <a:ln w="12700">
            <a:solidFill>
              <a:srgbClr val="0E9F6E"/>
            </a:solidFill>
            <a:prstDash val="solid"/>
          </a:ln>
        </p:spPr>
      </p:sp>
      <p:pic>
        <p:nvPicPr>
          <p:cNvPr id="62" name="Image 8" descr="preencoded.png">    </p:cNvPr>
          <p:cNvPicPr>
            <a:picLocks noChangeAspect="1"/>
          </p:cNvPicPr>
          <p:nvPr/>
        </p:nvPicPr>
        <p:blipFill>
          <a:blip r:embed="rId9"/>
          <a:stretch>
            <a:fillRect/>
          </a:stretch>
        </p:blipFill>
        <p:spPr>
          <a:xfrm>
            <a:off x="4710257" y="5295473"/>
            <a:ext cx="272125" cy="272125"/>
          </a:xfrm>
          <a:prstGeom prst="rect">
            <a:avLst/>
          </a:prstGeom>
        </p:spPr>
      </p:pic>
      <p:sp>
        <p:nvSpPr>
          <p:cNvPr id="63" name="Text 52"/>
          <p:cNvSpPr txBox="1"/>
          <p:nvPr/>
        </p:nvSpPr>
        <p:spPr>
          <a:xfrm>
            <a:off x="5294376" y="5029200"/>
            <a:ext cx="2377440" cy="320040"/>
          </a:xfrm>
          <a:prstGeom prst="rect">
            <a:avLst/>
          </a:prstGeom>
          <a:noFill/>
          <a:ln/>
        </p:spPr>
        <p:txBody>
          <a:bodyPr wrap="square" lIns="0" tIns="0" rIns="0" bIns="0" rtlCol="0" anchor="t"/>
          <a:lstStyle/>
          <a:p>
            <a:pPr indent="0" marL="0">
              <a:buNone/>
            </a:pPr>
            <a:r>
              <a:rPr lang="en-US" sz="1400" b="1" dirty="0">
                <a:solidFill>
                  <a:srgbClr val="0B1F2A"/>
                </a:solidFill>
                <a:latin typeface="Calibri" pitchFamily="34" charset="0"/>
                <a:ea typeface="Calibri" pitchFamily="34" charset="-122"/>
                <a:cs typeface="Calibri" pitchFamily="34" charset="-120"/>
              </a:rPr>
              <a:t>Data quality</a:t>
            </a:r>
            <a:endParaRPr lang="en-US" sz="1400" dirty="0"/>
          </a:p>
        </p:txBody>
      </p:sp>
      <p:sp>
        <p:nvSpPr>
          <p:cNvPr id="64" name="Text 53"/>
          <p:cNvSpPr txBox="1"/>
          <p:nvPr/>
        </p:nvSpPr>
        <p:spPr>
          <a:xfrm>
            <a:off x="5294376" y="5349240"/>
            <a:ext cx="2423160" cy="658368"/>
          </a:xfrm>
          <a:prstGeom prst="rect">
            <a:avLst/>
          </a:prstGeom>
          <a:noFill/>
          <a:ln/>
        </p:spPr>
        <p:txBody>
          <a:bodyPr wrap="square" lIns="0" tIns="0" rIns="0" bIns="0" rtlCol="0" anchor="t"/>
          <a:lstStyle/>
          <a:p>
            <a:pPr indent="0" marL="0">
              <a:buNone/>
            </a:pPr>
            <a:r>
              <a:rPr lang="en-US" sz="1200" dirty="0">
                <a:solidFill>
                  <a:srgbClr val="1B2B34"/>
                </a:solidFill>
                <a:latin typeface="Calibri" pitchFamily="34" charset="0"/>
                <a:ea typeface="Calibri" pitchFamily="34" charset="-122"/>
                <a:cs typeface="Calibri" pitchFamily="34" charset="-120"/>
              </a:rPr>
              <a:t>Each job prints row counts; bad NAVs and glitch returns are removed in Silver.</a:t>
            </a:r>
            <a:endParaRPr lang="en-US" sz="1200" dirty="0"/>
          </a:p>
        </p:txBody>
      </p:sp>
      <p:sp>
        <p:nvSpPr>
          <p:cNvPr id="65" name="Shape 54"/>
          <p:cNvSpPr/>
          <p:nvPr/>
        </p:nvSpPr>
        <p:spPr>
          <a:xfrm>
            <a:off x="8119872" y="4846320"/>
            <a:ext cx="3520440" cy="1234440"/>
          </a:xfrm>
          <a:prstGeom prst="roundRect">
            <a:avLst>
              <a:gd name="adj" fmla="val 8889"/>
            </a:avLst>
          </a:prstGeom>
          <a:solidFill>
            <a:srgbClr val="E6F5EE"/>
          </a:solidFill>
          <a:ln w="12700">
            <a:solidFill>
              <a:srgbClr val="E6F5EE"/>
            </a:solidFill>
            <a:prstDash val="solid"/>
          </a:ln>
        </p:spPr>
      </p:sp>
      <p:sp>
        <p:nvSpPr>
          <p:cNvPr id="66" name="Shape 55"/>
          <p:cNvSpPr/>
          <p:nvPr/>
        </p:nvSpPr>
        <p:spPr>
          <a:xfrm>
            <a:off x="8348472" y="5148072"/>
            <a:ext cx="566928" cy="566928"/>
          </a:xfrm>
          <a:prstGeom prst="ellipse">
            <a:avLst/>
          </a:prstGeom>
          <a:solidFill>
            <a:srgbClr val="0E9F6E"/>
          </a:solidFill>
          <a:ln w="12700">
            <a:solidFill>
              <a:srgbClr val="0E9F6E"/>
            </a:solidFill>
            <a:prstDash val="solid"/>
          </a:ln>
        </p:spPr>
      </p:sp>
      <p:pic>
        <p:nvPicPr>
          <p:cNvPr id="67" name="Image 9" descr="preencoded.png">    </p:cNvPr>
          <p:cNvPicPr>
            <a:picLocks noChangeAspect="1"/>
          </p:cNvPicPr>
          <p:nvPr/>
        </p:nvPicPr>
        <p:blipFill>
          <a:blip r:embed="rId10"/>
          <a:stretch>
            <a:fillRect/>
          </a:stretch>
        </p:blipFill>
        <p:spPr>
          <a:xfrm>
            <a:off x="8495873" y="5295473"/>
            <a:ext cx="272125" cy="272125"/>
          </a:xfrm>
          <a:prstGeom prst="rect">
            <a:avLst/>
          </a:prstGeom>
        </p:spPr>
      </p:pic>
      <p:sp>
        <p:nvSpPr>
          <p:cNvPr id="68" name="Text 56"/>
          <p:cNvSpPr txBox="1"/>
          <p:nvPr/>
        </p:nvSpPr>
        <p:spPr>
          <a:xfrm>
            <a:off x="9079992" y="5029200"/>
            <a:ext cx="2377440" cy="320040"/>
          </a:xfrm>
          <a:prstGeom prst="rect">
            <a:avLst/>
          </a:prstGeom>
          <a:noFill/>
          <a:ln/>
        </p:spPr>
        <p:txBody>
          <a:bodyPr wrap="square" lIns="0" tIns="0" rIns="0" bIns="0" rtlCol="0" anchor="t"/>
          <a:lstStyle/>
          <a:p>
            <a:pPr indent="0" marL="0">
              <a:buNone/>
            </a:pPr>
            <a:r>
              <a:rPr lang="en-US" sz="1400" b="1" dirty="0">
                <a:solidFill>
                  <a:srgbClr val="0B1F2A"/>
                </a:solidFill>
                <a:latin typeface="Calibri" pitchFamily="34" charset="0"/>
                <a:ea typeface="Calibri" pitchFamily="34" charset="-122"/>
                <a:cs typeface="Calibri" pitchFamily="34" charset="-120"/>
              </a:rPr>
              <a:t>Security</a:t>
            </a:r>
            <a:endParaRPr lang="en-US" sz="1400" dirty="0"/>
          </a:p>
        </p:txBody>
      </p:sp>
      <p:sp>
        <p:nvSpPr>
          <p:cNvPr id="69" name="Text 57"/>
          <p:cNvSpPr txBox="1"/>
          <p:nvPr/>
        </p:nvSpPr>
        <p:spPr>
          <a:xfrm>
            <a:off x="9079992" y="5349240"/>
            <a:ext cx="2423160" cy="658368"/>
          </a:xfrm>
          <a:prstGeom prst="rect">
            <a:avLst/>
          </a:prstGeom>
          <a:noFill/>
          <a:ln/>
        </p:spPr>
        <p:txBody>
          <a:bodyPr wrap="square" lIns="0" tIns="0" rIns="0" bIns="0" rtlCol="0" anchor="t"/>
          <a:lstStyle/>
          <a:p>
            <a:pPr indent="0" marL="0">
              <a:buNone/>
            </a:pPr>
            <a:r>
              <a:rPr lang="en-US" sz="1200" dirty="0">
                <a:solidFill>
                  <a:srgbClr val="1B2B34"/>
                </a:solidFill>
                <a:latin typeface="Calibri" pitchFamily="34" charset="0"/>
                <a:ea typeface="Calibri" pitchFamily="34" charset="-122"/>
                <a:cs typeface="Calibri" pitchFamily="34" charset="-120"/>
              </a:rPr>
              <a:t>Every data request needs the API key; a wrong key gets a 401 error.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300" kern="0" dirty="0">
                <a:solidFill>
                  <a:srgbClr val="0E9F6E"/>
                </a:solidFill>
                <a:latin typeface="Calibri" pitchFamily="34" charset="0"/>
                <a:ea typeface="Calibri" pitchFamily="34" charset="-122"/>
                <a:cs typeface="Calibri" pitchFamily="34" charset="-120"/>
              </a:rPr>
              <a:t>07  ·  STORAGE LAYER</a:t>
            </a:r>
            <a:endParaRPr lang="en-US" sz="1200" dirty="0"/>
          </a:p>
        </p:txBody>
      </p:sp>
      <p:sp>
        <p:nvSpPr>
          <p:cNvPr id="3" name="Text 1"/>
          <p:cNvSpPr txBox="1"/>
          <p:nvPr/>
        </p:nvSpPr>
        <p:spPr>
          <a:xfrm>
            <a:off x="548640" y="676656"/>
            <a:ext cx="11064240" cy="685800"/>
          </a:xfrm>
          <a:prstGeom prst="rect">
            <a:avLst/>
          </a:prstGeom>
          <a:noFill/>
          <a:ln/>
        </p:spPr>
        <p:txBody>
          <a:bodyPr wrap="square" lIns="0" tIns="0" rIns="0" bIns="0" rtlCol="0" anchor="ctr"/>
          <a:lstStyle/>
          <a:p>
            <a:pPr indent="0" marL="0">
              <a:buNone/>
            </a:pPr>
            <a:r>
              <a:rPr lang="en-US" sz="3000" b="1" dirty="0">
                <a:solidFill>
                  <a:srgbClr val="0B1F2A"/>
                </a:solidFill>
                <a:latin typeface="Arial" pitchFamily="34" charset="0"/>
                <a:ea typeface="Arial" pitchFamily="34" charset="-122"/>
                <a:cs typeface="Arial" pitchFamily="34" charset="-120"/>
              </a:rPr>
              <a:t>Data lake on HDFS: the Medallion architecture</a:t>
            </a:r>
            <a:endParaRPr lang="en-US" sz="3000" dirty="0"/>
          </a:p>
        </p:txBody>
      </p:sp>
      <p:sp>
        <p:nvSpPr>
          <p:cNvPr id="4" name="Text 2"/>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B75"/>
                </a:solidFill>
                <a:latin typeface="Calibri" pitchFamily="34" charset="0"/>
                <a:ea typeface="Calibri" pitchFamily="34" charset="-122"/>
                <a:cs typeface="Calibri" pitchFamily="34" charset="-120"/>
              </a:rPr>
              <a:t>Big Data Architecture  |  Stock Market &amp; Mutual Fund Risk Analytics</a:t>
            </a:r>
            <a:endParaRPr lang="en-US" sz="900" dirty="0"/>
          </a:p>
        </p:txBody>
      </p:sp>
      <p:sp>
        <p:nvSpPr>
          <p:cNvPr id="5" name="Text 3"/>
          <p:cNvSpPr txBox="1"/>
          <p:nvPr/>
        </p:nvSpPr>
        <p:spPr>
          <a:xfrm>
            <a:off x="11183112" y="6473952"/>
            <a:ext cx="457200" cy="228600"/>
          </a:xfrm>
          <a:prstGeom prst="rect">
            <a:avLst/>
          </a:prstGeom>
          <a:noFill/>
          <a:ln/>
        </p:spPr>
        <p:txBody>
          <a:bodyPr wrap="square" lIns="0" tIns="0" rIns="0" bIns="0" rtlCol="0" anchor="t"/>
          <a:lstStyle/>
          <a:p>
            <a:pPr algn="r" indent="0" marL="0">
              <a:buNone/>
            </a:pPr>
            <a:r>
              <a:rPr lang="en-US" sz="900" dirty="0">
                <a:solidFill>
                  <a:srgbClr val="5B6B75"/>
                </a:solidFill>
                <a:latin typeface="Calibri" pitchFamily="34" charset="0"/>
                <a:ea typeface="Calibri" pitchFamily="34" charset="-122"/>
                <a:cs typeface="Calibri" pitchFamily="34" charset="-120"/>
              </a:rPr>
              <a:t>8</a:t>
            </a:r>
            <a:endParaRPr lang="en-US" sz="900" dirty="0"/>
          </a:p>
        </p:txBody>
      </p:sp>
      <p:sp>
        <p:nvSpPr>
          <p:cNvPr id="6" name="Shape 4"/>
          <p:cNvSpPr/>
          <p:nvPr/>
        </p:nvSpPr>
        <p:spPr>
          <a:xfrm>
            <a:off x="548640" y="1600200"/>
            <a:ext cx="3383280" cy="4206240"/>
          </a:xfrm>
          <a:prstGeom prst="roundRect">
            <a:avLst>
              <a:gd name="adj" fmla="val 3243"/>
            </a:avLst>
          </a:prstGeom>
          <a:solidFill>
            <a:srgbClr val="F2F6F8"/>
          </a:solidFill>
          <a:ln w="12700">
            <a:solidFill>
              <a:srgbClr val="F2F6F8"/>
            </a:solidFill>
            <a:prstDash val="solid"/>
          </a:ln>
        </p:spPr>
      </p:sp>
      <p:sp>
        <p:nvSpPr>
          <p:cNvPr id="7" name="Shape 5"/>
          <p:cNvSpPr/>
          <p:nvPr/>
        </p:nvSpPr>
        <p:spPr>
          <a:xfrm>
            <a:off x="822960" y="1856232"/>
            <a:ext cx="566928" cy="566928"/>
          </a:xfrm>
          <a:prstGeom prst="ellipse">
            <a:avLst/>
          </a:prstGeom>
          <a:solidFill>
            <a:srgbClr val="B87333"/>
          </a:solidFill>
          <a:ln w="12700">
            <a:solidFill>
              <a:srgbClr val="B87333"/>
            </a:solidFill>
            <a:prstDash val="solid"/>
          </a:ln>
        </p:spPr>
      </p:sp>
      <p:sp>
        <p:nvSpPr>
          <p:cNvPr id="8" name="Text 6"/>
          <p:cNvSpPr txBox="1"/>
          <p:nvPr/>
        </p:nvSpPr>
        <p:spPr>
          <a:xfrm>
            <a:off x="822960" y="185623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9" name="Text 7"/>
          <p:cNvSpPr txBox="1"/>
          <p:nvPr/>
        </p:nvSpPr>
        <p:spPr>
          <a:xfrm>
            <a:off x="1554480" y="1837944"/>
            <a:ext cx="2194560" cy="365760"/>
          </a:xfrm>
          <a:prstGeom prst="rect">
            <a:avLst/>
          </a:prstGeom>
          <a:noFill/>
          <a:ln/>
        </p:spPr>
        <p:txBody>
          <a:bodyPr wrap="square" lIns="0" tIns="0" rIns="0" bIns="0" rtlCol="0" anchor="t"/>
          <a:lstStyle/>
          <a:p>
            <a:pPr indent="0" marL="0">
              <a:buNone/>
            </a:pPr>
            <a:r>
              <a:rPr lang="en-US" sz="2000" b="1" dirty="0">
                <a:solidFill>
                  <a:srgbClr val="0B1F2A"/>
                </a:solidFill>
                <a:latin typeface="Arial" pitchFamily="34" charset="0"/>
                <a:ea typeface="Arial" pitchFamily="34" charset="-122"/>
                <a:cs typeface="Arial" pitchFamily="34" charset="-120"/>
              </a:rPr>
              <a:t>Bronze</a:t>
            </a:r>
            <a:endParaRPr lang="en-US" sz="2000" dirty="0"/>
          </a:p>
        </p:txBody>
      </p:sp>
      <p:sp>
        <p:nvSpPr>
          <p:cNvPr id="10" name="Text 8"/>
          <p:cNvSpPr txBox="1"/>
          <p:nvPr/>
        </p:nvSpPr>
        <p:spPr>
          <a:xfrm>
            <a:off x="1554480" y="2203704"/>
            <a:ext cx="2194560" cy="274320"/>
          </a:xfrm>
          <a:prstGeom prst="rect">
            <a:avLst/>
          </a:prstGeom>
          <a:noFill/>
          <a:ln/>
        </p:spPr>
        <p:txBody>
          <a:bodyPr wrap="square" lIns="0" tIns="0" rIns="0" bIns="0" rtlCol="0" anchor="t"/>
          <a:lstStyle/>
          <a:p>
            <a:pPr indent="0" marL="0">
              <a:buNone/>
            </a:pPr>
            <a:r>
              <a:rPr lang="en-US" sz="1200" b="1" dirty="0">
                <a:solidFill>
                  <a:srgbClr val="B87333"/>
                </a:solidFill>
                <a:latin typeface="Calibri" pitchFamily="34" charset="0"/>
                <a:ea typeface="Calibri" pitchFamily="34" charset="-122"/>
                <a:cs typeface="Calibri" pitchFamily="34" charset="-120"/>
              </a:rPr>
              <a:t>Raw and immutable</a:t>
            </a:r>
            <a:endParaRPr lang="en-US" sz="1200" dirty="0"/>
          </a:p>
        </p:txBody>
      </p:sp>
      <p:sp>
        <p:nvSpPr>
          <p:cNvPr id="11" name="Text 9"/>
          <p:cNvSpPr txBox="1"/>
          <p:nvPr/>
        </p:nvSpPr>
        <p:spPr>
          <a:xfrm>
            <a:off x="822960" y="2606040"/>
            <a:ext cx="2834640" cy="868680"/>
          </a:xfrm>
          <a:prstGeom prst="rect">
            <a:avLst/>
          </a:prstGeom>
          <a:noFill/>
          <a:ln/>
        </p:spPr>
        <p:txBody>
          <a:bodyPr wrap="square" lIns="0" tIns="0" rIns="0" bIns="0" rtlCol="0" anchor="t"/>
          <a:lstStyle/>
          <a:p>
            <a:pPr indent="0" marL="0">
              <a:buNone/>
            </a:pPr>
            <a:r>
              <a:rPr lang="en-US" sz="1250" dirty="0">
                <a:solidFill>
                  <a:srgbClr val="1B2B34"/>
                </a:solidFill>
                <a:latin typeface="Calibri" pitchFamily="34" charset="0"/>
                <a:ea typeface="Calibri" pitchFamily="34" charset="-122"/>
                <a:cs typeface="Calibri" pitchFamily="34" charset="-120"/>
              </a:rPr>
              <a:t>Files exactly as downloaded, never edited, so any result can be rebuilt.</a:t>
            </a:r>
            <a:endParaRPr lang="en-US" sz="1250" dirty="0"/>
          </a:p>
        </p:txBody>
      </p:sp>
      <p:sp>
        <p:nvSpPr>
          <p:cNvPr id="12" name="Text 10"/>
          <p:cNvSpPr txBox="1"/>
          <p:nvPr/>
        </p:nvSpPr>
        <p:spPr>
          <a:xfrm>
            <a:off x="822960" y="3520440"/>
            <a:ext cx="1828800" cy="228600"/>
          </a:xfrm>
          <a:prstGeom prst="rect">
            <a:avLst/>
          </a:prstGeom>
          <a:noFill/>
          <a:ln/>
        </p:spPr>
        <p:txBody>
          <a:bodyPr wrap="square" lIns="0" tIns="0" rIns="0" bIns="0" rtlCol="0" anchor="t"/>
          <a:lstStyle/>
          <a:p>
            <a:pPr indent="0" marL="0">
              <a:buNone/>
            </a:pPr>
            <a:r>
              <a:rPr lang="en-US" sz="1000" b="1" spc="200" kern="0" dirty="0">
                <a:solidFill>
                  <a:srgbClr val="5B6B75"/>
                </a:solidFill>
                <a:latin typeface="Calibri" pitchFamily="34" charset="0"/>
                <a:ea typeface="Calibri" pitchFamily="34" charset="-122"/>
                <a:cs typeface="Calibri" pitchFamily="34" charset="-120"/>
              </a:rPr>
              <a:t>TABLES</a:t>
            </a:r>
            <a:endParaRPr lang="en-US" sz="1000" dirty="0"/>
          </a:p>
        </p:txBody>
      </p:sp>
      <p:sp>
        <p:nvSpPr>
          <p:cNvPr id="13" name="Text 11"/>
          <p:cNvSpPr txBox="1"/>
          <p:nvPr/>
        </p:nvSpPr>
        <p:spPr>
          <a:xfrm>
            <a:off x="822960" y="3758184"/>
            <a:ext cx="2926080" cy="1554480"/>
          </a:xfrm>
          <a:prstGeom prst="rect">
            <a:avLst/>
          </a:prstGeom>
          <a:noFill/>
          <a:ln/>
        </p:spPr>
        <p:txBody>
          <a:bodyPr wrap="square" lIns="0" tIns="0" rIns="0" bIns="0" rtlCol="0" anchor="t"/>
          <a:lstStyle/>
          <a:p>
            <a:pPr indent="0" marL="0">
              <a:buNone/>
            </a:pPr>
            <a:r>
              <a:rPr lang="en-US" sz="1050" dirty="0">
                <a:solidFill>
                  <a:srgbClr val="0B1F2A"/>
                </a:solidFill>
                <a:latin typeface="Courier New" pitchFamily="34" charset="0"/>
                <a:ea typeface="Courier New" pitchFamily="34" charset="-122"/>
                <a:cs typeface="Courier New" pitchFamily="34" charset="-120"/>
              </a:rPr>
              <a:t>nav_parquet  (37.05M rows)</a:t>
            </a:r>
            <a:endParaRPr lang="en-US" sz="1050" dirty="0"/>
          </a:p>
          <a:p>
            <a:pPr indent="0" marL="0">
              <a:buNone/>
            </a:pPr>
            <a:r>
              <a:rPr lang="en-US" sz="1050" dirty="0">
                <a:solidFill>
                  <a:srgbClr val="0B1F2A"/>
                </a:solidFill>
                <a:latin typeface="Courier New" pitchFamily="34" charset="0"/>
                <a:ea typeface="Courier New" pitchFamily="34" charset="-122"/>
                <a:cs typeface="Courier New" pitchFamily="34" charset="-120"/>
              </a:rPr>
              <a:t>schemes.csv</a:t>
            </a:r>
            <a:endParaRPr lang="en-US" sz="1050" dirty="0"/>
          </a:p>
          <a:p>
            <a:pPr indent="0" marL="0">
              <a:buNone/>
            </a:pPr>
            <a:r>
              <a:rPr lang="en-US" sz="1050" dirty="0">
                <a:solidFill>
                  <a:srgbClr val="0B1F2A"/>
                </a:solidFill>
                <a:latin typeface="Courier New" pitchFamily="34" charset="0"/>
                <a:ea typeface="Courier New" pitchFamily="34" charset="-122"/>
                <a:cs typeface="Courier New" pitchFamily="34" charset="-120"/>
              </a:rPr>
              <a:t>curated_universe.csv</a:t>
            </a:r>
            <a:endParaRPr lang="en-US" sz="1050" dirty="0"/>
          </a:p>
          <a:p>
            <a:pPr indent="0" marL="0">
              <a:buNone/>
            </a:pPr>
            <a:r>
              <a:rPr lang="en-US" sz="1050" dirty="0">
                <a:solidFill>
                  <a:srgbClr val="0B1F2A"/>
                </a:solidFill>
                <a:latin typeface="Courier New" pitchFamily="34" charset="0"/>
                <a:ea typeface="Courier New" pitchFamily="34" charset="-122"/>
                <a:cs typeface="Courier New" pitchFamily="34" charset="-120"/>
              </a:rPr>
              <a:t>funds.db.zst  (raw archive)</a:t>
            </a:r>
            <a:endParaRPr lang="en-US" sz="1050" dirty="0"/>
          </a:p>
          <a:p>
            <a:pPr indent="0" marL="0">
              <a:buNone/>
            </a:pPr>
            <a:r>
              <a:rPr lang="en-US" sz="1050" dirty="0">
                <a:solidFill>
                  <a:srgbClr val="0B1F2A"/>
                </a:solidFill>
                <a:latin typeface="Courier New" pitchFamily="34" charset="0"/>
                <a:ea typeface="Courier New" pitchFamily="34" charset="-122"/>
                <a:cs typeface="Courier New" pitchFamily="34" charset="-120"/>
              </a:rPr>
              <a:t>stocks/  (prices, debt, list)</a:t>
            </a:r>
            <a:endParaRPr lang="en-US" sz="1050" dirty="0"/>
          </a:p>
        </p:txBody>
      </p:sp>
      <p:sp>
        <p:nvSpPr>
          <p:cNvPr id="14" name="Text 12"/>
          <p:cNvSpPr txBox="1"/>
          <p:nvPr/>
        </p:nvSpPr>
        <p:spPr>
          <a:xfrm>
            <a:off x="822960" y="5394960"/>
            <a:ext cx="2926080" cy="274320"/>
          </a:xfrm>
          <a:prstGeom prst="rect">
            <a:avLst/>
          </a:prstGeom>
          <a:noFill/>
          <a:ln/>
        </p:spPr>
        <p:txBody>
          <a:bodyPr wrap="square" lIns="0" tIns="0" rIns="0" bIns="0" rtlCol="0" anchor="t"/>
          <a:lstStyle/>
          <a:p>
            <a:pPr indent="0" marL="0">
              <a:buNone/>
            </a:pPr>
            <a:r>
              <a:rPr lang="en-US" sz="1100" b="1" dirty="0">
                <a:solidFill>
                  <a:srgbClr val="5B6B75"/>
                </a:solidFill>
                <a:latin typeface="Calibri" pitchFamily="34" charset="0"/>
                <a:ea typeface="Calibri" pitchFamily="34" charset="-122"/>
                <a:cs typeface="Calibri" pitchFamily="34" charset="-120"/>
              </a:rPr>
              <a:t>Partitioned by: </a:t>
            </a:r>
            <a:pPr indent="0" marL="0">
              <a:buNone/>
            </a:pPr>
            <a:r>
              <a:rPr lang="en-US" sz="1100" dirty="0">
                <a:solidFill>
                  <a:srgbClr val="0B1F2A"/>
                </a:solidFill>
                <a:latin typeface="Courier New" pitchFamily="34" charset="0"/>
                <a:ea typeface="Courier New" pitchFamily="34" charset="-122"/>
                <a:cs typeface="Courier New" pitchFamily="34" charset="-120"/>
              </a:rPr>
              <a:t>year</a:t>
            </a:r>
            <a:endParaRPr lang="en-US" sz="1100" dirty="0"/>
          </a:p>
        </p:txBody>
      </p:sp>
      <p:sp>
        <p:nvSpPr>
          <p:cNvPr id="15" name="Shape 13"/>
          <p:cNvSpPr/>
          <p:nvPr/>
        </p:nvSpPr>
        <p:spPr>
          <a:xfrm>
            <a:off x="4005072" y="3703320"/>
            <a:ext cx="324612" cy="0"/>
          </a:xfrm>
          <a:prstGeom prst="line">
            <a:avLst/>
          </a:prstGeom>
          <a:noFill/>
          <a:ln w="31750">
            <a:solidFill>
              <a:srgbClr val="0E9F6E"/>
            </a:solidFill>
            <a:prstDash val="solid"/>
            <a:tailEnd type="triangle"/>
          </a:ln>
        </p:spPr>
      </p:sp>
      <p:sp>
        <p:nvSpPr>
          <p:cNvPr id="16" name="Shape 14"/>
          <p:cNvSpPr/>
          <p:nvPr/>
        </p:nvSpPr>
        <p:spPr>
          <a:xfrm>
            <a:off x="4402836" y="1600200"/>
            <a:ext cx="3383280" cy="4206240"/>
          </a:xfrm>
          <a:prstGeom prst="roundRect">
            <a:avLst>
              <a:gd name="adj" fmla="val 3243"/>
            </a:avLst>
          </a:prstGeom>
          <a:solidFill>
            <a:srgbClr val="F2F6F8"/>
          </a:solidFill>
          <a:ln w="12700">
            <a:solidFill>
              <a:srgbClr val="F2F6F8"/>
            </a:solidFill>
            <a:prstDash val="solid"/>
          </a:ln>
        </p:spPr>
      </p:sp>
      <p:sp>
        <p:nvSpPr>
          <p:cNvPr id="17" name="Shape 15"/>
          <p:cNvSpPr/>
          <p:nvPr/>
        </p:nvSpPr>
        <p:spPr>
          <a:xfrm>
            <a:off x="4677156" y="1856232"/>
            <a:ext cx="566928" cy="566928"/>
          </a:xfrm>
          <a:prstGeom prst="ellipse">
            <a:avLst/>
          </a:prstGeom>
          <a:solidFill>
            <a:srgbClr val="7D8C98"/>
          </a:solidFill>
          <a:ln w="12700">
            <a:solidFill>
              <a:srgbClr val="7D8C98"/>
            </a:solidFill>
            <a:prstDash val="solid"/>
          </a:ln>
        </p:spPr>
      </p:sp>
      <p:sp>
        <p:nvSpPr>
          <p:cNvPr id="18" name="Text 16"/>
          <p:cNvSpPr txBox="1"/>
          <p:nvPr/>
        </p:nvSpPr>
        <p:spPr>
          <a:xfrm>
            <a:off x="4677156" y="185623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9" name="Text 17"/>
          <p:cNvSpPr txBox="1"/>
          <p:nvPr/>
        </p:nvSpPr>
        <p:spPr>
          <a:xfrm>
            <a:off x="5408676" y="1837944"/>
            <a:ext cx="2194560" cy="365760"/>
          </a:xfrm>
          <a:prstGeom prst="rect">
            <a:avLst/>
          </a:prstGeom>
          <a:noFill/>
          <a:ln/>
        </p:spPr>
        <p:txBody>
          <a:bodyPr wrap="square" lIns="0" tIns="0" rIns="0" bIns="0" rtlCol="0" anchor="t"/>
          <a:lstStyle/>
          <a:p>
            <a:pPr indent="0" marL="0">
              <a:buNone/>
            </a:pPr>
            <a:r>
              <a:rPr lang="en-US" sz="2000" b="1" dirty="0">
                <a:solidFill>
                  <a:srgbClr val="0B1F2A"/>
                </a:solidFill>
                <a:latin typeface="Arial" pitchFamily="34" charset="0"/>
                <a:ea typeface="Arial" pitchFamily="34" charset="-122"/>
                <a:cs typeface="Arial" pitchFamily="34" charset="-120"/>
              </a:rPr>
              <a:t>Silver</a:t>
            </a:r>
            <a:endParaRPr lang="en-US" sz="2000" dirty="0"/>
          </a:p>
        </p:txBody>
      </p:sp>
      <p:sp>
        <p:nvSpPr>
          <p:cNvPr id="20" name="Text 18"/>
          <p:cNvSpPr txBox="1"/>
          <p:nvPr/>
        </p:nvSpPr>
        <p:spPr>
          <a:xfrm>
            <a:off x="5408676" y="2203704"/>
            <a:ext cx="2194560" cy="274320"/>
          </a:xfrm>
          <a:prstGeom prst="rect">
            <a:avLst/>
          </a:prstGeom>
          <a:noFill/>
          <a:ln/>
        </p:spPr>
        <p:txBody>
          <a:bodyPr wrap="square" lIns="0" tIns="0" rIns="0" bIns="0" rtlCol="0" anchor="t"/>
          <a:lstStyle/>
          <a:p>
            <a:pPr indent="0" marL="0">
              <a:buNone/>
            </a:pPr>
            <a:r>
              <a:rPr lang="en-US" sz="1200" b="1" dirty="0">
                <a:solidFill>
                  <a:srgbClr val="7D8C98"/>
                </a:solidFill>
                <a:latin typeface="Calibri" pitchFamily="34" charset="0"/>
                <a:ea typeface="Calibri" pitchFamily="34" charset="-122"/>
                <a:cs typeface="Calibri" pitchFamily="34" charset="-120"/>
              </a:rPr>
              <a:t>Clean and conformed</a:t>
            </a:r>
            <a:endParaRPr lang="en-US" sz="1200" dirty="0"/>
          </a:p>
        </p:txBody>
      </p:sp>
      <p:sp>
        <p:nvSpPr>
          <p:cNvPr id="21" name="Text 19"/>
          <p:cNvSpPr txBox="1"/>
          <p:nvPr/>
        </p:nvSpPr>
        <p:spPr>
          <a:xfrm>
            <a:off x="4677156" y="2606040"/>
            <a:ext cx="2834640" cy="868680"/>
          </a:xfrm>
          <a:prstGeom prst="rect">
            <a:avLst/>
          </a:prstGeom>
          <a:noFill/>
          <a:ln/>
        </p:spPr>
        <p:txBody>
          <a:bodyPr wrap="square" lIns="0" tIns="0" rIns="0" bIns="0" rtlCol="0" anchor="t"/>
          <a:lstStyle/>
          <a:p>
            <a:pPr indent="0" marL="0">
              <a:buNone/>
            </a:pPr>
            <a:r>
              <a:rPr lang="en-US" sz="1250" dirty="0">
                <a:solidFill>
                  <a:srgbClr val="1B2B34"/>
                </a:solidFill>
                <a:latin typeface="Calibri" pitchFamily="34" charset="0"/>
                <a:ea typeface="Calibri" pitchFamily="34" charset="-122"/>
                <a:cs typeface="Calibri" pitchFamily="34" charset="-120"/>
              </a:rPr>
              <a:t>Bad and duplicate rows removed, kept from 2013, daily return added, glitch returns blanked.</a:t>
            </a:r>
            <a:endParaRPr lang="en-US" sz="1250" dirty="0"/>
          </a:p>
        </p:txBody>
      </p:sp>
      <p:sp>
        <p:nvSpPr>
          <p:cNvPr id="22" name="Text 20"/>
          <p:cNvSpPr txBox="1"/>
          <p:nvPr/>
        </p:nvSpPr>
        <p:spPr>
          <a:xfrm>
            <a:off x="4677156" y="3520440"/>
            <a:ext cx="1828800" cy="228600"/>
          </a:xfrm>
          <a:prstGeom prst="rect">
            <a:avLst/>
          </a:prstGeom>
          <a:noFill/>
          <a:ln/>
        </p:spPr>
        <p:txBody>
          <a:bodyPr wrap="square" lIns="0" tIns="0" rIns="0" bIns="0" rtlCol="0" anchor="t"/>
          <a:lstStyle/>
          <a:p>
            <a:pPr indent="0" marL="0">
              <a:buNone/>
            </a:pPr>
            <a:r>
              <a:rPr lang="en-US" sz="1000" b="1" spc="200" kern="0" dirty="0">
                <a:solidFill>
                  <a:srgbClr val="5B6B75"/>
                </a:solidFill>
                <a:latin typeface="Calibri" pitchFamily="34" charset="0"/>
                <a:ea typeface="Calibri" pitchFamily="34" charset="-122"/>
                <a:cs typeface="Calibri" pitchFamily="34" charset="-120"/>
              </a:rPr>
              <a:t>TABLES</a:t>
            </a:r>
            <a:endParaRPr lang="en-US" sz="1000" dirty="0"/>
          </a:p>
        </p:txBody>
      </p:sp>
      <p:sp>
        <p:nvSpPr>
          <p:cNvPr id="23" name="Text 21"/>
          <p:cNvSpPr txBox="1"/>
          <p:nvPr/>
        </p:nvSpPr>
        <p:spPr>
          <a:xfrm>
            <a:off x="4677156" y="3758184"/>
            <a:ext cx="2926080" cy="1554480"/>
          </a:xfrm>
          <a:prstGeom prst="rect">
            <a:avLst/>
          </a:prstGeom>
          <a:noFill/>
          <a:ln/>
        </p:spPr>
        <p:txBody>
          <a:bodyPr wrap="square" lIns="0" tIns="0" rIns="0" bIns="0" rtlCol="0" anchor="t"/>
          <a:lstStyle/>
          <a:p>
            <a:pPr indent="0" marL="0">
              <a:buNone/>
            </a:pPr>
            <a:r>
              <a:rPr lang="en-US" sz="1050" dirty="0">
                <a:solidFill>
                  <a:srgbClr val="0B1F2A"/>
                </a:solidFill>
                <a:latin typeface="Courier New" pitchFamily="34" charset="0"/>
                <a:ea typeface="Courier New" pitchFamily="34" charset="-122"/>
                <a:cs typeface="Courier New" pitchFamily="34" charset="-120"/>
              </a:rPr>
              <a:t>nav_daily  (31.19M rows)</a:t>
            </a:r>
            <a:endParaRPr lang="en-US" sz="1050" dirty="0"/>
          </a:p>
          <a:p>
            <a:pPr indent="0" marL="0">
              <a:buNone/>
            </a:pPr>
            <a:r>
              <a:rPr lang="en-US" sz="1050" dirty="0">
                <a:solidFill>
                  <a:srgbClr val="0B1F2A"/>
                </a:solidFill>
                <a:latin typeface="Courier New" pitchFamily="34" charset="0"/>
                <a:ea typeface="Courier New" pitchFamily="34" charset="-122"/>
                <a:cs typeface="Courier New" pitchFamily="34" charset="-120"/>
              </a:rPr>
              <a:t>scheme_dim  (29,097 schemes)</a:t>
            </a:r>
            <a:endParaRPr lang="en-US" sz="1050" dirty="0"/>
          </a:p>
          <a:p>
            <a:pPr indent="0" marL="0">
              <a:buNone/>
            </a:pPr>
            <a:r>
              <a:rPr lang="en-US" sz="1050" dirty="0">
                <a:solidFill>
                  <a:srgbClr val="0B1F2A"/>
                </a:solidFill>
                <a:latin typeface="Courier New" pitchFamily="34" charset="0"/>
                <a:ea typeface="Courier New" pitchFamily="34" charset="-122"/>
                <a:cs typeface="Courier New" pitchFamily="34" charset="-120"/>
              </a:rPr>
              <a:t>stock_daily  (50 stocks, 2 indices)</a:t>
            </a:r>
            <a:endParaRPr lang="en-US" sz="1050" dirty="0"/>
          </a:p>
        </p:txBody>
      </p:sp>
      <p:sp>
        <p:nvSpPr>
          <p:cNvPr id="24" name="Text 22"/>
          <p:cNvSpPr txBox="1"/>
          <p:nvPr/>
        </p:nvSpPr>
        <p:spPr>
          <a:xfrm>
            <a:off x="4677156" y="5394960"/>
            <a:ext cx="2926080" cy="274320"/>
          </a:xfrm>
          <a:prstGeom prst="rect">
            <a:avLst/>
          </a:prstGeom>
          <a:noFill/>
          <a:ln/>
        </p:spPr>
        <p:txBody>
          <a:bodyPr wrap="square" lIns="0" tIns="0" rIns="0" bIns="0" rtlCol="0" anchor="t"/>
          <a:lstStyle/>
          <a:p>
            <a:pPr indent="0" marL="0">
              <a:buNone/>
            </a:pPr>
            <a:r>
              <a:rPr lang="en-US" sz="1100" b="1" dirty="0">
                <a:solidFill>
                  <a:srgbClr val="5B6B75"/>
                </a:solidFill>
                <a:latin typeface="Calibri" pitchFamily="34" charset="0"/>
                <a:ea typeface="Calibri" pitchFamily="34" charset="-122"/>
                <a:cs typeface="Calibri" pitchFamily="34" charset="-120"/>
              </a:rPr>
              <a:t>Partitioned by: </a:t>
            </a:r>
            <a:pPr indent="0" marL="0">
              <a:buNone/>
            </a:pPr>
            <a:r>
              <a:rPr lang="en-US" sz="1100" dirty="0">
                <a:solidFill>
                  <a:srgbClr val="0B1F2A"/>
                </a:solidFill>
                <a:latin typeface="Courier New" pitchFamily="34" charset="0"/>
                <a:ea typeface="Courier New" pitchFamily="34" charset="-122"/>
                <a:cs typeface="Courier New" pitchFamily="34" charset="-120"/>
              </a:rPr>
              <a:t>year</a:t>
            </a:r>
            <a:endParaRPr lang="en-US" sz="1100" dirty="0"/>
          </a:p>
        </p:txBody>
      </p:sp>
      <p:sp>
        <p:nvSpPr>
          <p:cNvPr id="25" name="Shape 23"/>
          <p:cNvSpPr/>
          <p:nvPr/>
        </p:nvSpPr>
        <p:spPr>
          <a:xfrm>
            <a:off x="7859268" y="3703320"/>
            <a:ext cx="324612" cy="0"/>
          </a:xfrm>
          <a:prstGeom prst="line">
            <a:avLst/>
          </a:prstGeom>
          <a:noFill/>
          <a:ln w="31750">
            <a:solidFill>
              <a:srgbClr val="0E9F6E"/>
            </a:solidFill>
            <a:prstDash val="solid"/>
            <a:tailEnd type="triangle"/>
          </a:ln>
        </p:spPr>
      </p:sp>
      <p:sp>
        <p:nvSpPr>
          <p:cNvPr id="26" name="Shape 24"/>
          <p:cNvSpPr/>
          <p:nvPr/>
        </p:nvSpPr>
        <p:spPr>
          <a:xfrm>
            <a:off x="8257032" y="1600200"/>
            <a:ext cx="3383280" cy="4206240"/>
          </a:xfrm>
          <a:prstGeom prst="roundRect">
            <a:avLst>
              <a:gd name="adj" fmla="val 3243"/>
            </a:avLst>
          </a:prstGeom>
          <a:solidFill>
            <a:srgbClr val="F2F6F8"/>
          </a:solidFill>
          <a:ln w="12700">
            <a:solidFill>
              <a:srgbClr val="F2F6F8"/>
            </a:solidFill>
            <a:prstDash val="solid"/>
          </a:ln>
        </p:spPr>
      </p:sp>
      <p:sp>
        <p:nvSpPr>
          <p:cNvPr id="27" name="Shape 25"/>
          <p:cNvSpPr/>
          <p:nvPr/>
        </p:nvSpPr>
        <p:spPr>
          <a:xfrm>
            <a:off x="8531352" y="1856232"/>
            <a:ext cx="566928" cy="566928"/>
          </a:xfrm>
          <a:prstGeom prst="ellipse">
            <a:avLst/>
          </a:prstGeom>
          <a:solidFill>
            <a:srgbClr val="C8960C"/>
          </a:solidFill>
          <a:ln w="12700">
            <a:solidFill>
              <a:srgbClr val="C8960C"/>
            </a:solidFill>
            <a:prstDash val="solid"/>
          </a:ln>
        </p:spPr>
      </p:sp>
      <p:sp>
        <p:nvSpPr>
          <p:cNvPr id="28" name="Text 26"/>
          <p:cNvSpPr txBox="1"/>
          <p:nvPr/>
        </p:nvSpPr>
        <p:spPr>
          <a:xfrm>
            <a:off x="8531352" y="185623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9" name="Text 27"/>
          <p:cNvSpPr txBox="1"/>
          <p:nvPr/>
        </p:nvSpPr>
        <p:spPr>
          <a:xfrm>
            <a:off x="9262872" y="1837944"/>
            <a:ext cx="2194560" cy="365760"/>
          </a:xfrm>
          <a:prstGeom prst="rect">
            <a:avLst/>
          </a:prstGeom>
          <a:noFill/>
          <a:ln/>
        </p:spPr>
        <p:txBody>
          <a:bodyPr wrap="square" lIns="0" tIns="0" rIns="0" bIns="0" rtlCol="0" anchor="t"/>
          <a:lstStyle/>
          <a:p>
            <a:pPr indent="0" marL="0">
              <a:buNone/>
            </a:pPr>
            <a:r>
              <a:rPr lang="en-US" sz="2000" b="1" dirty="0">
                <a:solidFill>
                  <a:srgbClr val="0B1F2A"/>
                </a:solidFill>
                <a:latin typeface="Arial" pitchFamily="34" charset="0"/>
                <a:ea typeface="Arial" pitchFamily="34" charset="-122"/>
                <a:cs typeface="Arial" pitchFamily="34" charset="-120"/>
              </a:rPr>
              <a:t>Gold</a:t>
            </a:r>
            <a:endParaRPr lang="en-US" sz="2000" dirty="0"/>
          </a:p>
        </p:txBody>
      </p:sp>
      <p:sp>
        <p:nvSpPr>
          <p:cNvPr id="30" name="Text 28"/>
          <p:cNvSpPr txBox="1"/>
          <p:nvPr/>
        </p:nvSpPr>
        <p:spPr>
          <a:xfrm>
            <a:off x="9262872" y="2203704"/>
            <a:ext cx="2194560" cy="274320"/>
          </a:xfrm>
          <a:prstGeom prst="rect">
            <a:avLst/>
          </a:prstGeom>
          <a:noFill/>
          <a:ln/>
        </p:spPr>
        <p:txBody>
          <a:bodyPr wrap="square" lIns="0" tIns="0" rIns="0" bIns="0" rtlCol="0" anchor="t"/>
          <a:lstStyle/>
          <a:p>
            <a:pPr indent="0" marL="0">
              <a:buNone/>
            </a:pPr>
            <a:r>
              <a:rPr lang="en-US" sz="1200" b="1" dirty="0">
                <a:solidFill>
                  <a:srgbClr val="C8960C"/>
                </a:solidFill>
                <a:latin typeface="Calibri" pitchFamily="34" charset="0"/>
                <a:ea typeface="Calibri" pitchFamily="34" charset="-122"/>
                <a:cs typeface="Calibri" pitchFamily="34" charset="-120"/>
              </a:rPr>
              <a:t>Analysis-ready</a:t>
            </a:r>
            <a:endParaRPr lang="en-US" sz="1200" dirty="0"/>
          </a:p>
        </p:txBody>
      </p:sp>
      <p:sp>
        <p:nvSpPr>
          <p:cNvPr id="31" name="Text 29"/>
          <p:cNvSpPr txBox="1"/>
          <p:nvPr/>
        </p:nvSpPr>
        <p:spPr>
          <a:xfrm>
            <a:off x="8531352" y="2606040"/>
            <a:ext cx="2834640" cy="868680"/>
          </a:xfrm>
          <a:prstGeom prst="rect">
            <a:avLst/>
          </a:prstGeom>
          <a:noFill/>
          <a:ln/>
        </p:spPr>
        <p:txBody>
          <a:bodyPr wrap="square" lIns="0" tIns="0" rIns="0" bIns="0" rtlCol="0" anchor="t"/>
          <a:lstStyle/>
          <a:p>
            <a:pPr indent="0" marL="0">
              <a:buNone/>
            </a:pPr>
            <a:r>
              <a:rPr lang="en-US" sz="1250" dirty="0">
                <a:solidFill>
                  <a:srgbClr val="1B2B34"/>
                </a:solidFill>
                <a:latin typeface="Calibri" pitchFamily="34" charset="0"/>
                <a:ea typeface="Calibri" pitchFamily="34" charset="-122"/>
                <a:cs typeface="Calibri" pitchFamily="34" charset="-120"/>
              </a:rPr>
              <a:t>Small result tables read by the API and Power BI.</a:t>
            </a:r>
            <a:endParaRPr lang="en-US" sz="1250" dirty="0"/>
          </a:p>
        </p:txBody>
      </p:sp>
      <p:sp>
        <p:nvSpPr>
          <p:cNvPr id="32" name="Text 30"/>
          <p:cNvSpPr txBox="1"/>
          <p:nvPr/>
        </p:nvSpPr>
        <p:spPr>
          <a:xfrm>
            <a:off x="8531352" y="3520440"/>
            <a:ext cx="1828800" cy="228600"/>
          </a:xfrm>
          <a:prstGeom prst="rect">
            <a:avLst/>
          </a:prstGeom>
          <a:noFill/>
          <a:ln/>
        </p:spPr>
        <p:txBody>
          <a:bodyPr wrap="square" lIns="0" tIns="0" rIns="0" bIns="0" rtlCol="0" anchor="t"/>
          <a:lstStyle/>
          <a:p>
            <a:pPr indent="0" marL="0">
              <a:buNone/>
            </a:pPr>
            <a:r>
              <a:rPr lang="en-US" sz="1000" b="1" spc="200" kern="0" dirty="0">
                <a:solidFill>
                  <a:srgbClr val="5B6B75"/>
                </a:solidFill>
                <a:latin typeface="Calibri" pitchFamily="34" charset="0"/>
                <a:ea typeface="Calibri" pitchFamily="34" charset="-122"/>
                <a:cs typeface="Calibri" pitchFamily="34" charset="-120"/>
              </a:rPr>
              <a:t>TABLES</a:t>
            </a:r>
            <a:endParaRPr lang="en-US" sz="1000" dirty="0"/>
          </a:p>
        </p:txBody>
      </p:sp>
      <p:sp>
        <p:nvSpPr>
          <p:cNvPr id="33" name="Text 31"/>
          <p:cNvSpPr txBox="1"/>
          <p:nvPr/>
        </p:nvSpPr>
        <p:spPr>
          <a:xfrm>
            <a:off x="8531352" y="3758184"/>
            <a:ext cx="2926080" cy="1554480"/>
          </a:xfrm>
          <a:prstGeom prst="rect">
            <a:avLst/>
          </a:prstGeom>
          <a:noFill/>
          <a:ln/>
        </p:spPr>
        <p:txBody>
          <a:bodyPr wrap="square" lIns="0" tIns="0" rIns="0" bIns="0" rtlCol="0" anchor="t"/>
          <a:lstStyle/>
          <a:p>
            <a:pPr indent="0" marL="0">
              <a:buNone/>
            </a:pPr>
            <a:r>
              <a:rPr lang="en-US" sz="1050" dirty="0">
                <a:solidFill>
                  <a:srgbClr val="0B1F2A"/>
                </a:solidFill>
                <a:latin typeface="Courier New" pitchFamily="34" charset="0"/>
                <a:ea typeface="Courier New" pitchFamily="34" charset="-122"/>
                <a:cs typeface="Courier New" pitchFamily="34" charset="-120"/>
              </a:rPr>
              <a:t>fund_metrics   risk_scores</a:t>
            </a:r>
            <a:endParaRPr lang="en-US" sz="1050" dirty="0"/>
          </a:p>
          <a:p>
            <a:pPr indent="0" marL="0">
              <a:buNone/>
            </a:pPr>
            <a:r>
              <a:rPr lang="en-US" sz="1050" dirty="0">
                <a:solidFill>
                  <a:srgbClr val="0B1F2A"/>
                </a:solidFill>
                <a:latin typeface="Courier New" pitchFamily="34" charset="0"/>
                <a:ea typeface="Courier New" pitchFamily="34" charset="-122"/>
                <a:cs typeface="Courier New" pitchFamily="34" charset="-120"/>
              </a:rPr>
              <a:t>holding_period_stats</a:t>
            </a:r>
            <a:endParaRPr lang="en-US" sz="1050" dirty="0"/>
          </a:p>
          <a:p>
            <a:pPr indent="0" marL="0">
              <a:buNone/>
            </a:pPr>
            <a:r>
              <a:rPr lang="en-US" sz="1050" dirty="0">
                <a:solidFill>
                  <a:srgbClr val="0B1F2A"/>
                </a:solidFill>
                <a:latin typeface="Courier New" pitchFamily="34" charset="0"/>
                <a:ea typeface="Courier New" pitchFamily="34" charset="-122"/>
                <a:cs typeface="Courier New" pitchFamily="34" charset="-120"/>
              </a:rPr>
              <a:t>nav_monthly   model_comparison</a:t>
            </a:r>
            <a:endParaRPr lang="en-US" sz="1050" dirty="0"/>
          </a:p>
          <a:p>
            <a:pPr indent="0" marL="0">
              <a:buNone/>
            </a:pPr>
            <a:r>
              <a:rPr lang="en-US" sz="1050" dirty="0">
                <a:solidFill>
                  <a:srgbClr val="0B1F2A"/>
                </a:solidFill>
                <a:latin typeface="Courier New" pitchFamily="34" charset="0"/>
                <a:ea typeface="Courier New" pitchFamily="34" charset="-122"/>
                <a:cs typeface="Courier New" pitchFamily="34" charset="-120"/>
              </a:rPr>
              <a:t>model_by_year   model_predictions</a:t>
            </a:r>
            <a:endParaRPr lang="en-US" sz="1050" dirty="0"/>
          </a:p>
          <a:p>
            <a:pPr indent="0" marL="0">
              <a:buNone/>
            </a:pPr>
            <a:r>
              <a:rPr lang="en-US" sz="1050" dirty="0">
                <a:solidFill>
                  <a:srgbClr val="0B1F2A"/>
                </a:solidFill>
                <a:latin typeface="Courier New" pitchFamily="34" charset="0"/>
                <a:ea typeface="Courier New" pitchFamily="34" charset="-122"/>
                <a:cs typeface="Courier New" pitchFamily="34" charset="-120"/>
              </a:rPr>
              <a:t>risk_model_comparison</a:t>
            </a:r>
            <a:endParaRPr lang="en-US" sz="1050" dirty="0"/>
          </a:p>
          <a:p>
            <a:pPr indent="0" marL="0">
              <a:buNone/>
            </a:pPr>
            <a:r>
              <a:rPr lang="en-US" sz="1050" dirty="0">
                <a:solidFill>
                  <a:srgbClr val="0B1F2A"/>
                </a:solidFill>
                <a:latin typeface="Courier New" pitchFamily="34" charset="0"/>
                <a:ea typeface="Courier New" pitchFamily="34" charset="-122"/>
                <a:cs typeface="Courier New" pitchFamily="34" charset="-120"/>
              </a:rPr>
              <a:t>risk_prediction</a:t>
            </a:r>
            <a:endParaRPr lang="en-US" sz="1050" dirty="0"/>
          </a:p>
          <a:p>
            <a:pPr indent="0" marL="0">
              <a:buNone/>
            </a:pPr>
            <a:r>
              <a:rPr lang="en-US" sz="1050" dirty="0">
                <a:solidFill>
                  <a:srgbClr val="0B1F2A"/>
                </a:solidFill>
                <a:latin typeface="Courier New" pitchFamily="34" charset="0"/>
                <a:ea typeface="Courier New" pitchFamily="34" charset="-122"/>
                <a:cs typeface="Courier New" pitchFamily="34" charset="-120"/>
              </a:rPr>
              <a:t>stock_metrics   index_metrics</a:t>
            </a:r>
            <a:endParaRPr lang="en-US" sz="1050" dirty="0"/>
          </a:p>
          <a:p>
            <a:pPr indent="0" marL="0">
              <a:buNone/>
            </a:pPr>
            <a:r>
              <a:rPr lang="en-US" sz="1050" dirty="0">
                <a:solidFill>
                  <a:srgbClr val="0B1F2A"/>
                </a:solidFill>
                <a:latin typeface="Courier New" pitchFamily="34" charset="0"/>
                <a:ea typeface="Courier New" pitchFamily="34" charset="-122"/>
                <a:cs typeface="Courier New" pitchFamily="34" charset="-120"/>
              </a:rPr>
              <a:t>stock_debt_history</a:t>
            </a:r>
            <a:endParaRPr lang="en-US" sz="1050" dirty="0"/>
          </a:p>
          <a:p>
            <a:pPr indent="0" marL="0">
              <a:buNone/>
            </a:pPr>
            <a:r>
              <a:rPr lang="en-US" sz="1050" dirty="0">
                <a:solidFill>
                  <a:srgbClr val="0B1F2A"/>
                </a:solidFill>
                <a:latin typeface="Courier New" pitchFamily="34" charset="0"/>
                <a:ea typeface="Courier New" pitchFamily="34" charset="-122"/>
                <a:cs typeface="Courier New" pitchFamily="34" charset="-120"/>
              </a:rPr>
              <a:t>index_monthly</a:t>
            </a:r>
            <a:endParaRPr lang="en-US" sz="1050" dirty="0"/>
          </a:p>
        </p:txBody>
      </p:sp>
      <p:sp>
        <p:nvSpPr>
          <p:cNvPr id="34" name="Text 32"/>
          <p:cNvSpPr txBox="1"/>
          <p:nvPr/>
        </p:nvSpPr>
        <p:spPr>
          <a:xfrm>
            <a:off x="8531352" y="5394960"/>
            <a:ext cx="2926080" cy="274320"/>
          </a:xfrm>
          <a:prstGeom prst="rect">
            <a:avLst/>
          </a:prstGeom>
          <a:noFill/>
          <a:ln/>
        </p:spPr>
        <p:txBody>
          <a:bodyPr wrap="square" lIns="0" tIns="0" rIns="0" bIns="0" rtlCol="0" anchor="t"/>
          <a:lstStyle/>
          <a:p>
            <a:pPr indent="0" marL="0">
              <a:buNone/>
            </a:pPr>
            <a:r>
              <a:rPr lang="en-US" sz="1100" b="1" dirty="0">
                <a:solidFill>
                  <a:srgbClr val="5B6B75"/>
                </a:solidFill>
                <a:latin typeface="Calibri" pitchFamily="34" charset="0"/>
                <a:ea typeface="Calibri" pitchFamily="34" charset="-122"/>
                <a:cs typeface="Calibri" pitchFamily="34" charset="-120"/>
              </a:rPr>
              <a:t>Partitioned by: </a:t>
            </a:r>
            <a:pPr indent="0" marL="0">
              <a:buNone/>
            </a:pPr>
            <a:r>
              <a:rPr lang="en-US" sz="1100" dirty="0">
                <a:solidFill>
                  <a:srgbClr val="0B1F2A"/>
                </a:solidFill>
                <a:latin typeface="Courier New" pitchFamily="34" charset="0"/>
                <a:ea typeface="Courier New" pitchFamily="34" charset="-122"/>
                <a:cs typeface="Courier New" pitchFamily="34" charset="-120"/>
              </a:rPr>
              <a:t>none (small tables)</a:t>
            </a:r>
            <a:endParaRPr lang="en-US" sz="1100" dirty="0"/>
          </a:p>
        </p:txBody>
      </p:sp>
      <p:sp>
        <p:nvSpPr>
          <p:cNvPr id="35" name="Shape 33"/>
          <p:cNvSpPr/>
          <p:nvPr/>
        </p:nvSpPr>
        <p:spPr>
          <a:xfrm>
            <a:off x="548640" y="5943600"/>
            <a:ext cx="365760" cy="365760"/>
          </a:xfrm>
          <a:prstGeom prst="ellipse">
            <a:avLst/>
          </a:prstGeom>
          <a:solidFill>
            <a:srgbClr val="E6F5EE"/>
          </a:solidFill>
          <a:ln w="12700">
            <a:solidFill>
              <a:srgbClr val="E6F5EE"/>
            </a:solidFill>
            <a:prstDash val="solid"/>
          </a:ln>
        </p:spPr>
      </p:sp>
      <p:pic>
        <p:nvPicPr>
          <p:cNvPr id="36" name="Image 0" descr="preencoded.png">    </p:cNvPr>
          <p:cNvPicPr>
            <a:picLocks noChangeAspect="1"/>
          </p:cNvPicPr>
          <p:nvPr/>
        </p:nvPicPr>
        <p:blipFill>
          <a:blip r:embed="rId1"/>
          <a:stretch>
            <a:fillRect/>
          </a:stretch>
        </p:blipFill>
        <p:spPr>
          <a:xfrm>
            <a:off x="643738" y="6038698"/>
            <a:ext cx="175565" cy="175565"/>
          </a:xfrm>
          <a:prstGeom prst="rect">
            <a:avLst/>
          </a:prstGeom>
        </p:spPr>
      </p:pic>
      <p:sp>
        <p:nvSpPr>
          <p:cNvPr id="37" name="Text 34"/>
          <p:cNvSpPr txBox="1"/>
          <p:nvPr/>
        </p:nvSpPr>
        <p:spPr>
          <a:xfrm>
            <a:off x="1033272" y="5943600"/>
            <a:ext cx="10515600" cy="365760"/>
          </a:xfrm>
          <a:prstGeom prst="rect">
            <a:avLst/>
          </a:prstGeom>
          <a:noFill/>
          <a:ln/>
        </p:spPr>
        <p:txBody>
          <a:bodyPr wrap="square" lIns="0" tIns="0" rIns="0" bIns="0" rtlCol="0" anchor="ctr"/>
          <a:lstStyle/>
          <a:p>
            <a:pPr indent="0" marL="0">
              <a:buNone/>
            </a:pPr>
            <a:r>
              <a:rPr lang="en-US" sz="1300" b="1" dirty="0">
                <a:solidFill>
                  <a:srgbClr val="0B1F2A"/>
                </a:solidFill>
                <a:latin typeface="Calibri" pitchFamily="34" charset="0"/>
                <a:ea typeface="Calibri" pitchFamily="34" charset="-122"/>
                <a:cs typeface="Calibri" pitchFamily="34" charset="-120"/>
              </a:rPr>
              <a:t>Apache Parquet </a:t>
            </a:r>
            <a:pPr indent="0" marL="0">
              <a:buNone/>
            </a:pPr>
            <a:r>
              <a:rPr lang="en-US" sz="1300" dirty="0">
                <a:solidFill>
                  <a:srgbClr val="5B6B75"/>
                </a:solidFill>
                <a:latin typeface="Calibri" pitchFamily="34" charset="0"/>
                <a:ea typeface="Calibri" pitchFamily="34" charset="-122"/>
                <a:cs typeface="Calibri" pitchFamily="34" charset="-120"/>
              </a:rPr>
              <a:t>(columnar and compressed) lets Spark read only the columns and year partitions a query needs.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300" kern="0" dirty="0">
                <a:solidFill>
                  <a:srgbClr val="0E9F6E"/>
                </a:solidFill>
                <a:latin typeface="Calibri" pitchFamily="34" charset="0"/>
                <a:ea typeface="Calibri" pitchFamily="34" charset="-122"/>
                <a:cs typeface="Calibri" pitchFamily="34" charset="-120"/>
              </a:rPr>
              <a:t>08  ·  PROCESSING LAYER</a:t>
            </a:r>
            <a:endParaRPr lang="en-US" sz="1200" dirty="0"/>
          </a:p>
        </p:txBody>
      </p:sp>
      <p:sp>
        <p:nvSpPr>
          <p:cNvPr id="3" name="Text 1"/>
          <p:cNvSpPr txBox="1"/>
          <p:nvPr/>
        </p:nvSpPr>
        <p:spPr>
          <a:xfrm>
            <a:off x="548640" y="676656"/>
            <a:ext cx="11064240" cy="685800"/>
          </a:xfrm>
          <a:prstGeom prst="rect">
            <a:avLst/>
          </a:prstGeom>
          <a:noFill/>
          <a:ln/>
        </p:spPr>
        <p:txBody>
          <a:bodyPr wrap="square" lIns="0" tIns="0" rIns="0" bIns="0" rtlCol="0" anchor="ctr"/>
          <a:lstStyle/>
          <a:p>
            <a:pPr indent="0" marL="0">
              <a:buNone/>
            </a:pPr>
            <a:r>
              <a:rPr lang="en-US" sz="3000" b="1" dirty="0">
                <a:solidFill>
                  <a:srgbClr val="0B1F2A"/>
                </a:solidFill>
                <a:latin typeface="Arial" pitchFamily="34" charset="0"/>
                <a:ea typeface="Arial" pitchFamily="34" charset="-122"/>
                <a:cs typeface="Arial" pitchFamily="34" charset="-120"/>
              </a:rPr>
              <a:t>Four Spark jobs do all the computation</a:t>
            </a:r>
            <a:endParaRPr lang="en-US" sz="3000" dirty="0"/>
          </a:p>
        </p:txBody>
      </p:sp>
      <p:sp>
        <p:nvSpPr>
          <p:cNvPr id="4" name="Text 2"/>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B75"/>
                </a:solidFill>
                <a:latin typeface="Calibri" pitchFamily="34" charset="0"/>
                <a:ea typeface="Calibri" pitchFamily="34" charset="-122"/>
                <a:cs typeface="Calibri" pitchFamily="34" charset="-120"/>
              </a:rPr>
              <a:t>Big Data Architecture  |  Stock Market &amp; Mutual Fund Risk Analytics</a:t>
            </a:r>
            <a:endParaRPr lang="en-US" sz="900" dirty="0"/>
          </a:p>
        </p:txBody>
      </p:sp>
      <p:sp>
        <p:nvSpPr>
          <p:cNvPr id="5" name="Text 3"/>
          <p:cNvSpPr txBox="1"/>
          <p:nvPr/>
        </p:nvSpPr>
        <p:spPr>
          <a:xfrm>
            <a:off x="11183112" y="6473952"/>
            <a:ext cx="457200" cy="228600"/>
          </a:xfrm>
          <a:prstGeom prst="rect">
            <a:avLst/>
          </a:prstGeom>
          <a:noFill/>
          <a:ln/>
        </p:spPr>
        <p:txBody>
          <a:bodyPr wrap="square" lIns="0" tIns="0" rIns="0" bIns="0" rtlCol="0" anchor="t"/>
          <a:lstStyle/>
          <a:p>
            <a:pPr algn="r" indent="0" marL="0">
              <a:buNone/>
            </a:pPr>
            <a:r>
              <a:rPr lang="en-US" sz="900" dirty="0">
                <a:solidFill>
                  <a:srgbClr val="5B6B75"/>
                </a:solidFill>
                <a:latin typeface="Calibri" pitchFamily="34" charset="0"/>
                <a:ea typeface="Calibri" pitchFamily="34" charset="-122"/>
                <a:cs typeface="Calibri" pitchFamily="34" charset="-120"/>
              </a:rPr>
              <a:t>9</a:t>
            </a:r>
            <a:endParaRPr lang="en-US" sz="900" dirty="0"/>
          </a:p>
        </p:txBody>
      </p:sp>
      <p:sp>
        <p:nvSpPr>
          <p:cNvPr id="6" name="Shape 4"/>
          <p:cNvSpPr/>
          <p:nvPr/>
        </p:nvSpPr>
        <p:spPr>
          <a:xfrm>
            <a:off x="548640" y="1664208"/>
            <a:ext cx="457200" cy="457200"/>
          </a:xfrm>
          <a:prstGeom prst="ellipse">
            <a:avLst/>
          </a:prstGeom>
          <a:solidFill>
            <a:srgbClr val="E6F5EE"/>
          </a:solidFill>
          <a:ln w="12700">
            <a:solidFill>
              <a:srgbClr val="E6F5EE"/>
            </a:solidFill>
            <a:prstDash val="solid"/>
          </a:ln>
        </p:spPr>
      </p:sp>
      <p:sp>
        <p:nvSpPr>
          <p:cNvPr id="7" name="Text 5"/>
          <p:cNvSpPr txBox="1"/>
          <p:nvPr/>
        </p:nvSpPr>
        <p:spPr>
          <a:xfrm>
            <a:off x="548640" y="1664208"/>
            <a:ext cx="457200" cy="457200"/>
          </a:xfrm>
          <a:prstGeom prst="rect">
            <a:avLst/>
          </a:prstGeom>
          <a:noFill/>
          <a:ln/>
        </p:spPr>
        <p:txBody>
          <a:bodyPr wrap="square" lIns="0" tIns="0" rIns="0" bIns="0" rtlCol="0" anchor="ctr"/>
          <a:lstStyle/>
          <a:p>
            <a:pPr algn="ctr" indent="0" marL="0">
              <a:buNone/>
            </a:pPr>
            <a:r>
              <a:rPr lang="en-US" sz="1500" b="1" dirty="0">
                <a:solidFill>
                  <a:srgbClr val="0E9F6E"/>
                </a:solidFill>
                <a:latin typeface="Calibri" pitchFamily="34" charset="0"/>
                <a:ea typeface="Calibri" pitchFamily="34" charset="-122"/>
                <a:cs typeface="Calibri" pitchFamily="34" charset="-120"/>
              </a:rPr>
              <a:t>1</a:t>
            </a:r>
            <a:endParaRPr lang="en-US" sz="1500" dirty="0"/>
          </a:p>
        </p:txBody>
      </p:sp>
      <p:sp>
        <p:nvSpPr>
          <p:cNvPr id="8" name="Text 6"/>
          <p:cNvSpPr txBox="1"/>
          <p:nvPr/>
        </p:nvSpPr>
        <p:spPr>
          <a:xfrm>
            <a:off x="1188720" y="1618488"/>
            <a:ext cx="4663440" cy="292608"/>
          </a:xfrm>
          <a:prstGeom prst="rect">
            <a:avLst/>
          </a:prstGeom>
          <a:noFill/>
          <a:ln/>
        </p:spPr>
        <p:txBody>
          <a:bodyPr wrap="square" lIns="0" tIns="0" rIns="0" bIns="0" rtlCol="0" anchor="t"/>
          <a:lstStyle/>
          <a:p>
            <a:pPr indent="0" marL="0">
              <a:buNone/>
            </a:pPr>
            <a:r>
              <a:rPr lang="en-US" sz="1500" b="1" dirty="0">
                <a:solidFill>
                  <a:srgbClr val="0B1F2A"/>
                </a:solidFill>
                <a:latin typeface="Calibri" pitchFamily="34" charset="0"/>
                <a:ea typeface="Calibri" pitchFamily="34" charset="-122"/>
                <a:cs typeface="Calibri" pitchFamily="34" charset="-120"/>
              </a:rPr>
              <a:t>silver.py: clean</a:t>
            </a:r>
            <a:endParaRPr lang="en-US" sz="1500" dirty="0"/>
          </a:p>
        </p:txBody>
      </p:sp>
      <p:sp>
        <p:nvSpPr>
          <p:cNvPr id="9" name="Text 7"/>
          <p:cNvSpPr txBox="1"/>
          <p:nvPr/>
        </p:nvSpPr>
        <p:spPr>
          <a:xfrm>
            <a:off x="1188720" y="1911096"/>
            <a:ext cx="4663440" cy="420624"/>
          </a:xfrm>
          <a:prstGeom prst="rect">
            <a:avLst/>
          </a:prstGeom>
          <a:noFill/>
          <a:ln/>
        </p:spPr>
        <p:txBody>
          <a:bodyPr wrap="square" lIns="0" tIns="0" rIns="0" bIns="0" rtlCol="0" anchor="t"/>
          <a:lstStyle/>
          <a:p>
            <a:pPr indent="0" marL="0">
              <a:buNone/>
            </a:pPr>
            <a:r>
              <a:rPr lang="en-US" sz="1200" dirty="0">
                <a:solidFill>
                  <a:srgbClr val="5B6B75"/>
                </a:solidFill>
                <a:latin typeface="Calibri" pitchFamily="34" charset="0"/>
                <a:ea typeface="Calibri" pitchFamily="34" charset="-122"/>
                <a:cs typeface="Calibri" pitchFamily="34" charset="-120"/>
              </a:rPr>
              <a:t>Drop bad and duplicate NAVs, keep 2013 onwards, write Parquet by year.</a:t>
            </a:r>
            <a:endParaRPr lang="en-US" sz="1200" dirty="0"/>
          </a:p>
        </p:txBody>
      </p:sp>
      <p:sp>
        <p:nvSpPr>
          <p:cNvPr id="10" name="Shape 8"/>
          <p:cNvSpPr/>
          <p:nvPr/>
        </p:nvSpPr>
        <p:spPr>
          <a:xfrm>
            <a:off x="548640" y="2423160"/>
            <a:ext cx="457200" cy="457200"/>
          </a:xfrm>
          <a:prstGeom prst="ellipse">
            <a:avLst/>
          </a:prstGeom>
          <a:solidFill>
            <a:srgbClr val="E6F5EE"/>
          </a:solidFill>
          <a:ln w="12700">
            <a:solidFill>
              <a:srgbClr val="E6F5EE"/>
            </a:solidFill>
            <a:prstDash val="solid"/>
          </a:ln>
        </p:spPr>
      </p:sp>
      <p:sp>
        <p:nvSpPr>
          <p:cNvPr id="11" name="Text 9"/>
          <p:cNvSpPr txBox="1"/>
          <p:nvPr/>
        </p:nvSpPr>
        <p:spPr>
          <a:xfrm>
            <a:off x="548640" y="2423160"/>
            <a:ext cx="457200" cy="457200"/>
          </a:xfrm>
          <a:prstGeom prst="rect">
            <a:avLst/>
          </a:prstGeom>
          <a:noFill/>
          <a:ln/>
        </p:spPr>
        <p:txBody>
          <a:bodyPr wrap="square" lIns="0" tIns="0" rIns="0" bIns="0" rtlCol="0" anchor="ctr"/>
          <a:lstStyle/>
          <a:p>
            <a:pPr algn="ctr" indent="0" marL="0">
              <a:buNone/>
            </a:pPr>
            <a:r>
              <a:rPr lang="en-US" sz="1500" b="1" dirty="0">
                <a:solidFill>
                  <a:srgbClr val="0E9F6E"/>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1188720" y="2377440"/>
            <a:ext cx="4663440" cy="292608"/>
          </a:xfrm>
          <a:prstGeom prst="rect">
            <a:avLst/>
          </a:prstGeom>
          <a:noFill/>
          <a:ln/>
        </p:spPr>
        <p:txBody>
          <a:bodyPr wrap="square" lIns="0" tIns="0" rIns="0" bIns="0" rtlCol="0" anchor="t"/>
          <a:lstStyle/>
          <a:p>
            <a:pPr indent="0" marL="0">
              <a:buNone/>
            </a:pPr>
            <a:r>
              <a:rPr lang="en-US" sz="1500" b="1" dirty="0">
                <a:solidFill>
                  <a:srgbClr val="0B1F2A"/>
                </a:solidFill>
                <a:latin typeface="Calibri" pitchFamily="34" charset="0"/>
                <a:ea typeface="Calibri" pitchFamily="34" charset="-122"/>
                <a:cs typeface="Calibri" pitchFamily="34" charset="-120"/>
              </a:rPr>
              <a:t>silver.py: daily returns</a:t>
            </a:r>
            <a:endParaRPr lang="en-US" sz="1500" dirty="0"/>
          </a:p>
        </p:txBody>
      </p:sp>
      <p:sp>
        <p:nvSpPr>
          <p:cNvPr id="13" name="Text 11"/>
          <p:cNvSpPr txBox="1"/>
          <p:nvPr/>
        </p:nvSpPr>
        <p:spPr>
          <a:xfrm>
            <a:off x="1188720" y="2670048"/>
            <a:ext cx="4663440" cy="420624"/>
          </a:xfrm>
          <a:prstGeom prst="rect">
            <a:avLst/>
          </a:prstGeom>
          <a:noFill/>
          <a:ln/>
        </p:spPr>
        <p:txBody>
          <a:bodyPr wrap="square" lIns="0" tIns="0" rIns="0" bIns="0" rtlCol="0" anchor="t"/>
          <a:lstStyle/>
          <a:p>
            <a:pPr indent="0" marL="0">
              <a:buNone/>
            </a:pPr>
            <a:r>
              <a:rPr lang="en-US" sz="1200" dirty="0">
                <a:solidFill>
                  <a:srgbClr val="5B6B75"/>
                </a:solidFill>
                <a:latin typeface="Calibri" pitchFamily="34" charset="0"/>
                <a:ea typeface="Calibri" pitchFamily="34" charset="-122"/>
                <a:cs typeface="Calibri" pitchFamily="34" charset="-120"/>
              </a:rPr>
              <a:t>A window per scheme; jumps above 50% or after a 10-day gap are blanked.</a:t>
            </a:r>
            <a:endParaRPr lang="en-US" sz="1200" dirty="0"/>
          </a:p>
        </p:txBody>
      </p:sp>
      <p:sp>
        <p:nvSpPr>
          <p:cNvPr id="14" name="Shape 12"/>
          <p:cNvSpPr/>
          <p:nvPr/>
        </p:nvSpPr>
        <p:spPr>
          <a:xfrm>
            <a:off x="548640" y="3182112"/>
            <a:ext cx="457200" cy="457200"/>
          </a:xfrm>
          <a:prstGeom prst="ellipse">
            <a:avLst/>
          </a:prstGeom>
          <a:solidFill>
            <a:srgbClr val="E6F5EE"/>
          </a:solidFill>
          <a:ln w="12700">
            <a:solidFill>
              <a:srgbClr val="E6F5EE"/>
            </a:solidFill>
            <a:prstDash val="solid"/>
          </a:ln>
        </p:spPr>
      </p:sp>
      <p:sp>
        <p:nvSpPr>
          <p:cNvPr id="15" name="Text 13"/>
          <p:cNvSpPr txBox="1"/>
          <p:nvPr/>
        </p:nvSpPr>
        <p:spPr>
          <a:xfrm>
            <a:off x="548640" y="3182112"/>
            <a:ext cx="457200" cy="457200"/>
          </a:xfrm>
          <a:prstGeom prst="rect">
            <a:avLst/>
          </a:prstGeom>
          <a:noFill/>
          <a:ln/>
        </p:spPr>
        <p:txBody>
          <a:bodyPr wrap="square" lIns="0" tIns="0" rIns="0" bIns="0" rtlCol="0" anchor="ctr"/>
          <a:lstStyle/>
          <a:p>
            <a:pPr algn="ctr" indent="0" marL="0">
              <a:buNone/>
            </a:pPr>
            <a:r>
              <a:rPr lang="en-US" sz="1500" b="1" dirty="0">
                <a:solidFill>
                  <a:srgbClr val="0E9F6E"/>
                </a:solidFill>
                <a:latin typeface="Calibri" pitchFamily="34" charset="0"/>
                <a:ea typeface="Calibri" pitchFamily="34" charset="-122"/>
                <a:cs typeface="Calibri" pitchFamily="34" charset="-120"/>
              </a:rPr>
              <a:t>3</a:t>
            </a:r>
            <a:endParaRPr lang="en-US" sz="1500" dirty="0"/>
          </a:p>
        </p:txBody>
      </p:sp>
      <p:sp>
        <p:nvSpPr>
          <p:cNvPr id="16" name="Text 14"/>
          <p:cNvSpPr txBox="1"/>
          <p:nvPr/>
        </p:nvSpPr>
        <p:spPr>
          <a:xfrm>
            <a:off x="1188720" y="3136392"/>
            <a:ext cx="4663440" cy="292608"/>
          </a:xfrm>
          <a:prstGeom prst="rect">
            <a:avLst/>
          </a:prstGeom>
          <a:noFill/>
          <a:ln/>
        </p:spPr>
        <p:txBody>
          <a:bodyPr wrap="square" lIns="0" tIns="0" rIns="0" bIns="0" rtlCol="0" anchor="t"/>
          <a:lstStyle/>
          <a:p>
            <a:pPr indent="0" marL="0">
              <a:buNone/>
            </a:pPr>
            <a:r>
              <a:rPr lang="en-US" sz="1500" b="1" dirty="0">
                <a:solidFill>
                  <a:srgbClr val="0B1F2A"/>
                </a:solidFill>
                <a:latin typeface="Calibri" pitchFamily="34" charset="0"/>
                <a:ea typeface="Calibri" pitchFamily="34" charset="-122"/>
                <a:cs typeface="Calibri" pitchFamily="34" charset="-120"/>
              </a:rPr>
              <a:t>gold.py: returns and risk</a:t>
            </a:r>
            <a:endParaRPr lang="en-US" sz="1500" dirty="0"/>
          </a:p>
        </p:txBody>
      </p:sp>
      <p:sp>
        <p:nvSpPr>
          <p:cNvPr id="17" name="Text 15"/>
          <p:cNvSpPr txBox="1"/>
          <p:nvPr/>
        </p:nvSpPr>
        <p:spPr>
          <a:xfrm>
            <a:off x="1188720" y="3429000"/>
            <a:ext cx="4663440" cy="420624"/>
          </a:xfrm>
          <a:prstGeom prst="rect">
            <a:avLst/>
          </a:prstGeom>
          <a:noFill/>
          <a:ln/>
        </p:spPr>
        <p:txBody>
          <a:bodyPr wrap="square" lIns="0" tIns="0" rIns="0" bIns="0" rtlCol="0" anchor="t"/>
          <a:lstStyle/>
          <a:p>
            <a:pPr indent="0" marL="0">
              <a:buNone/>
            </a:pPr>
            <a:r>
              <a:rPr lang="en-US" sz="1200" dirty="0">
                <a:solidFill>
                  <a:srgbClr val="5B6B75"/>
                </a:solidFill>
                <a:latin typeface="Calibri" pitchFamily="34" charset="0"/>
                <a:ea typeface="Calibri" pitchFamily="34" charset="-122"/>
                <a:cs typeface="Calibri" pitchFamily="34" charset="-120"/>
              </a:rPr>
              <a:t>CAGR, volatility, drawdown from a running peak, VaR, CVaR, beta and alpha.</a:t>
            </a:r>
            <a:endParaRPr lang="en-US" sz="1200" dirty="0"/>
          </a:p>
        </p:txBody>
      </p:sp>
      <p:sp>
        <p:nvSpPr>
          <p:cNvPr id="18" name="Shape 16"/>
          <p:cNvSpPr/>
          <p:nvPr/>
        </p:nvSpPr>
        <p:spPr>
          <a:xfrm>
            <a:off x="548640" y="3941064"/>
            <a:ext cx="457200" cy="457200"/>
          </a:xfrm>
          <a:prstGeom prst="ellipse">
            <a:avLst/>
          </a:prstGeom>
          <a:solidFill>
            <a:srgbClr val="E6F5EE"/>
          </a:solidFill>
          <a:ln w="12700">
            <a:solidFill>
              <a:srgbClr val="E6F5EE"/>
            </a:solidFill>
            <a:prstDash val="solid"/>
          </a:ln>
        </p:spPr>
      </p:sp>
      <p:sp>
        <p:nvSpPr>
          <p:cNvPr id="19" name="Text 17"/>
          <p:cNvSpPr txBox="1"/>
          <p:nvPr/>
        </p:nvSpPr>
        <p:spPr>
          <a:xfrm>
            <a:off x="548640" y="3941064"/>
            <a:ext cx="457200" cy="457200"/>
          </a:xfrm>
          <a:prstGeom prst="rect">
            <a:avLst/>
          </a:prstGeom>
          <a:noFill/>
          <a:ln/>
        </p:spPr>
        <p:txBody>
          <a:bodyPr wrap="square" lIns="0" tIns="0" rIns="0" bIns="0" rtlCol="0" anchor="ctr"/>
          <a:lstStyle/>
          <a:p>
            <a:pPr algn="ctr" indent="0" marL="0">
              <a:buNone/>
            </a:pPr>
            <a:r>
              <a:rPr lang="en-US" sz="1500" b="1" dirty="0">
                <a:solidFill>
                  <a:srgbClr val="0E9F6E"/>
                </a:solidFill>
                <a:latin typeface="Calibri" pitchFamily="34" charset="0"/>
                <a:ea typeface="Calibri" pitchFamily="34" charset="-122"/>
                <a:cs typeface="Calibri" pitchFamily="34" charset="-120"/>
              </a:rPr>
              <a:t>4</a:t>
            </a:r>
            <a:endParaRPr lang="en-US" sz="1500" dirty="0"/>
          </a:p>
        </p:txBody>
      </p:sp>
      <p:sp>
        <p:nvSpPr>
          <p:cNvPr id="20" name="Text 18"/>
          <p:cNvSpPr txBox="1"/>
          <p:nvPr/>
        </p:nvSpPr>
        <p:spPr>
          <a:xfrm>
            <a:off x="1188720" y="3895344"/>
            <a:ext cx="4663440" cy="292608"/>
          </a:xfrm>
          <a:prstGeom prst="rect">
            <a:avLst/>
          </a:prstGeom>
          <a:noFill/>
          <a:ln/>
        </p:spPr>
        <p:txBody>
          <a:bodyPr wrap="square" lIns="0" tIns="0" rIns="0" bIns="0" rtlCol="0" anchor="t"/>
          <a:lstStyle/>
          <a:p>
            <a:pPr indent="0" marL="0">
              <a:buNone/>
            </a:pPr>
            <a:r>
              <a:rPr lang="en-US" sz="1500" b="1" dirty="0">
                <a:solidFill>
                  <a:srgbClr val="0B1F2A"/>
                </a:solidFill>
                <a:latin typeface="Calibri" pitchFamily="34" charset="0"/>
                <a:ea typeface="Calibri" pitchFamily="34" charset="-122"/>
                <a:cs typeface="Calibri" pitchFamily="34" charset="-120"/>
              </a:rPr>
              <a:t>gold.py: score and holding period</a:t>
            </a:r>
            <a:endParaRPr lang="en-US" sz="1500" dirty="0"/>
          </a:p>
        </p:txBody>
      </p:sp>
      <p:sp>
        <p:nvSpPr>
          <p:cNvPr id="21" name="Text 19"/>
          <p:cNvSpPr txBox="1"/>
          <p:nvPr/>
        </p:nvSpPr>
        <p:spPr>
          <a:xfrm>
            <a:off x="1188720" y="4187952"/>
            <a:ext cx="4663440" cy="420624"/>
          </a:xfrm>
          <a:prstGeom prst="rect">
            <a:avLst/>
          </a:prstGeom>
          <a:noFill/>
          <a:ln/>
        </p:spPr>
        <p:txBody>
          <a:bodyPr wrap="square" lIns="0" tIns="0" rIns="0" bIns="0" rtlCol="0" anchor="t"/>
          <a:lstStyle/>
          <a:p>
            <a:pPr indent="0" marL="0">
              <a:buNone/>
            </a:pPr>
            <a:r>
              <a:rPr lang="en-US" sz="1200" dirty="0">
                <a:solidFill>
                  <a:srgbClr val="5B6B75"/>
                </a:solidFill>
                <a:latin typeface="Calibri" pitchFamily="34" charset="0"/>
                <a:ea typeface="Calibri" pitchFamily="34" charset="-122"/>
                <a:cs typeface="Calibri" pitchFamily="34" charset="-120"/>
              </a:rPr>
              <a:t>Percentile ranks give the risk score; month-end windows give the holding-period table.</a:t>
            </a:r>
            <a:endParaRPr lang="en-US" sz="1200" dirty="0"/>
          </a:p>
        </p:txBody>
      </p:sp>
      <p:sp>
        <p:nvSpPr>
          <p:cNvPr id="22" name="Shape 20"/>
          <p:cNvSpPr/>
          <p:nvPr/>
        </p:nvSpPr>
        <p:spPr>
          <a:xfrm>
            <a:off x="548640" y="4700016"/>
            <a:ext cx="457200" cy="457200"/>
          </a:xfrm>
          <a:prstGeom prst="ellipse">
            <a:avLst/>
          </a:prstGeom>
          <a:solidFill>
            <a:srgbClr val="E6F5EE"/>
          </a:solidFill>
          <a:ln w="12700">
            <a:solidFill>
              <a:srgbClr val="E6F5EE"/>
            </a:solidFill>
            <a:prstDash val="solid"/>
          </a:ln>
        </p:spPr>
      </p:sp>
      <p:sp>
        <p:nvSpPr>
          <p:cNvPr id="23" name="Text 21"/>
          <p:cNvSpPr txBox="1"/>
          <p:nvPr/>
        </p:nvSpPr>
        <p:spPr>
          <a:xfrm>
            <a:off x="548640" y="4700016"/>
            <a:ext cx="457200" cy="457200"/>
          </a:xfrm>
          <a:prstGeom prst="rect">
            <a:avLst/>
          </a:prstGeom>
          <a:noFill/>
          <a:ln/>
        </p:spPr>
        <p:txBody>
          <a:bodyPr wrap="square" lIns="0" tIns="0" rIns="0" bIns="0" rtlCol="0" anchor="ctr"/>
          <a:lstStyle/>
          <a:p>
            <a:pPr algn="ctr" indent="0" marL="0">
              <a:buNone/>
            </a:pPr>
            <a:r>
              <a:rPr lang="en-US" sz="1500" b="1" dirty="0">
                <a:solidFill>
                  <a:srgbClr val="0E9F6E"/>
                </a:solidFill>
                <a:latin typeface="Calibri" pitchFamily="34" charset="0"/>
                <a:ea typeface="Calibri" pitchFamily="34" charset="-122"/>
                <a:cs typeface="Calibri" pitchFamily="34" charset="-120"/>
              </a:rPr>
              <a:t>5</a:t>
            </a:r>
            <a:endParaRPr lang="en-US" sz="1500" dirty="0"/>
          </a:p>
        </p:txBody>
      </p:sp>
      <p:sp>
        <p:nvSpPr>
          <p:cNvPr id="24" name="Text 22"/>
          <p:cNvSpPr txBox="1"/>
          <p:nvPr/>
        </p:nvSpPr>
        <p:spPr>
          <a:xfrm>
            <a:off x="1188720" y="4654296"/>
            <a:ext cx="4663440" cy="292608"/>
          </a:xfrm>
          <a:prstGeom prst="rect">
            <a:avLst/>
          </a:prstGeom>
          <a:noFill/>
          <a:ln/>
        </p:spPr>
        <p:txBody>
          <a:bodyPr wrap="square" lIns="0" tIns="0" rIns="0" bIns="0" rtlCol="0" anchor="t"/>
          <a:lstStyle/>
          <a:p>
            <a:pPr indent="0" marL="0">
              <a:buNone/>
            </a:pPr>
            <a:r>
              <a:rPr lang="en-US" sz="1500" b="1" dirty="0">
                <a:solidFill>
                  <a:srgbClr val="0B1F2A"/>
                </a:solidFill>
                <a:latin typeface="Calibri" pitchFamily="34" charset="0"/>
                <a:ea typeface="Calibri" pitchFamily="34" charset="-122"/>
                <a:cs typeface="Calibri" pitchFamily="34" charset="-120"/>
              </a:rPr>
              <a:t>models.py: machine learning</a:t>
            </a:r>
            <a:endParaRPr lang="en-US" sz="1500" dirty="0"/>
          </a:p>
        </p:txBody>
      </p:sp>
      <p:sp>
        <p:nvSpPr>
          <p:cNvPr id="25" name="Text 23"/>
          <p:cNvSpPr txBox="1"/>
          <p:nvPr/>
        </p:nvSpPr>
        <p:spPr>
          <a:xfrm>
            <a:off x="1188720" y="4946904"/>
            <a:ext cx="4663440" cy="420624"/>
          </a:xfrm>
          <a:prstGeom prst="rect">
            <a:avLst/>
          </a:prstGeom>
          <a:noFill/>
          <a:ln/>
        </p:spPr>
        <p:txBody>
          <a:bodyPr wrap="square" lIns="0" tIns="0" rIns="0" bIns="0" rtlCol="0" anchor="t"/>
          <a:lstStyle/>
          <a:p>
            <a:pPr indent="0" marL="0">
              <a:buNone/>
            </a:pPr>
            <a:r>
              <a:rPr lang="en-US" sz="1200" dirty="0">
                <a:solidFill>
                  <a:srgbClr val="5B6B75"/>
                </a:solidFill>
                <a:latin typeface="Calibri" pitchFamily="34" charset="0"/>
                <a:ea typeface="Calibri" pitchFamily="34" charset="-122"/>
                <a:cs typeface="Calibri" pitchFamily="34" charset="-120"/>
              </a:rPr>
              <a:t>Monthly features, Spark MLlib models and walk-forward testing.</a:t>
            </a:r>
            <a:endParaRPr lang="en-US" sz="1200" dirty="0"/>
          </a:p>
        </p:txBody>
      </p:sp>
      <p:sp>
        <p:nvSpPr>
          <p:cNvPr id="26" name="Shape 24"/>
          <p:cNvSpPr/>
          <p:nvPr/>
        </p:nvSpPr>
        <p:spPr>
          <a:xfrm>
            <a:off x="548640" y="5458968"/>
            <a:ext cx="457200" cy="457200"/>
          </a:xfrm>
          <a:prstGeom prst="ellipse">
            <a:avLst/>
          </a:prstGeom>
          <a:solidFill>
            <a:srgbClr val="E6F5EE"/>
          </a:solidFill>
          <a:ln w="12700">
            <a:solidFill>
              <a:srgbClr val="E6F5EE"/>
            </a:solidFill>
            <a:prstDash val="solid"/>
          </a:ln>
        </p:spPr>
      </p:sp>
      <p:sp>
        <p:nvSpPr>
          <p:cNvPr id="27" name="Text 25"/>
          <p:cNvSpPr txBox="1"/>
          <p:nvPr/>
        </p:nvSpPr>
        <p:spPr>
          <a:xfrm>
            <a:off x="548640" y="5458968"/>
            <a:ext cx="457200" cy="457200"/>
          </a:xfrm>
          <a:prstGeom prst="rect">
            <a:avLst/>
          </a:prstGeom>
          <a:noFill/>
          <a:ln/>
        </p:spPr>
        <p:txBody>
          <a:bodyPr wrap="square" lIns="0" tIns="0" rIns="0" bIns="0" rtlCol="0" anchor="ctr"/>
          <a:lstStyle/>
          <a:p>
            <a:pPr algn="ctr" indent="0" marL="0">
              <a:buNone/>
            </a:pPr>
            <a:r>
              <a:rPr lang="en-US" sz="1500" b="1" dirty="0">
                <a:solidFill>
                  <a:srgbClr val="0E9F6E"/>
                </a:solidFill>
                <a:latin typeface="Calibri" pitchFamily="34" charset="0"/>
                <a:ea typeface="Calibri" pitchFamily="34" charset="-122"/>
                <a:cs typeface="Calibri" pitchFamily="34" charset="-120"/>
              </a:rPr>
              <a:t>6</a:t>
            </a:r>
            <a:endParaRPr lang="en-US" sz="1500" dirty="0"/>
          </a:p>
        </p:txBody>
      </p:sp>
      <p:sp>
        <p:nvSpPr>
          <p:cNvPr id="28" name="Text 26"/>
          <p:cNvSpPr txBox="1"/>
          <p:nvPr/>
        </p:nvSpPr>
        <p:spPr>
          <a:xfrm>
            <a:off x="1188720" y="5413248"/>
            <a:ext cx="4663440" cy="292608"/>
          </a:xfrm>
          <a:prstGeom prst="rect">
            <a:avLst/>
          </a:prstGeom>
          <a:noFill/>
          <a:ln/>
        </p:spPr>
        <p:txBody>
          <a:bodyPr wrap="square" lIns="0" tIns="0" rIns="0" bIns="0" rtlCol="0" anchor="t"/>
          <a:lstStyle/>
          <a:p>
            <a:pPr indent="0" marL="0">
              <a:buNone/>
            </a:pPr>
            <a:r>
              <a:rPr lang="en-US" sz="1500" b="1" dirty="0">
                <a:solidFill>
                  <a:srgbClr val="0B1F2A"/>
                </a:solidFill>
                <a:latin typeface="Calibri" pitchFamily="34" charset="0"/>
                <a:ea typeface="Calibri" pitchFamily="34" charset="-122"/>
                <a:cs typeface="Calibri" pitchFamily="34" charset="-120"/>
              </a:rPr>
              <a:t>stocks.py: stocks, debt and indices</a:t>
            </a:r>
            <a:endParaRPr lang="en-US" sz="1500" dirty="0"/>
          </a:p>
        </p:txBody>
      </p:sp>
      <p:sp>
        <p:nvSpPr>
          <p:cNvPr id="29" name="Text 27"/>
          <p:cNvSpPr txBox="1"/>
          <p:nvPr/>
        </p:nvSpPr>
        <p:spPr>
          <a:xfrm>
            <a:off x="1188720" y="5705856"/>
            <a:ext cx="4663440" cy="420624"/>
          </a:xfrm>
          <a:prstGeom prst="rect">
            <a:avLst/>
          </a:prstGeom>
          <a:noFill/>
          <a:ln/>
        </p:spPr>
        <p:txBody>
          <a:bodyPr wrap="square" lIns="0" tIns="0" rIns="0" bIns="0" rtlCol="0" anchor="t"/>
          <a:lstStyle/>
          <a:p>
            <a:pPr indent="0" marL="0">
              <a:buNone/>
            </a:pPr>
            <a:r>
              <a:rPr lang="en-US" sz="1200" dirty="0">
                <a:solidFill>
                  <a:srgbClr val="5B6B75"/>
                </a:solidFill>
                <a:latin typeface="Calibri" pitchFamily="34" charset="0"/>
                <a:ea typeface="Calibri" pitchFamily="34" charset="-122"/>
                <a:cs typeface="Calibri" pitchFamily="34" charset="-120"/>
              </a:rPr>
              <a:t>The same return and risk metrics for the Nifty 50 companies, plus debt-to-equity and interest cover.</a:t>
            </a:r>
            <a:endParaRPr lang="en-US" sz="1200" dirty="0"/>
          </a:p>
        </p:txBody>
      </p:sp>
      <p:sp>
        <p:nvSpPr>
          <p:cNvPr id="30" name="Shape 28"/>
          <p:cNvSpPr/>
          <p:nvPr/>
        </p:nvSpPr>
        <p:spPr>
          <a:xfrm>
            <a:off x="6035040" y="1645920"/>
            <a:ext cx="5605272" cy="3749040"/>
          </a:xfrm>
          <a:prstGeom prst="roundRect">
            <a:avLst>
              <a:gd name="adj" fmla="val 2927"/>
            </a:avLst>
          </a:prstGeom>
          <a:solidFill>
            <a:srgbClr val="0B1F2A"/>
          </a:solidFill>
          <a:ln w="12700">
            <a:solidFill>
              <a:srgbClr val="0B1F2A"/>
            </a:solidFill>
            <a:prstDash val="solid"/>
          </a:ln>
          <a:effectLst>
            <a:outerShdw sx="100000" sy="100000" kx="0" ky="0" algn="bl" rotWithShape="0" blurRad="101600" dist="25400" dir="5400000">
              <a:srgbClr val="000000">
                <a:alpha val="10000"/>
              </a:srgbClr>
            </a:outerShdw>
          </a:effectLst>
        </p:spPr>
      </p:sp>
      <p:sp>
        <p:nvSpPr>
          <p:cNvPr id="31" name="Text 29"/>
          <p:cNvSpPr txBox="1"/>
          <p:nvPr/>
        </p:nvSpPr>
        <p:spPr>
          <a:xfrm>
            <a:off x="6309360" y="1828800"/>
            <a:ext cx="5120640" cy="320040"/>
          </a:xfrm>
          <a:prstGeom prst="rect">
            <a:avLst/>
          </a:prstGeom>
          <a:noFill/>
          <a:ln/>
        </p:spPr>
        <p:txBody>
          <a:bodyPr wrap="square" lIns="0" tIns="0" rIns="0" bIns="0" rtlCol="0" anchor="t"/>
          <a:lstStyle/>
          <a:p>
            <a:pPr indent="0" marL="0">
              <a:buNone/>
            </a:pPr>
            <a:r>
              <a:rPr lang="en-US" sz="1300" b="1" dirty="0">
                <a:solidFill>
                  <a:srgbClr val="F5A524"/>
                </a:solidFill>
                <a:latin typeface="Calibri" pitchFamily="34" charset="0"/>
                <a:ea typeface="Calibri" pitchFamily="34" charset="-122"/>
                <a:cs typeface="Calibri" pitchFamily="34" charset="-120"/>
              </a:rPr>
              <a:t>From our jobs: daily return and running peak</a:t>
            </a:r>
            <a:endParaRPr lang="en-US" sz="1300" dirty="0"/>
          </a:p>
        </p:txBody>
      </p:sp>
      <p:sp>
        <p:nvSpPr>
          <p:cNvPr id="32" name="Text 30"/>
          <p:cNvSpPr txBox="1"/>
          <p:nvPr/>
        </p:nvSpPr>
        <p:spPr>
          <a:xfrm>
            <a:off x="6309360" y="2286000"/>
            <a:ext cx="5120640" cy="2926080"/>
          </a:xfrm>
          <a:prstGeom prst="rect">
            <a:avLst/>
          </a:prstGeom>
          <a:noFill/>
          <a:ln/>
        </p:spPr>
        <p:txBody>
          <a:bodyPr wrap="square" lIns="0" tIns="0" rIns="0" bIns="0" rtlCol="0" anchor="t"/>
          <a:lstStyle/>
          <a:p>
            <a:pPr indent="0" marL="0">
              <a:buNone/>
            </a:pPr>
            <a:r>
              <a:rPr lang="en-US" sz="1150" dirty="0">
                <a:solidFill>
                  <a:srgbClr val="D7E6EC"/>
                </a:solidFill>
                <a:latin typeface="Courier New" pitchFamily="34" charset="0"/>
                <a:ea typeface="Courier New" pitchFamily="34" charset="-122"/>
                <a:cs typeface="Courier New" pitchFamily="34" charset="-120"/>
              </a:rPr>
              <a:t>w = Window.partitionBy("scheme_code").orderBy("date")</a:t>
            </a:r>
            <a:endParaRPr lang="en-US" sz="1150" dirty="0"/>
          </a:p>
          <a:p>
            <a:pPr indent="0" marL="0">
              <a:buNone/>
            </a:pPr>
            <a:endParaRPr lang="en-US" sz="1150" dirty="0"/>
          </a:p>
          <a:p>
            <a:pPr indent="0" marL="0">
              <a:buNone/>
            </a:pPr>
            <a:r>
              <a:rPr lang="en-US" sz="1150" dirty="0">
                <a:solidFill>
                  <a:srgbClr val="D7E6EC"/>
                </a:solidFill>
                <a:latin typeface="Courier New" pitchFamily="34" charset="0"/>
                <a:ea typeface="Courier New" pitchFamily="34" charset="-122"/>
                <a:cs typeface="Courier New" pitchFamily="34" charset="-120"/>
              </a:rPr>
              <a:t># daily return = today's NAV / previous NAV - 1</a:t>
            </a:r>
            <a:endParaRPr lang="en-US" sz="1150" dirty="0"/>
          </a:p>
          <a:p>
            <a:pPr indent="0" marL="0">
              <a:buNone/>
            </a:pPr>
            <a:r>
              <a:rPr lang="en-US" sz="1150" dirty="0">
                <a:solidFill>
                  <a:srgbClr val="D7E6EC"/>
                </a:solidFill>
                <a:latin typeface="Courier New" pitchFamily="34" charset="0"/>
                <a:ea typeface="Courier New" pitchFamily="34" charset="-122"/>
                <a:cs typeface="Courier New" pitchFamily="34" charset="-120"/>
              </a:rPr>
              <a:t>clean = clean.withColumn("daily_return",</a:t>
            </a:r>
            <a:endParaRPr lang="en-US" sz="1150" dirty="0"/>
          </a:p>
          <a:p>
            <a:pPr indent="0" marL="0">
              <a:buNone/>
            </a:pPr>
            <a:r>
              <a:rPr lang="en-US" sz="1150" dirty="0">
                <a:solidFill>
                  <a:srgbClr val="D7E6EC"/>
                </a:solidFill>
                <a:latin typeface="Courier New" pitchFamily="34" charset="0"/>
                <a:ea typeface="Courier New" pitchFamily="34" charset="-122"/>
                <a:cs typeface="Courier New" pitchFamily="34" charset="-120"/>
              </a:rPr>
              <a:t>    F.col("nav") / F.lag("nav").over(w) - 1)</a:t>
            </a:r>
            <a:endParaRPr lang="en-US" sz="1150" dirty="0"/>
          </a:p>
          <a:p>
            <a:pPr indent="0" marL="0">
              <a:buNone/>
            </a:pPr>
            <a:endParaRPr lang="en-US" sz="1150" dirty="0"/>
          </a:p>
          <a:p>
            <a:pPr indent="0" marL="0">
              <a:buNone/>
            </a:pPr>
            <a:r>
              <a:rPr lang="en-US" sz="1150" dirty="0">
                <a:solidFill>
                  <a:srgbClr val="D7E6EC"/>
                </a:solidFill>
                <a:latin typeface="Courier New" pitchFamily="34" charset="0"/>
                <a:ea typeface="Courier New" pitchFamily="34" charset="-122"/>
                <a:cs typeface="Courier New" pitchFamily="34" charset="-120"/>
              </a:rPr>
              <a:t># maximum drawdown = biggest fall from a peak</a:t>
            </a:r>
            <a:endParaRPr lang="en-US" sz="1150" dirty="0"/>
          </a:p>
          <a:p>
            <a:pPr indent="0" marL="0">
              <a:buNone/>
            </a:pPr>
            <a:r>
              <a:rPr lang="en-US" sz="1150" dirty="0">
                <a:solidFill>
                  <a:srgbClr val="D7E6EC"/>
                </a:solidFill>
                <a:latin typeface="Courier New" pitchFamily="34" charset="0"/>
                <a:ea typeface="Courier New" pitchFamily="34" charset="-122"/>
                <a:cs typeface="Courier New" pitchFamily="34" charset="-120"/>
              </a:rPr>
              <a:t>run = w.rowsBetween(Window.unboundedPreceding, 0)</a:t>
            </a:r>
            <a:endParaRPr lang="en-US" sz="1150" dirty="0"/>
          </a:p>
          <a:p>
            <a:pPr indent="0" marL="0">
              <a:buNone/>
            </a:pPr>
            <a:r>
              <a:rPr lang="en-US" sz="1150" dirty="0">
                <a:solidFill>
                  <a:srgbClr val="D7E6EC"/>
                </a:solidFill>
                <a:latin typeface="Courier New" pitchFamily="34" charset="0"/>
                <a:ea typeface="Courier New" pitchFamily="34" charset="-122"/>
                <a:cs typeface="Courier New" pitchFamily="34" charset="-120"/>
              </a:rPr>
              <a:t>mdd = nav.withColumn("peak", F.max("nav").over(run))</a:t>
            </a:r>
            <a:endParaRPr lang="en-US" sz="1150" dirty="0"/>
          </a:p>
          <a:p>
            <a:pPr indent="0" marL="0">
              <a:buNone/>
            </a:pPr>
            <a:r>
              <a:rPr lang="en-US" sz="1150" dirty="0">
                <a:solidFill>
                  <a:srgbClr val="D7E6EC"/>
                </a:solidFill>
                <a:latin typeface="Courier New" pitchFamily="34" charset="0"/>
                <a:ea typeface="Courier New" pitchFamily="34" charset="-122"/>
                <a:cs typeface="Courier New" pitchFamily="34" charset="-120"/>
              </a:rPr>
              <a:t>mdd = mdd.groupBy("scheme_code").agg(</a:t>
            </a:r>
            <a:endParaRPr lang="en-US" sz="1150" dirty="0"/>
          </a:p>
          <a:p>
            <a:pPr indent="0" marL="0">
              <a:buNone/>
            </a:pPr>
            <a:r>
              <a:rPr lang="en-US" sz="1150" dirty="0">
                <a:solidFill>
                  <a:srgbClr val="D7E6EC"/>
                </a:solidFill>
                <a:latin typeface="Courier New" pitchFamily="34" charset="0"/>
                <a:ea typeface="Courier New" pitchFamily="34" charset="-122"/>
                <a:cs typeface="Courier New" pitchFamily="34" charset="-120"/>
              </a:rPr>
              <a:t>    F.min(F.col("nav") / F.col("peak") - 1))</a:t>
            </a:r>
            <a:endParaRPr lang="en-US" sz="1150" dirty="0"/>
          </a:p>
        </p:txBody>
      </p:sp>
      <p:sp>
        <p:nvSpPr>
          <p:cNvPr id="33" name="Text 31"/>
          <p:cNvSpPr txBox="1"/>
          <p:nvPr/>
        </p:nvSpPr>
        <p:spPr>
          <a:xfrm>
            <a:off x="6035040" y="5577840"/>
            <a:ext cx="5605272" cy="594360"/>
          </a:xfrm>
          <a:prstGeom prst="rect">
            <a:avLst/>
          </a:prstGeom>
          <a:noFill/>
          <a:ln/>
        </p:spPr>
        <p:txBody>
          <a:bodyPr wrap="square" lIns="0" tIns="0" rIns="0" bIns="0" rtlCol="0" anchor="t"/>
          <a:lstStyle/>
          <a:p>
            <a:pPr indent="0" marL="0">
              <a:buNone/>
            </a:pPr>
            <a:r>
              <a:rPr lang="en-US" sz="1300" i="1" dirty="0">
                <a:solidFill>
                  <a:srgbClr val="1F6F8B"/>
                </a:solidFill>
                <a:latin typeface="Calibri" pitchFamily="34" charset="0"/>
                <a:ea typeface="Calibri" pitchFamily="34" charset="-122"/>
                <a:cs typeface="Calibri" pitchFamily="34" charset="-120"/>
              </a:rPr>
              <a:t>Spark splits the work by scheme_code, so each fund's history is processed in parallel. Small lookup tables are broadcast to every worker.</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300" kern="0" dirty="0">
                <a:solidFill>
                  <a:srgbClr val="0E9F6E"/>
                </a:solidFill>
                <a:latin typeface="Calibri" pitchFamily="34" charset="0"/>
                <a:ea typeface="Calibri" pitchFamily="34" charset="-122"/>
                <a:cs typeface="Calibri" pitchFamily="34" charset="-120"/>
              </a:rPr>
              <a:t>09  ·  ANALYTICS LAYER</a:t>
            </a:r>
            <a:endParaRPr lang="en-US" sz="1200" dirty="0"/>
          </a:p>
        </p:txBody>
      </p:sp>
      <p:sp>
        <p:nvSpPr>
          <p:cNvPr id="3" name="Text 1"/>
          <p:cNvSpPr txBox="1"/>
          <p:nvPr/>
        </p:nvSpPr>
        <p:spPr>
          <a:xfrm>
            <a:off x="548640" y="676656"/>
            <a:ext cx="11064240" cy="685800"/>
          </a:xfrm>
          <a:prstGeom prst="rect">
            <a:avLst/>
          </a:prstGeom>
          <a:noFill/>
          <a:ln/>
        </p:spPr>
        <p:txBody>
          <a:bodyPr wrap="square" lIns="0" tIns="0" rIns="0" bIns="0" rtlCol="0" anchor="ctr"/>
          <a:lstStyle/>
          <a:p>
            <a:pPr indent="0" marL="0">
              <a:buNone/>
            </a:pPr>
            <a:r>
              <a:rPr lang="en-US" sz="3000" b="1" dirty="0">
                <a:solidFill>
                  <a:srgbClr val="0B1F2A"/>
                </a:solidFill>
                <a:latin typeface="Arial" pitchFamily="34" charset="0"/>
                <a:ea typeface="Arial" pitchFamily="34" charset="-122"/>
                <a:cs typeface="Arial" pitchFamily="34" charset="-120"/>
              </a:rPr>
              <a:t>Return and risk metrics computed for every fund</a:t>
            </a:r>
            <a:endParaRPr lang="en-US" sz="3000" dirty="0"/>
          </a:p>
        </p:txBody>
      </p:sp>
      <p:sp>
        <p:nvSpPr>
          <p:cNvPr id="4" name="Text 2"/>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B75"/>
                </a:solidFill>
                <a:latin typeface="Calibri" pitchFamily="34" charset="0"/>
                <a:ea typeface="Calibri" pitchFamily="34" charset="-122"/>
                <a:cs typeface="Calibri" pitchFamily="34" charset="-120"/>
              </a:rPr>
              <a:t>Big Data Architecture  |  Stock Market &amp; Mutual Fund Risk Analytics</a:t>
            </a:r>
            <a:endParaRPr lang="en-US" sz="900" dirty="0"/>
          </a:p>
        </p:txBody>
      </p:sp>
      <p:sp>
        <p:nvSpPr>
          <p:cNvPr id="5" name="Text 3"/>
          <p:cNvSpPr txBox="1"/>
          <p:nvPr/>
        </p:nvSpPr>
        <p:spPr>
          <a:xfrm>
            <a:off x="11183112" y="6473952"/>
            <a:ext cx="457200" cy="228600"/>
          </a:xfrm>
          <a:prstGeom prst="rect">
            <a:avLst/>
          </a:prstGeom>
          <a:noFill/>
          <a:ln/>
        </p:spPr>
        <p:txBody>
          <a:bodyPr wrap="square" lIns="0" tIns="0" rIns="0" bIns="0" rtlCol="0" anchor="t"/>
          <a:lstStyle/>
          <a:p>
            <a:pPr algn="r" indent="0" marL="0">
              <a:buNone/>
            </a:pPr>
            <a:r>
              <a:rPr lang="en-US" sz="900" dirty="0">
                <a:solidFill>
                  <a:srgbClr val="5B6B75"/>
                </a:solidFill>
                <a:latin typeface="Calibri" pitchFamily="34" charset="0"/>
                <a:ea typeface="Calibri" pitchFamily="34" charset="-122"/>
                <a:cs typeface="Calibri" pitchFamily="34" charset="-120"/>
              </a:rPr>
              <a:t>10</a:t>
            </a:r>
            <a:endParaRPr lang="en-US" sz="900" dirty="0"/>
          </a:p>
        </p:txBody>
      </p:sp>
      <p:sp>
        <p:nvSpPr>
          <p:cNvPr id="6" name="Shape 4"/>
          <p:cNvSpPr/>
          <p:nvPr/>
        </p:nvSpPr>
        <p:spPr>
          <a:xfrm>
            <a:off x="548640" y="1645920"/>
            <a:ext cx="5440680" cy="4526280"/>
          </a:xfrm>
          <a:prstGeom prst="roundRect">
            <a:avLst>
              <a:gd name="adj" fmla="val 2424"/>
            </a:avLst>
          </a:prstGeom>
          <a:solidFill>
            <a:srgbClr val="F2F6F8"/>
          </a:solidFill>
          <a:ln w="12700">
            <a:solidFill>
              <a:srgbClr val="F2F6F8"/>
            </a:solidFill>
            <a:prstDash val="solid"/>
          </a:ln>
        </p:spPr>
      </p:sp>
      <p:sp>
        <p:nvSpPr>
          <p:cNvPr id="7" name="Shape 5"/>
          <p:cNvSpPr/>
          <p:nvPr/>
        </p:nvSpPr>
        <p:spPr>
          <a:xfrm>
            <a:off x="822960" y="1874520"/>
            <a:ext cx="502920" cy="502920"/>
          </a:xfrm>
          <a:prstGeom prst="ellipse">
            <a:avLst/>
          </a:prstGeom>
          <a:solidFill>
            <a:srgbClr val="0E9F6E"/>
          </a:solidFill>
          <a:ln w="12700">
            <a:solidFill>
              <a:srgbClr val="0E9F6E"/>
            </a:solidFill>
            <a:prstDash val="solid"/>
          </a:ln>
        </p:spPr>
      </p:sp>
      <p:pic>
        <p:nvPicPr>
          <p:cNvPr id="8" name="Image 0" descr="preencoded.png">    </p:cNvPr>
          <p:cNvPicPr>
            <a:picLocks noChangeAspect="1"/>
          </p:cNvPicPr>
          <p:nvPr/>
        </p:nvPicPr>
        <p:blipFill>
          <a:blip r:embed="rId1"/>
          <a:stretch>
            <a:fillRect/>
          </a:stretch>
        </p:blipFill>
        <p:spPr>
          <a:xfrm>
            <a:off x="953719" y="2005279"/>
            <a:ext cx="241402" cy="241402"/>
          </a:xfrm>
          <a:prstGeom prst="rect">
            <a:avLst/>
          </a:prstGeom>
        </p:spPr>
      </p:pic>
      <p:sp>
        <p:nvSpPr>
          <p:cNvPr id="9" name="Text 6"/>
          <p:cNvSpPr txBox="1"/>
          <p:nvPr/>
        </p:nvSpPr>
        <p:spPr>
          <a:xfrm>
            <a:off x="1508760" y="1920240"/>
            <a:ext cx="2743200" cy="411480"/>
          </a:xfrm>
          <a:prstGeom prst="rect">
            <a:avLst/>
          </a:prstGeom>
          <a:noFill/>
          <a:ln/>
        </p:spPr>
        <p:txBody>
          <a:bodyPr wrap="square" lIns="0" tIns="0" rIns="0" bIns="0" rtlCol="0" anchor="ctr"/>
          <a:lstStyle/>
          <a:p>
            <a:pPr indent="0" marL="0">
              <a:buNone/>
            </a:pPr>
            <a:r>
              <a:rPr lang="en-US" sz="2000" b="1" dirty="0">
                <a:solidFill>
                  <a:srgbClr val="0B1F2A"/>
                </a:solidFill>
                <a:latin typeface="Arial" pitchFamily="34" charset="0"/>
                <a:ea typeface="Arial" pitchFamily="34" charset="-122"/>
                <a:cs typeface="Arial" pitchFamily="34" charset="-120"/>
              </a:rPr>
              <a:t>Returns</a:t>
            </a:r>
            <a:endParaRPr lang="en-US" sz="2000" dirty="0"/>
          </a:p>
        </p:txBody>
      </p:sp>
      <p:sp>
        <p:nvSpPr>
          <p:cNvPr id="10" name="Text 7"/>
          <p:cNvSpPr txBox="1"/>
          <p:nvPr/>
        </p:nvSpPr>
        <p:spPr>
          <a:xfrm>
            <a:off x="868680" y="2606040"/>
            <a:ext cx="4846320" cy="292608"/>
          </a:xfrm>
          <a:prstGeom prst="rect">
            <a:avLst/>
          </a:prstGeom>
          <a:noFill/>
          <a:ln/>
        </p:spPr>
        <p:txBody>
          <a:bodyPr wrap="square" lIns="0" tIns="0" rIns="0" bIns="0" rtlCol="0" anchor="t"/>
          <a:lstStyle/>
          <a:p>
            <a:pPr indent="0" marL="0">
              <a:buNone/>
            </a:pPr>
            <a:r>
              <a:rPr lang="en-US" sz="1450" b="1" dirty="0">
                <a:solidFill>
                  <a:srgbClr val="0B1F2A"/>
                </a:solidFill>
                <a:latin typeface="Calibri" pitchFamily="34" charset="0"/>
                <a:ea typeface="Calibri" pitchFamily="34" charset="-122"/>
                <a:cs typeface="Calibri" pitchFamily="34" charset="-120"/>
              </a:rPr>
              <a:t>1-year return</a:t>
            </a:r>
            <a:endParaRPr lang="en-US" sz="1450" dirty="0"/>
          </a:p>
        </p:txBody>
      </p:sp>
      <p:sp>
        <p:nvSpPr>
          <p:cNvPr id="11" name="Text 8"/>
          <p:cNvSpPr txBox="1"/>
          <p:nvPr/>
        </p:nvSpPr>
        <p:spPr>
          <a:xfrm>
            <a:off x="868680" y="2898648"/>
            <a:ext cx="4846320" cy="329184"/>
          </a:xfrm>
          <a:prstGeom prst="rect">
            <a:avLst/>
          </a:prstGeom>
          <a:noFill/>
          <a:ln/>
        </p:spPr>
        <p:txBody>
          <a:bodyPr wrap="square" lIns="0" tIns="0" rIns="0" bIns="0" rtlCol="0" anchor="t"/>
          <a:lstStyle/>
          <a:p>
            <a:pPr indent="0" marL="0">
              <a:buNone/>
            </a:pPr>
            <a:r>
              <a:rPr lang="en-US" sz="1250" dirty="0">
                <a:solidFill>
                  <a:srgbClr val="5B6B75"/>
                </a:solidFill>
                <a:latin typeface="Calibri" pitchFamily="34" charset="0"/>
                <a:ea typeface="Calibri" pitchFamily="34" charset="-122"/>
                <a:cs typeface="Calibri" pitchFamily="34" charset="-120"/>
              </a:rPr>
              <a:t>Change in NAV over the last 12 months.</a:t>
            </a:r>
            <a:endParaRPr lang="en-US" sz="1250" dirty="0"/>
          </a:p>
        </p:txBody>
      </p:sp>
      <p:sp>
        <p:nvSpPr>
          <p:cNvPr id="12" name="Text 9"/>
          <p:cNvSpPr txBox="1"/>
          <p:nvPr/>
        </p:nvSpPr>
        <p:spPr>
          <a:xfrm>
            <a:off x="868680" y="3300984"/>
            <a:ext cx="4846320" cy="292608"/>
          </a:xfrm>
          <a:prstGeom prst="rect">
            <a:avLst/>
          </a:prstGeom>
          <a:noFill/>
          <a:ln/>
        </p:spPr>
        <p:txBody>
          <a:bodyPr wrap="square" lIns="0" tIns="0" rIns="0" bIns="0" rtlCol="0" anchor="t"/>
          <a:lstStyle/>
          <a:p>
            <a:pPr indent="0" marL="0">
              <a:buNone/>
            </a:pPr>
            <a:r>
              <a:rPr lang="en-US" sz="1450" b="1" dirty="0">
                <a:solidFill>
                  <a:srgbClr val="0B1F2A"/>
                </a:solidFill>
                <a:latin typeface="Calibri" pitchFamily="34" charset="0"/>
                <a:ea typeface="Calibri" pitchFamily="34" charset="-122"/>
                <a:cs typeface="Calibri" pitchFamily="34" charset="-120"/>
              </a:rPr>
              <a:t>CAGR over 3, 5 and 10 years</a:t>
            </a:r>
            <a:endParaRPr lang="en-US" sz="1450" dirty="0"/>
          </a:p>
        </p:txBody>
      </p:sp>
      <p:sp>
        <p:nvSpPr>
          <p:cNvPr id="13" name="Text 10"/>
          <p:cNvSpPr txBox="1"/>
          <p:nvPr/>
        </p:nvSpPr>
        <p:spPr>
          <a:xfrm>
            <a:off x="868680" y="3593592"/>
            <a:ext cx="4846320" cy="329184"/>
          </a:xfrm>
          <a:prstGeom prst="rect">
            <a:avLst/>
          </a:prstGeom>
          <a:noFill/>
          <a:ln/>
        </p:spPr>
        <p:txBody>
          <a:bodyPr wrap="square" lIns="0" tIns="0" rIns="0" bIns="0" rtlCol="0" anchor="t"/>
          <a:lstStyle/>
          <a:p>
            <a:pPr indent="0" marL="0">
              <a:buNone/>
            </a:pPr>
            <a:r>
              <a:rPr lang="en-US" sz="1250" dirty="0">
                <a:solidFill>
                  <a:srgbClr val="5B6B75"/>
                </a:solidFill>
                <a:latin typeface="Courier New" pitchFamily="34" charset="0"/>
                <a:ea typeface="Courier New" pitchFamily="34" charset="-122"/>
                <a:cs typeface="Courier New" pitchFamily="34" charset="-120"/>
              </a:rPr>
              <a:t>(End value ÷ Start value)^(1 / years) − 1</a:t>
            </a:r>
            <a:endParaRPr lang="en-US" sz="1250" dirty="0"/>
          </a:p>
        </p:txBody>
      </p:sp>
      <p:sp>
        <p:nvSpPr>
          <p:cNvPr id="14" name="Text 11"/>
          <p:cNvSpPr txBox="1"/>
          <p:nvPr/>
        </p:nvSpPr>
        <p:spPr>
          <a:xfrm>
            <a:off x="868680" y="3995928"/>
            <a:ext cx="4846320" cy="292608"/>
          </a:xfrm>
          <a:prstGeom prst="rect">
            <a:avLst/>
          </a:prstGeom>
          <a:noFill/>
          <a:ln/>
        </p:spPr>
        <p:txBody>
          <a:bodyPr wrap="square" lIns="0" tIns="0" rIns="0" bIns="0" rtlCol="0" anchor="t"/>
          <a:lstStyle/>
          <a:p>
            <a:pPr indent="0" marL="0">
              <a:buNone/>
            </a:pPr>
            <a:r>
              <a:rPr lang="en-US" sz="1450" b="1" dirty="0">
                <a:solidFill>
                  <a:srgbClr val="0B1F2A"/>
                </a:solidFill>
                <a:latin typeface="Calibri" pitchFamily="34" charset="0"/>
                <a:ea typeface="Calibri" pitchFamily="34" charset="-122"/>
                <a:cs typeface="Calibri" pitchFamily="34" charset="-120"/>
              </a:rPr>
              <a:t>Value of ₹1 lakh</a:t>
            </a:r>
            <a:endParaRPr lang="en-US" sz="1450" dirty="0"/>
          </a:p>
        </p:txBody>
      </p:sp>
      <p:sp>
        <p:nvSpPr>
          <p:cNvPr id="15" name="Text 12"/>
          <p:cNvSpPr txBox="1"/>
          <p:nvPr/>
        </p:nvSpPr>
        <p:spPr>
          <a:xfrm>
            <a:off x="868680" y="4288536"/>
            <a:ext cx="4846320" cy="329184"/>
          </a:xfrm>
          <a:prstGeom prst="rect">
            <a:avLst/>
          </a:prstGeom>
          <a:noFill/>
          <a:ln/>
        </p:spPr>
        <p:txBody>
          <a:bodyPr wrap="square" lIns="0" tIns="0" rIns="0" bIns="0" rtlCol="0" anchor="t"/>
          <a:lstStyle/>
          <a:p>
            <a:pPr indent="0" marL="0">
              <a:buNone/>
            </a:pPr>
            <a:r>
              <a:rPr lang="en-US" sz="1250" dirty="0">
                <a:solidFill>
                  <a:srgbClr val="5B6B75"/>
                </a:solidFill>
                <a:latin typeface="Calibri" pitchFamily="34" charset="0"/>
                <a:ea typeface="Calibri" pitchFamily="34" charset="-122"/>
                <a:cs typeface="Calibri" pitchFamily="34" charset="-120"/>
              </a:rPr>
              <a:t>What ₹1,00,000 invested 10 years ago is worth today.</a:t>
            </a:r>
            <a:endParaRPr lang="en-US" sz="1250" dirty="0"/>
          </a:p>
        </p:txBody>
      </p:sp>
      <p:sp>
        <p:nvSpPr>
          <p:cNvPr id="16" name="Text 13"/>
          <p:cNvSpPr txBox="1"/>
          <p:nvPr/>
        </p:nvSpPr>
        <p:spPr>
          <a:xfrm>
            <a:off x="868680" y="4690872"/>
            <a:ext cx="4846320" cy="292608"/>
          </a:xfrm>
          <a:prstGeom prst="rect">
            <a:avLst/>
          </a:prstGeom>
          <a:noFill/>
          <a:ln/>
        </p:spPr>
        <p:txBody>
          <a:bodyPr wrap="square" lIns="0" tIns="0" rIns="0" bIns="0" rtlCol="0" anchor="t"/>
          <a:lstStyle/>
          <a:p>
            <a:pPr indent="0" marL="0">
              <a:buNone/>
            </a:pPr>
            <a:r>
              <a:rPr lang="en-US" sz="1450" b="1" dirty="0">
                <a:solidFill>
                  <a:srgbClr val="0B1F2A"/>
                </a:solidFill>
                <a:latin typeface="Calibri" pitchFamily="34" charset="0"/>
                <a:ea typeface="Calibri" pitchFamily="34" charset="-122"/>
                <a:cs typeface="Calibri" pitchFamily="34" charset="-120"/>
              </a:rPr>
              <a:t>Holding-period returns</a:t>
            </a:r>
            <a:endParaRPr lang="en-US" sz="1450" dirty="0"/>
          </a:p>
        </p:txBody>
      </p:sp>
      <p:sp>
        <p:nvSpPr>
          <p:cNvPr id="17" name="Text 14"/>
          <p:cNvSpPr txBox="1"/>
          <p:nvPr/>
        </p:nvSpPr>
        <p:spPr>
          <a:xfrm>
            <a:off x="868680" y="4983480"/>
            <a:ext cx="4846320" cy="329184"/>
          </a:xfrm>
          <a:prstGeom prst="rect">
            <a:avLst/>
          </a:prstGeom>
          <a:noFill/>
          <a:ln/>
        </p:spPr>
        <p:txBody>
          <a:bodyPr wrap="square" lIns="0" tIns="0" rIns="0" bIns="0" rtlCol="0" anchor="t"/>
          <a:lstStyle/>
          <a:p>
            <a:pPr indent="0" marL="0">
              <a:buNone/>
            </a:pPr>
            <a:r>
              <a:rPr lang="en-US" sz="1250" dirty="0">
                <a:solidFill>
                  <a:srgbClr val="5B6B75"/>
                </a:solidFill>
                <a:latin typeface="Calibri" pitchFamily="34" charset="0"/>
                <a:ea typeface="Calibri" pitchFamily="34" charset="-122"/>
                <a:cs typeface="Calibri" pitchFamily="34" charset="-120"/>
              </a:rPr>
              <a:t>Return of every 1, 3, 5, 7 and 10-year window.</a:t>
            </a:r>
            <a:endParaRPr lang="en-US" sz="1250" dirty="0"/>
          </a:p>
        </p:txBody>
      </p:sp>
      <p:sp>
        <p:nvSpPr>
          <p:cNvPr id="18" name="Shape 15"/>
          <p:cNvSpPr/>
          <p:nvPr/>
        </p:nvSpPr>
        <p:spPr>
          <a:xfrm>
            <a:off x="6199632" y="1645920"/>
            <a:ext cx="5440680" cy="4526280"/>
          </a:xfrm>
          <a:prstGeom prst="roundRect">
            <a:avLst>
              <a:gd name="adj" fmla="val 2424"/>
            </a:avLst>
          </a:prstGeom>
          <a:solidFill>
            <a:srgbClr val="F2F6F8"/>
          </a:solidFill>
          <a:ln w="12700">
            <a:solidFill>
              <a:srgbClr val="F2F6F8"/>
            </a:solidFill>
            <a:prstDash val="solid"/>
          </a:ln>
        </p:spPr>
      </p:sp>
      <p:sp>
        <p:nvSpPr>
          <p:cNvPr id="19" name="Shape 16"/>
          <p:cNvSpPr/>
          <p:nvPr/>
        </p:nvSpPr>
        <p:spPr>
          <a:xfrm>
            <a:off x="6473952" y="1874520"/>
            <a:ext cx="502920" cy="502920"/>
          </a:xfrm>
          <a:prstGeom prst="ellipse">
            <a:avLst/>
          </a:prstGeom>
          <a:solidFill>
            <a:srgbClr val="E5484D"/>
          </a:solidFill>
          <a:ln w="12700">
            <a:solidFill>
              <a:srgbClr val="E5484D"/>
            </a:solidFill>
            <a:prstDash val="solid"/>
          </a:ln>
        </p:spPr>
      </p:sp>
      <p:pic>
        <p:nvPicPr>
          <p:cNvPr id="20" name="Image 1" descr="preencoded.png">    </p:cNvPr>
          <p:cNvPicPr>
            <a:picLocks noChangeAspect="1"/>
          </p:cNvPicPr>
          <p:nvPr/>
        </p:nvPicPr>
        <p:blipFill>
          <a:blip r:embed="rId2"/>
          <a:stretch>
            <a:fillRect/>
          </a:stretch>
        </p:blipFill>
        <p:spPr>
          <a:xfrm>
            <a:off x="6604711" y="2005279"/>
            <a:ext cx="241402" cy="241402"/>
          </a:xfrm>
          <a:prstGeom prst="rect">
            <a:avLst/>
          </a:prstGeom>
        </p:spPr>
      </p:pic>
      <p:sp>
        <p:nvSpPr>
          <p:cNvPr id="21" name="Text 17"/>
          <p:cNvSpPr txBox="1"/>
          <p:nvPr/>
        </p:nvSpPr>
        <p:spPr>
          <a:xfrm>
            <a:off x="7159752" y="1920240"/>
            <a:ext cx="2743200" cy="411480"/>
          </a:xfrm>
          <a:prstGeom prst="rect">
            <a:avLst/>
          </a:prstGeom>
          <a:noFill/>
          <a:ln/>
        </p:spPr>
        <p:txBody>
          <a:bodyPr wrap="square" lIns="0" tIns="0" rIns="0" bIns="0" rtlCol="0" anchor="ctr"/>
          <a:lstStyle/>
          <a:p>
            <a:pPr indent="0" marL="0">
              <a:buNone/>
            </a:pPr>
            <a:r>
              <a:rPr lang="en-US" sz="2000" b="1" dirty="0">
                <a:solidFill>
                  <a:srgbClr val="0B1F2A"/>
                </a:solidFill>
                <a:latin typeface="Arial" pitchFamily="34" charset="0"/>
                <a:ea typeface="Arial" pitchFamily="34" charset="-122"/>
                <a:cs typeface="Arial" pitchFamily="34" charset="-120"/>
              </a:rPr>
              <a:t>Risk</a:t>
            </a:r>
            <a:endParaRPr lang="en-US" sz="2000" dirty="0"/>
          </a:p>
        </p:txBody>
      </p:sp>
      <p:sp>
        <p:nvSpPr>
          <p:cNvPr id="22" name="Text 18"/>
          <p:cNvSpPr txBox="1"/>
          <p:nvPr/>
        </p:nvSpPr>
        <p:spPr>
          <a:xfrm>
            <a:off x="6519672" y="2606040"/>
            <a:ext cx="4846320" cy="292608"/>
          </a:xfrm>
          <a:prstGeom prst="rect">
            <a:avLst/>
          </a:prstGeom>
          <a:noFill/>
          <a:ln/>
        </p:spPr>
        <p:txBody>
          <a:bodyPr wrap="square" lIns="0" tIns="0" rIns="0" bIns="0" rtlCol="0" anchor="t"/>
          <a:lstStyle/>
          <a:p>
            <a:pPr indent="0" marL="0">
              <a:buNone/>
            </a:pPr>
            <a:r>
              <a:rPr lang="en-US" sz="1450" b="1" dirty="0">
                <a:solidFill>
                  <a:srgbClr val="0B1F2A"/>
                </a:solidFill>
                <a:latin typeface="Calibri" pitchFamily="34" charset="0"/>
                <a:ea typeface="Calibri" pitchFamily="34" charset="-122"/>
                <a:cs typeface="Calibri" pitchFamily="34" charset="-120"/>
              </a:rPr>
              <a:t>Volatility</a:t>
            </a:r>
            <a:endParaRPr lang="en-US" sz="1450" dirty="0"/>
          </a:p>
        </p:txBody>
      </p:sp>
      <p:sp>
        <p:nvSpPr>
          <p:cNvPr id="23" name="Text 19"/>
          <p:cNvSpPr txBox="1"/>
          <p:nvPr/>
        </p:nvSpPr>
        <p:spPr>
          <a:xfrm>
            <a:off x="6519672" y="2898648"/>
            <a:ext cx="4846320" cy="329184"/>
          </a:xfrm>
          <a:prstGeom prst="rect">
            <a:avLst/>
          </a:prstGeom>
          <a:noFill/>
          <a:ln/>
        </p:spPr>
        <p:txBody>
          <a:bodyPr wrap="square" lIns="0" tIns="0" rIns="0" bIns="0" rtlCol="0" anchor="t"/>
          <a:lstStyle/>
          <a:p>
            <a:pPr indent="0" marL="0">
              <a:buNone/>
            </a:pPr>
            <a:r>
              <a:rPr lang="en-US" sz="1250" dirty="0">
                <a:solidFill>
                  <a:srgbClr val="5B6B75"/>
                </a:solidFill>
                <a:latin typeface="Calibri" pitchFamily="34" charset="0"/>
                <a:ea typeface="Calibri" pitchFamily="34" charset="-122"/>
                <a:cs typeface="Calibri" pitchFamily="34" charset="-120"/>
              </a:rPr>
              <a:t>Annualised standard deviation of daily returns.</a:t>
            </a:r>
            <a:endParaRPr lang="en-US" sz="1250" dirty="0"/>
          </a:p>
        </p:txBody>
      </p:sp>
      <p:sp>
        <p:nvSpPr>
          <p:cNvPr id="24" name="Text 20"/>
          <p:cNvSpPr txBox="1"/>
          <p:nvPr/>
        </p:nvSpPr>
        <p:spPr>
          <a:xfrm>
            <a:off x="6519672" y="3300984"/>
            <a:ext cx="4846320" cy="292608"/>
          </a:xfrm>
          <a:prstGeom prst="rect">
            <a:avLst/>
          </a:prstGeom>
          <a:noFill/>
          <a:ln/>
        </p:spPr>
        <p:txBody>
          <a:bodyPr wrap="square" lIns="0" tIns="0" rIns="0" bIns="0" rtlCol="0" anchor="t"/>
          <a:lstStyle/>
          <a:p>
            <a:pPr indent="0" marL="0">
              <a:buNone/>
            </a:pPr>
            <a:r>
              <a:rPr lang="en-US" sz="1450" b="1" dirty="0">
                <a:solidFill>
                  <a:srgbClr val="0B1F2A"/>
                </a:solidFill>
                <a:latin typeface="Calibri" pitchFamily="34" charset="0"/>
                <a:ea typeface="Calibri" pitchFamily="34" charset="-122"/>
                <a:cs typeface="Calibri" pitchFamily="34" charset="-120"/>
              </a:rPr>
              <a:t>Maximum drawdown</a:t>
            </a:r>
            <a:endParaRPr lang="en-US" sz="1450" dirty="0"/>
          </a:p>
        </p:txBody>
      </p:sp>
      <p:sp>
        <p:nvSpPr>
          <p:cNvPr id="25" name="Text 21"/>
          <p:cNvSpPr txBox="1"/>
          <p:nvPr/>
        </p:nvSpPr>
        <p:spPr>
          <a:xfrm>
            <a:off x="6519672" y="3593592"/>
            <a:ext cx="4846320" cy="329184"/>
          </a:xfrm>
          <a:prstGeom prst="rect">
            <a:avLst/>
          </a:prstGeom>
          <a:noFill/>
          <a:ln/>
        </p:spPr>
        <p:txBody>
          <a:bodyPr wrap="square" lIns="0" tIns="0" rIns="0" bIns="0" rtlCol="0" anchor="t"/>
          <a:lstStyle/>
          <a:p>
            <a:pPr indent="0" marL="0">
              <a:buNone/>
            </a:pPr>
            <a:r>
              <a:rPr lang="en-US" sz="1250" dirty="0">
                <a:solidFill>
                  <a:srgbClr val="5B6B75"/>
                </a:solidFill>
                <a:latin typeface="Calibri" pitchFamily="34" charset="0"/>
                <a:ea typeface="Calibri" pitchFamily="34" charset="-122"/>
                <a:cs typeface="Calibri" pitchFamily="34" charset="-120"/>
              </a:rPr>
              <a:t>Largest peak-to-trough fall in value.</a:t>
            </a:r>
            <a:endParaRPr lang="en-US" sz="1250" dirty="0"/>
          </a:p>
        </p:txBody>
      </p:sp>
      <p:sp>
        <p:nvSpPr>
          <p:cNvPr id="26" name="Text 22"/>
          <p:cNvSpPr txBox="1"/>
          <p:nvPr/>
        </p:nvSpPr>
        <p:spPr>
          <a:xfrm>
            <a:off x="6519672" y="3995928"/>
            <a:ext cx="4846320" cy="292608"/>
          </a:xfrm>
          <a:prstGeom prst="rect">
            <a:avLst/>
          </a:prstGeom>
          <a:noFill/>
          <a:ln/>
        </p:spPr>
        <p:txBody>
          <a:bodyPr wrap="square" lIns="0" tIns="0" rIns="0" bIns="0" rtlCol="0" anchor="t"/>
          <a:lstStyle/>
          <a:p>
            <a:pPr indent="0" marL="0">
              <a:buNone/>
            </a:pPr>
            <a:r>
              <a:rPr lang="en-US" sz="1450" b="1" dirty="0">
                <a:solidFill>
                  <a:srgbClr val="0B1F2A"/>
                </a:solidFill>
                <a:latin typeface="Calibri" pitchFamily="34" charset="0"/>
                <a:ea typeface="Calibri" pitchFamily="34" charset="-122"/>
                <a:cs typeface="Calibri" pitchFamily="34" charset="-120"/>
              </a:rPr>
              <a:t>Beta and Alpha</a:t>
            </a:r>
            <a:endParaRPr lang="en-US" sz="1450" dirty="0"/>
          </a:p>
        </p:txBody>
      </p:sp>
      <p:sp>
        <p:nvSpPr>
          <p:cNvPr id="27" name="Text 23"/>
          <p:cNvSpPr txBox="1"/>
          <p:nvPr/>
        </p:nvSpPr>
        <p:spPr>
          <a:xfrm>
            <a:off x="6519672" y="4288536"/>
            <a:ext cx="4846320" cy="329184"/>
          </a:xfrm>
          <a:prstGeom prst="rect">
            <a:avLst/>
          </a:prstGeom>
          <a:noFill/>
          <a:ln/>
        </p:spPr>
        <p:txBody>
          <a:bodyPr wrap="square" lIns="0" tIns="0" rIns="0" bIns="0" rtlCol="0" anchor="t"/>
          <a:lstStyle/>
          <a:p>
            <a:pPr indent="0" marL="0">
              <a:buNone/>
            </a:pPr>
            <a:r>
              <a:rPr lang="en-US" sz="1250" dirty="0">
                <a:solidFill>
                  <a:srgbClr val="5B6B75"/>
                </a:solidFill>
                <a:latin typeface="Calibri" pitchFamily="34" charset="0"/>
                <a:ea typeface="Calibri" pitchFamily="34" charset="-122"/>
                <a:cs typeface="Calibri" pitchFamily="34" charset="-120"/>
              </a:rPr>
              <a:t>Sensitivity to, and excess return over, the Nifty 50 index fund.</a:t>
            </a:r>
            <a:endParaRPr lang="en-US" sz="1250" dirty="0"/>
          </a:p>
        </p:txBody>
      </p:sp>
      <p:sp>
        <p:nvSpPr>
          <p:cNvPr id="28" name="Text 24"/>
          <p:cNvSpPr txBox="1"/>
          <p:nvPr/>
        </p:nvSpPr>
        <p:spPr>
          <a:xfrm>
            <a:off x="6519672" y="4690872"/>
            <a:ext cx="4846320" cy="292608"/>
          </a:xfrm>
          <a:prstGeom prst="rect">
            <a:avLst/>
          </a:prstGeom>
          <a:noFill/>
          <a:ln/>
        </p:spPr>
        <p:txBody>
          <a:bodyPr wrap="square" lIns="0" tIns="0" rIns="0" bIns="0" rtlCol="0" anchor="t"/>
          <a:lstStyle/>
          <a:p>
            <a:pPr indent="0" marL="0">
              <a:buNone/>
            </a:pPr>
            <a:r>
              <a:rPr lang="en-US" sz="1450" b="1" dirty="0">
                <a:solidFill>
                  <a:srgbClr val="0B1F2A"/>
                </a:solidFill>
                <a:latin typeface="Calibri" pitchFamily="34" charset="0"/>
                <a:ea typeface="Calibri" pitchFamily="34" charset="-122"/>
                <a:cs typeface="Calibri" pitchFamily="34" charset="-120"/>
              </a:rPr>
              <a:t>Sharpe and Sortino</a:t>
            </a:r>
            <a:endParaRPr lang="en-US" sz="1450" dirty="0"/>
          </a:p>
        </p:txBody>
      </p:sp>
      <p:sp>
        <p:nvSpPr>
          <p:cNvPr id="29" name="Text 25"/>
          <p:cNvSpPr txBox="1"/>
          <p:nvPr/>
        </p:nvSpPr>
        <p:spPr>
          <a:xfrm>
            <a:off x="6519672" y="4983480"/>
            <a:ext cx="4846320" cy="329184"/>
          </a:xfrm>
          <a:prstGeom prst="rect">
            <a:avLst/>
          </a:prstGeom>
          <a:noFill/>
          <a:ln/>
        </p:spPr>
        <p:txBody>
          <a:bodyPr wrap="square" lIns="0" tIns="0" rIns="0" bIns="0" rtlCol="0" anchor="t"/>
          <a:lstStyle/>
          <a:p>
            <a:pPr indent="0" marL="0">
              <a:buNone/>
            </a:pPr>
            <a:r>
              <a:rPr lang="en-US" sz="1250" dirty="0">
                <a:solidFill>
                  <a:srgbClr val="5B6B75"/>
                </a:solidFill>
                <a:latin typeface="Calibri" pitchFamily="34" charset="0"/>
                <a:ea typeface="Calibri" pitchFamily="34" charset="-122"/>
                <a:cs typeface="Calibri" pitchFamily="34" charset="-120"/>
              </a:rPr>
              <a:t>Return per unit of total / downside risk (risk-free rate 6.5%).</a:t>
            </a:r>
            <a:endParaRPr lang="en-US" sz="1250" dirty="0"/>
          </a:p>
        </p:txBody>
      </p:sp>
      <p:sp>
        <p:nvSpPr>
          <p:cNvPr id="30" name="Text 26"/>
          <p:cNvSpPr txBox="1"/>
          <p:nvPr/>
        </p:nvSpPr>
        <p:spPr>
          <a:xfrm>
            <a:off x="6519672" y="5385816"/>
            <a:ext cx="4846320" cy="292608"/>
          </a:xfrm>
          <a:prstGeom prst="rect">
            <a:avLst/>
          </a:prstGeom>
          <a:noFill/>
          <a:ln/>
        </p:spPr>
        <p:txBody>
          <a:bodyPr wrap="square" lIns="0" tIns="0" rIns="0" bIns="0" rtlCol="0" anchor="t"/>
          <a:lstStyle/>
          <a:p>
            <a:pPr indent="0" marL="0">
              <a:buNone/>
            </a:pPr>
            <a:r>
              <a:rPr lang="en-US" sz="1450" b="1" dirty="0">
                <a:solidFill>
                  <a:srgbClr val="0B1F2A"/>
                </a:solidFill>
                <a:latin typeface="Calibri" pitchFamily="34" charset="0"/>
                <a:ea typeface="Calibri" pitchFamily="34" charset="-122"/>
                <a:cs typeface="Calibri" pitchFamily="34" charset="-120"/>
              </a:rPr>
              <a:t>VaR and CVaR (95%)</a:t>
            </a:r>
            <a:endParaRPr lang="en-US" sz="1450" dirty="0"/>
          </a:p>
        </p:txBody>
      </p:sp>
      <p:sp>
        <p:nvSpPr>
          <p:cNvPr id="31" name="Text 27"/>
          <p:cNvSpPr txBox="1"/>
          <p:nvPr/>
        </p:nvSpPr>
        <p:spPr>
          <a:xfrm>
            <a:off x="6519672" y="5678424"/>
            <a:ext cx="4846320" cy="329184"/>
          </a:xfrm>
          <a:prstGeom prst="rect">
            <a:avLst/>
          </a:prstGeom>
          <a:noFill/>
          <a:ln/>
        </p:spPr>
        <p:txBody>
          <a:bodyPr wrap="square" lIns="0" tIns="0" rIns="0" bIns="0" rtlCol="0" anchor="t"/>
          <a:lstStyle/>
          <a:p>
            <a:pPr indent="0" marL="0">
              <a:buNone/>
            </a:pPr>
            <a:r>
              <a:rPr lang="en-US" sz="1250" dirty="0">
                <a:solidFill>
                  <a:srgbClr val="5B6B75"/>
                </a:solidFill>
                <a:latin typeface="Calibri" pitchFamily="34" charset="0"/>
                <a:ea typeface="Calibri" pitchFamily="34" charset="-122"/>
                <a:cs typeface="Calibri" pitchFamily="34" charset="-120"/>
              </a:rPr>
              <a:t>Worst expected daily loss, and average loss beyond it.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300" kern="0" dirty="0">
                <a:solidFill>
                  <a:srgbClr val="0E9F6E"/>
                </a:solidFill>
                <a:latin typeface="Calibri" pitchFamily="34" charset="0"/>
                <a:ea typeface="Calibri" pitchFamily="34" charset="-122"/>
                <a:cs typeface="Calibri" pitchFamily="34" charset="-120"/>
              </a:rPr>
              <a:t>10  ·  RISK SCORING</a:t>
            </a:r>
            <a:endParaRPr lang="en-US" sz="1200" dirty="0"/>
          </a:p>
        </p:txBody>
      </p:sp>
      <p:sp>
        <p:nvSpPr>
          <p:cNvPr id="3" name="Text 1"/>
          <p:cNvSpPr txBox="1"/>
          <p:nvPr/>
        </p:nvSpPr>
        <p:spPr>
          <a:xfrm>
            <a:off x="548640" y="676656"/>
            <a:ext cx="11064240" cy="685800"/>
          </a:xfrm>
          <a:prstGeom prst="rect">
            <a:avLst/>
          </a:prstGeom>
          <a:noFill/>
          <a:ln/>
        </p:spPr>
        <p:txBody>
          <a:bodyPr wrap="square" lIns="0" tIns="0" rIns="0" bIns="0" rtlCol="0" anchor="ctr"/>
          <a:lstStyle/>
          <a:p>
            <a:pPr indent="0" marL="0">
              <a:buNone/>
            </a:pPr>
            <a:r>
              <a:rPr lang="en-US" sz="3000" b="1" dirty="0">
                <a:solidFill>
                  <a:srgbClr val="0B1F2A"/>
                </a:solidFill>
                <a:latin typeface="Arial" pitchFamily="34" charset="0"/>
                <a:ea typeface="Arial" pitchFamily="34" charset="-122"/>
                <a:cs typeface="Arial" pitchFamily="34" charset="-120"/>
              </a:rPr>
              <a:t>Composite risk score (0–100)</a:t>
            </a:r>
            <a:endParaRPr lang="en-US" sz="3000" dirty="0"/>
          </a:p>
        </p:txBody>
      </p:sp>
      <p:sp>
        <p:nvSpPr>
          <p:cNvPr id="4" name="Text 2"/>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B75"/>
                </a:solidFill>
                <a:latin typeface="Calibri" pitchFamily="34" charset="0"/>
                <a:ea typeface="Calibri" pitchFamily="34" charset="-122"/>
                <a:cs typeface="Calibri" pitchFamily="34" charset="-120"/>
              </a:rPr>
              <a:t>Big Data Architecture  |  Stock Market &amp; Mutual Fund Risk Analytics</a:t>
            </a:r>
            <a:endParaRPr lang="en-US" sz="900" dirty="0"/>
          </a:p>
        </p:txBody>
      </p:sp>
      <p:sp>
        <p:nvSpPr>
          <p:cNvPr id="5" name="Text 3"/>
          <p:cNvSpPr txBox="1"/>
          <p:nvPr/>
        </p:nvSpPr>
        <p:spPr>
          <a:xfrm>
            <a:off x="11183112" y="6473952"/>
            <a:ext cx="457200" cy="228600"/>
          </a:xfrm>
          <a:prstGeom prst="rect">
            <a:avLst/>
          </a:prstGeom>
          <a:noFill/>
          <a:ln/>
        </p:spPr>
        <p:txBody>
          <a:bodyPr wrap="square" lIns="0" tIns="0" rIns="0" bIns="0" rtlCol="0" anchor="t"/>
          <a:lstStyle/>
          <a:p>
            <a:pPr algn="r" indent="0" marL="0">
              <a:buNone/>
            </a:pPr>
            <a:r>
              <a:rPr lang="en-US" sz="900" dirty="0">
                <a:solidFill>
                  <a:srgbClr val="5B6B75"/>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548640" y="1645920"/>
            <a:ext cx="4846320" cy="4526280"/>
          </a:xfrm>
          <a:prstGeom prst="roundRect">
            <a:avLst>
              <a:gd name="adj" fmla="val 2424"/>
            </a:avLst>
          </a:prstGeom>
          <a:solidFill>
            <a:srgbClr val="F2F6F8"/>
          </a:solidFill>
          <a:ln w="12700">
            <a:solidFill>
              <a:srgbClr val="F2F6F8"/>
            </a:solidFill>
            <a:prstDash val="solid"/>
          </a:ln>
        </p:spPr>
      </p:sp>
      <p:sp>
        <p:nvSpPr>
          <p:cNvPr id="7" name="Text 5"/>
          <p:cNvSpPr txBox="1"/>
          <p:nvPr/>
        </p:nvSpPr>
        <p:spPr>
          <a:xfrm>
            <a:off x="822960" y="1810512"/>
            <a:ext cx="4114800" cy="320040"/>
          </a:xfrm>
          <a:prstGeom prst="rect">
            <a:avLst/>
          </a:prstGeom>
          <a:noFill/>
          <a:ln/>
        </p:spPr>
        <p:txBody>
          <a:bodyPr wrap="square" lIns="0" tIns="0" rIns="0" bIns="0" rtlCol="0" anchor="t"/>
          <a:lstStyle/>
          <a:p>
            <a:pPr indent="0" marL="0">
              <a:buNone/>
            </a:pPr>
            <a:r>
              <a:rPr lang="en-US" sz="1500" b="1" dirty="0">
                <a:solidFill>
                  <a:srgbClr val="0B1F2A"/>
                </a:solidFill>
                <a:latin typeface="Calibri" pitchFamily="34" charset="0"/>
                <a:ea typeface="Calibri" pitchFamily="34" charset="-122"/>
                <a:cs typeface="Calibri" pitchFamily="34" charset="-120"/>
              </a:rPr>
              <a:t>Metric weights used for funds</a:t>
            </a:r>
            <a:endParaRPr lang="en-US" sz="1500" dirty="0"/>
          </a:p>
        </p:txBody>
      </p:sp>
      <p:graphicFrame>
        <p:nvGraphicFramePr>
          <p:cNvPr id="8" name="Chart 0" descr=""/>
          <p:cNvGraphicFramePr/>
          <p:nvPr/>
        </p:nvGraphicFramePr>
        <p:xfrm>
          <a:off x="731520" y="2148840"/>
          <a:ext cx="4480560" cy="393192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5760720" y="1691640"/>
            <a:ext cx="457200" cy="457200"/>
          </a:xfrm>
          <a:prstGeom prst="ellipse">
            <a:avLst/>
          </a:prstGeom>
          <a:solidFill>
            <a:srgbClr val="0B1F2A"/>
          </a:solidFill>
          <a:ln w="12700">
            <a:solidFill>
              <a:srgbClr val="0B1F2A"/>
            </a:solidFill>
            <a:prstDash val="solid"/>
          </a:ln>
        </p:spPr>
      </p:sp>
      <p:sp>
        <p:nvSpPr>
          <p:cNvPr id="10" name="Text 7"/>
          <p:cNvSpPr txBox="1"/>
          <p:nvPr/>
        </p:nvSpPr>
        <p:spPr>
          <a:xfrm>
            <a:off x="5760720" y="16916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1" name="Text 8"/>
          <p:cNvSpPr txBox="1"/>
          <p:nvPr/>
        </p:nvSpPr>
        <p:spPr>
          <a:xfrm>
            <a:off x="6400800" y="1673352"/>
            <a:ext cx="5212080" cy="310896"/>
          </a:xfrm>
          <a:prstGeom prst="rect">
            <a:avLst/>
          </a:prstGeom>
          <a:noFill/>
          <a:ln/>
        </p:spPr>
        <p:txBody>
          <a:bodyPr wrap="square" lIns="0" tIns="0" rIns="0" bIns="0" rtlCol="0" anchor="t"/>
          <a:lstStyle/>
          <a:p>
            <a:pPr indent="0" marL="0">
              <a:buNone/>
            </a:pPr>
            <a:r>
              <a:rPr lang="en-US" sz="1500" b="1" dirty="0">
                <a:solidFill>
                  <a:srgbClr val="0B1F2A"/>
                </a:solidFill>
                <a:latin typeface="Calibri" pitchFamily="34" charset="0"/>
                <a:ea typeface="Calibri" pitchFamily="34" charset="-122"/>
                <a:cs typeface="Calibri" pitchFamily="34" charset="-120"/>
              </a:rPr>
              <a:t>Percentile-rank</a:t>
            </a:r>
            <a:endParaRPr lang="en-US" sz="1500" dirty="0"/>
          </a:p>
        </p:txBody>
      </p:sp>
      <p:sp>
        <p:nvSpPr>
          <p:cNvPr id="12" name="Text 9"/>
          <p:cNvSpPr txBox="1"/>
          <p:nvPr/>
        </p:nvSpPr>
        <p:spPr>
          <a:xfrm>
            <a:off x="6400800" y="1984248"/>
            <a:ext cx="5212080" cy="621792"/>
          </a:xfrm>
          <a:prstGeom prst="rect">
            <a:avLst/>
          </a:prstGeom>
          <a:noFill/>
          <a:ln/>
        </p:spPr>
        <p:txBody>
          <a:bodyPr wrap="square" lIns="0" tIns="0" rIns="0" bIns="0" rtlCol="0" anchor="t"/>
          <a:lstStyle/>
          <a:p>
            <a:pPr indent="0" marL="0">
              <a:buNone/>
            </a:pPr>
            <a:r>
              <a:rPr lang="en-US" sz="1250" dirty="0">
                <a:solidFill>
                  <a:srgbClr val="5B6B75"/>
                </a:solidFill>
                <a:latin typeface="Calibri" pitchFamily="34" charset="0"/>
                <a:ea typeface="Calibri" pitchFamily="34" charset="-122"/>
                <a:cs typeface="Calibri" pitchFamily="34" charset="-120"/>
              </a:rPr>
              <a:t>Each metric is ranked 0–100 against the peer group: all 1,137 funds, and separately the 30 curated funds.</a:t>
            </a:r>
            <a:endParaRPr lang="en-US" sz="1250" dirty="0"/>
          </a:p>
        </p:txBody>
      </p:sp>
      <p:sp>
        <p:nvSpPr>
          <p:cNvPr id="13" name="Shape 10"/>
          <p:cNvSpPr/>
          <p:nvPr/>
        </p:nvSpPr>
        <p:spPr>
          <a:xfrm>
            <a:off x="5760720" y="2624328"/>
            <a:ext cx="457200" cy="457200"/>
          </a:xfrm>
          <a:prstGeom prst="ellipse">
            <a:avLst/>
          </a:prstGeom>
          <a:solidFill>
            <a:srgbClr val="0B1F2A"/>
          </a:solidFill>
          <a:ln w="12700">
            <a:solidFill>
              <a:srgbClr val="0B1F2A"/>
            </a:solidFill>
            <a:prstDash val="solid"/>
          </a:ln>
        </p:spPr>
      </p:sp>
      <p:sp>
        <p:nvSpPr>
          <p:cNvPr id="14" name="Text 11"/>
          <p:cNvSpPr txBox="1"/>
          <p:nvPr/>
        </p:nvSpPr>
        <p:spPr>
          <a:xfrm>
            <a:off x="5760720" y="2624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5" name="Text 12"/>
          <p:cNvSpPr txBox="1"/>
          <p:nvPr/>
        </p:nvSpPr>
        <p:spPr>
          <a:xfrm>
            <a:off x="6400800" y="2606040"/>
            <a:ext cx="5212080" cy="310896"/>
          </a:xfrm>
          <a:prstGeom prst="rect">
            <a:avLst/>
          </a:prstGeom>
          <a:noFill/>
          <a:ln/>
        </p:spPr>
        <p:txBody>
          <a:bodyPr wrap="square" lIns="0" tIns="0" rIns="0" bIns="0" rtlCol="0" anchor="t"/>
          <a:lstStyle/>
          <a:p>
            <a:pPr indent="0" marL="0">
              <a:buNone/>
            </a:pPr>
            <a:r>
              <a:rPr lang="en-US" sz="1500" b="1" dirty="0">
                <a:solidFill>
                  <a:srgbClr val="0B1F2A"/>
                </a:solidFill>
                <a:latin typeface="Calibri" pitchFamily="34" charset="0"/>
                <a:ea typeface="Calibri" pitchFamily="34" charset="-122"/>
                <a:cs typeface="Calibri" pitchFamily="34" charset="-120"/>
              </a:rPr>
              <a:t>Weight and combine</a:t>
            </a:r>
            <a:endParaRPr lang="en-US" sz="1500" dirty="0"/>
          </a:p>
        </p:txBody>
      </p:sp>
      <p:sp>
        <p:nvSpPr>
          <p:cNvPr id="16" name="Text 13"/>
          <p:cNvSpPr txBox="1"/>
          <p:nvPr/>
        </p:nvSpPr>
        <p:spPr>
          <a:xfrm>
            <a:off x="6400800" y="2916936"/>
            <a:ext cx="5212080" cy="621792"/>
          </a:xfrm>
          <a:prstGeom prst="rect">
            <a:avLst/>
          </a:prstGeom>
          <a:noFill/>
          <a:ln/>
        </p:spPr>
        <p:txBody>
          <a:bodyPr wrap="square" lIns="0" tIns="0" rIns="0" bIns="0" rtlCol="0" anchor="t"/>
          <a:lstStyle/>
          <a:p>
            <a:pPr indent="0" marL="0">
              <a:buNone/>
            </a:pPr>
            <a:r>
              <a:rPr lang="en-US" sz="1250" dirty="0">
                <a:solidFill>
                  <a:srgbClr val="5B6B75"/>
                </a:solidFill>
                <a:latin typeface="Calibri" pitchFamily="34" charset="0"/>
                <a:ea typeface="Calibri" pitchFamily="34" charset="-122"/>
                <a:cs typeface="Calibri" pitchFamily="34" charset="-120"/>
              </a:rPr>
              <a:t>Design weights are 30 / 25 / 15 / 15, plus 15 for debt-to-equity. Funds have no debt ratio, so the four are scaled up to total 100. Non-financial stocks use all five.</a:t>
            </a:r>
            <a:endParaRPr lang="en-US" sz="1250" dirty="0"/>
          </a:p>
        </p:txBody>
      </p:sp>
      <p:sp>
        <p:nvSpPr>
          <p:cNvPr id="17" name="Shape 14"/>
          <p:cNvSpPr/>
          <p:nvPr/>
        </p:nvSpPr>
        <p:spPr>
          <a:xfrm>
            <a:off x="5760720" y="3557016"/>
            <a:ext cx="457200" cy="457200"/>
          </a:xfrm>
          <a:prstGeom prst="ellipse">
            <a:avLst/>
          </a:prstGeom>
          <a:solidFill>
            <a:srgbClr val="0B1F2A"/>
          </a:solidFill>
          <a:ln w="12700">
            <a:solidFill>
              <a:srgbClr val="0B1F2A"/>
            </a:solidFill>
            <a:prstDash val="solid"/>
          </a:ln>
        </p:spPr>
      </p:sp>
      <p:sp>
        <p:nvSpPr>
          <p:cNvPr id="18" name="Text 15"/>
          <p:cNvSpPr txBox="1"/>
          <p:nvPr/>
        </p:nvSpPr>
        <p:spPr>
          <a:xfrm>
            <a:off x="5760720" y="355701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6"/>
          <p:cNvSpPr txBox="1"/>
          <p:nvPr/>
        </p:nvSpPr>
        <p:spPr>
          <a:xfrm>
            <a:off x="6400800" y="3538728"/>
            <a:ext cx="5212080" cy="310896"/>
          </a:xfrm>
          <a:prstGeom prst="rect">
            <a:avLst/>
          </a:prstGeom>
          <a:noFill/>
          <a:ln/>
        </p:spPr>
        <p:txBody>
          <a:bodyPr wrap="square" lIns="0" tIns="0" rIns="0" bIns="0" rtlCol="0" anchor="t"/>
          <a:lstStyle/>
          <a:p>
            <a:pPr indent="0" marL="0">
              <a:buNone/>
            </a:pPr>
            <a:r>
              <a:rPr lang="en-US" sz="1500" b="1" dirty="0">
                <a:solidFill>
                  <a:srgbClr val="0B1F2A"/>
                </a:solidFill>
                <a:latin typeface="Calibri" pitchFamily="34" charset="0"/>
                <a:ea typeface="Calibri" pitchFamily="34" charset="-122"/>
                <a:cs typeface="Calibri" pitchFamily="34" charset="-120"/>
              </a:rPr>
              <a:t>Band the score</a:t>
            </a:r>
            <a:endParaRPr lang="en-US" sz="1500" dirty="0"/>
          </a:p>
        </p:txBody>
      </p:sp>
      <p:sp>
        <p:nvSpPr>
          <p:cNvPr id="20" name="Text 17"/>
          <p:cNvSpPr txBox="1"/>
          <p:nvPr/>
        </p:nvSpPr>
        <p:spPr>
          <a:xfrm>
            <a:off x="6400800" y="3849624"/>
            <a:ext cx="5212080" cy="621792"/>
          </a:xfrm>
          <a:prstGeom prst="rect">
            <a:avLst/>
          </a:prstGeom>
          <a:noFill/>
          <a:ln/>
        </p:spPr>
        <p:txBody>
          <a:bodyPr wrap="square" lIns="0" tIns="0" rIns="0" bIns="0" rtlCol="0" anchor="t"/>
          <a:lstStyle/>
          <a:p>
            <a:pPr indent="0" marL="0">
              <a:buNone/>
            </a:pPr>
            <a:r>
              <a:rPr lang="en-US" sz="1250" dirty="0">
                <a:solidFill>
                  <a:srgbClr val="5B6B75"/>
                </a:solidFill>
                <a:latin typeface="Calibri" pitchFamily="34" charset="0"/>
                <a:ea typeface="Calibri" pitchFamily="34" charset="-122"/>
                <a:cs typeface="Calibri" pitchFamily="34" charset="-120"/>
              </a:rPr>
              <a:t>0–33 is Low, 34–66 is Medium and 67–100 is High.</a:t>
            </a:r>
            <a:endParaRPr lang="en-US" sz="1250" dirty="0"/>
          </a:p>
        </p:txBody>
      </p:sp>
      <p:sp>
        <p:nvSpPr>
          <p:cNvPr id="21" name="Shape 18"/>
          <p:cNvSpPr/>
          <p:nvPr/>
        </p:nvSpPr>
        <p:spPr>
          <a:xfrm>
            <a:off x="5760720" y="4489704"/>
            <a:ext cx="457200" cy="457200"/>
          </a:xfrm>
          <a:prstGeom prst="ellipse">
            <a:avLst/>
          </a:prstGeom>
          <a:solidFill>
            <a:srgbClr val="0B1F2A"/>
          </a:solidFill>
          <a:ln w="12700">
            <a:solidFill>
              <a:srgbClr val="0B1F2A"/>
            </a:solidFill>
            <a:prstDash val="solid"/>
          </a:ln>
        </p:spPr>
      </p:sp>
      <p:sp>
        <p:nvSpPr>
          <p:cNvPr id="22" name="Text 19"/>
          <p:cNvSpPr txBox="1"/>
          <p:nvPr/>
        </p:nvSpPr>
        <p:spPr>
          <a:xfrm>
            <a:off x="5760720" y="448970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Text 20"/>
          <p:cNvSpPr txBox="1"/>
          <p:nvPr/>
        </p:nvSpPr>
        <p:spPr>
          <a:xfrm>
            <a:off x="6400800" y="4471416"/>
            <a:ext cx="5212080" cy="310896"/>
          </a:xfrm>
          <a:prstGeom prst="rect">
            <a:avLst/>
          </a:prstGeom>
          <a:noFill/>
          <a:ln/>
        </p:spPr>
        <p:txBody>
          <a:bodyPr wrap="square" lIns="0" tIns="0" rIns="0" bIns="0" rtlCol="0" anchor="t"/>
          <a:lstStyle/>
          <a:p>
            <a:pPr indent="0" marL="0">
              <a:buNone/>
            </a:pPr>
            <a:r>
              <a:rPr lang="en-US" sz="1500" b="1" dirty="0">
                <a:solidFill>
                  <a:srgbClr val="0B1F2A"/>
                </a:solidFill>
                <a:latin typeface="Calibri" pitchFamily="34" charset="0"/>
                <a:ea typeface="Calibri" pitchFamily="34" charset="-122"/>
                <a:cs typeface="Calibri" pitchFamily="34" charset="-120"/>
              </a:rPr>
              <a:t>Result among the curated 30</a:t>
            </a:r>
            <a:endParaRPr lang="en-US" sz="1500" dirty="0"/>
          </a:p>
        </p:txBody>
      </p:sp>
      <p:sp>
        <p:nvSpPr>
          <p:cNvPr id="24" name="Text 21"/>
          <p:cNvSpPr txBox="1"/>
          <p:nvPr/>
        </p:nvSpPr>
        <p:spPr>
          <a:xfrm>
            <a:off x="6400800" y="4782312"/>
            <a:ext cx="5212080" cy="621792"/>
          </a:xfrm>
          <a:prstGeom prst="rect">
            <a:avLst/>
          </a:prstGeom>
          <a:noFill/>
          <a:ln/>
        </p:spPr>
        <p:txBody>
          <a:bodyPr wrap="square" lIns="0" tIns="0" rIns="0" bIns="0" rtlCol="0" anchor="t"/>
          <a:lstStyle/>
          <a:p>
            <a:pPr indent="0" marL="0">
              <a:buNone/>
            </a:pPr>
            <a:r>
              <a:rPr lang="en-US" sz="1250" dirty="0">
                <a:solidFill>
                  <a:srgbClr val="5B6B75"/>
                </a:solidFill>
                <a:latin typeface="Calibri" pitchFamily="34" charset="0"/>
                <a:ea typeface="Calibri" pitchFamily="34" charset="-122"/>
                <a:cs typeface="Calibri" pitchFamily="34" charset="-120"/>
              </a:rPr>
              <a:t>8 funds Low, 13 Medium, 9 High. Lowest: Parag Parikh Flexi Cap (2.0). Highest: ICICI Prudential Nifty Next 50 Index (90.7).</a:t>
            </a:r>
            <a:endParaRPr lang="en-US" sz="1250" dirty="0"/>
          </a:p>
        </p:txBody>
      </p:sp>
      <p:sp>
        <p:nvSpPr>
          <p:cNvPr id="25" name="Shape 22"/>
          <p:cNvSpPr/>
          <p:nvPr/>
        </p:nvSpPr>
        <p:spPr>
          <a:xfrm>
            <a:off x="6400800" y="5532120"/>
            <a:ext cx="1645920" cy="566928"/>
          </a:xfrm>
          <a:prstGeom prst="roundRect">
            <a:avLst>
              <a:gd name="adj" fmla="val 16129"/>
            </a:avLst>
          </a:prstGeom>
          <a:solidFill>
            <a:srgbClr val="0E9F6E"/>
          </a:solidFill>
          <a:ln w="12700">
            <a:solidFill>
              <a:srgbClr val="0E9F6E"/>
            </a:solidFill>
            <a:prstDash val="solid"/>
          </a:ln>
        </p:spPr>
      </p:sp>
      <p:sp>
        <p:nvSpPr>
          <p:cNvPr id="26" name="Text 23"/>
          <p:cNvSpPr txBox="1"/>
          <p:nvPr/>
        </p:nvSpPr>
        <p:spPr>
          <a:xfrm>
            <a:off x="6400800" y="5532120"/>
            <a:ext cx="1645920"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Low  </a:t>
            </a:r>
            <a:pPr algn="ctr" indent="0" marL="0">
              <a:buNone/>
            </a:pPr>
            <a:r>
              <a:rPr lang="en-US" sz="1400" dirty="0">
                <a:solidFill>
                  <a:srgbClr val="FFFFFF"/>
                </a:solidFill>
                <a:latin typeface="Calibri" pitchFamily="34" charset="0"/>
                <a:ea typeface="Calibri" pitchFamily="34" charset="-122"/>
                <a:cs typeface="Calibri" pitchFamily="34" charset="-120"/>
              </a:rPr>
              <a:t>0–33</a:t>
            </a:r>
            <a:endParaRPr lang="en-US" sz="1400" dirty="0"/>
          </a:p>
        </p:txBody>
      </p:sp>
      <p:sp>
        <p:nvSpPr>
          <p:cNvPr id="27" name="Shape 24"/>
          <p:cNvSpPr/>
          <p:nvPr/>
        </p:nvSpPr>
        <p:spPr>
          <a:xfrm>
            <a:off x="8183880" y="5532120"/>
            <a:ext cx="1645920" cy="566928"/>
          </a:xfrm>
          <a:prstGeom prst="roundRect">
            <a:avLst>
              <a:gd name="adj" fmla="val 16129"/>
            </a:avLst>
          </a:prstGeom>
          <a:solidFill>
            <a:srgbClr val="F5A524"/>
          </a:solidFill>
          <a:ln w="12700">
            <a:solidFill>
              <a:srgbClr val="F5A524"/>
            </a:solidFill>
            <a:prstDash val="solid"/>
          </a:ln>
        </p:spPr>
      </p:sp>
      <p:sp>
        <p:nvSpPr>
          <p:cNvPr id="28" name="Text 25"/>
          <p:cNvSpPr txBox="1"/>
          <p:nvPr/>
        </p:nvSpPr>
        <p:spPr>
          <a:xfrm>
            <a:off x="8183880" y="5532120"/>
            <a:ext cx="1645920" cy="566928"/>
          </a:xfrm>
          <a:prstGeom prst="rect">
            <a:avLst/>
          </a:prstGeom>
          <a:noFill/>
          <a:ln/>
        </p:spPr>
        <p:txBody>
          <a:bodyPr wrap="square" lIns="0" tIns="0" rIns="0" bIns="0" rtlCol="0" anchor="ctr"/>
          <a:lstStyle/>
          <a:p>
            <a:pPr algn="ctr" indent="0" marL="0">
              <a:buNone/>
            </a:pPr>
            <a:r>
              <a:rPr lang="en-US" sz="1400" b="1" dirty="0">
                <a:solidFill>
                  <a:srgbClr val="0B1F2A"/>
                </a:solidFill>
                <a:latin typeface="Calibri" pitchFamily="34" charset="0"/>
                <a:ea typeface="Calibri" pitchFamily="34" charset="-122"/>
                <a:cs typeface="Calibri" pitchFamily="34" charset="-120"/>
              </a:rPr>
              <a:t>Medium  </a:t>
            </a:r>
            <a:pPr algn="ctr" indent="0" marL="0">
              <a:buNone/>
            </a:pPr>
            <a:r>
              <a:rPr lang="en-US" sz="1400" dirty="0">
                <a:solidFill>
                  <a:srgbClr val="0B1F2A"/>
                </a:solidFill>
                <a:latin typeface="Calibri" pitchFamily="34" charset="0"/>
                <a:ea typeface="Calibri" pitchFamily="34" charset="-122"/>
                <a:cs typeface="Calibri" pitchFamily="34" charset="-120"/>
              </a:rPr>
              <a:t>34–66</a:t>
            </a:r>
            <a:endParaRPr lang="en-US" sz="1400" dirty="0"/>
          </a:p>
        </p:txBody>
      </p:sp>
      <p:sp>
        <p:nvSpPr>
          <p:cNvPr id="29" name="Shape 26"/>
          <p:cNvSpPr/>
          <p:nvPr/>
        </p:nvSpPr>
        <p:spPr>
          <a:xfrm>
            <a:off x="9966960" y="5532120"/>
            <a:ext cx="1645920" cy="566928"/>
          </a:xfrm>
          <a:prstGeom prst="roundRect">
            <a:avLst>
              <a:gd name="adj" fmla="val 16129"/>
            </a:avLst>
          </a:prstGeom>
          <a:solidFill>
            <a:srgbClr val="E5484D"/>
          </a:solidFill>
          <a:ln w="12700">
            <a:solidFill>
              <a:srgbClr val="E5484D"/>
            </a:solidFill>
            <a:prstDash val="solid"/>
          </a:ln>
        </p:spPr>
      </p:sp>
      <p:sp>
        <p:nvSpPr>
          <p:cNvPr id="30" name="Text 27"/>
          <p:cNvSpPr txBox="1"/>
          <p:nvPr/>
        </p:nvSpPr>
        <p:spPr>
          <a:xfrm>
            <a:off x="9966960" y="5532120"/>
            <a:ext cx="1645920"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High  </a:t>
            </a:r>
            <a:pPr algn="ctr" indent="0" marL="0">
              <a:buNone/>
            </a:pPr>
            <a:r>
              <a:rPr lang="en-US" sz="1400" dirty="0">
                <a:solidFill>
                  <a:srgbClr val="FFFFFF"/>
                </a:solidFill>
                <a:latin typeface="Calibri" pitchFamily="34" charset="0"/>
                <a:ea typeface="Calibri" pitchFamily="34" charset="-122"/>
                <a:cs typeface="Calibri" pitchFamily="34" charset="-120"/>
              </a:rPr>
              <a:t>67–100</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300" kern="0" dirty="0">
                <a:solidFill>
                  <a:srgbClr val="0E9F6E"/>
                </a:solidFill>
                <a:latin typeface="Calibri" pitchFamily="34" charset="0"/>
                <a:ea typeface="Calibri" pitchFamily="34" charset="-122"/>
                <a:cs typeface="Calibri" pitchFamily="34" charset="-120"/>
              </a:rPr>
              <a:t>11  ·  RESULTS</a:t>
            </a:r>
            <a:endParaRPr lang="en-US" sz="1200" dirty="0"/>
          </a:p>
        </p:txBody>
      </p:sp>
      <p:sp>
        <p:nvSpPr>
          <p:cNvPr id="3" name="Text 1"/>
          <p:cNvSpPr txBox="1"/>
          <p:nvPr/>
        </p:nvSpPr>
        <p:spPr>
          <a:xfrm>
            <a:off x="548640" y="676656"/>
            <a:ext cx="11064240" cy="685800"/>
          </a:xfrm>
          <a:prstGeom prst="rect">
            <a:avLst/>
          </a:prstGeom>
          <a:noFill/>
          <a:ln/>
        </p:spPr>
        <p:txBody>
          <a:bodyPr wrap="square" lIns="0" tIns="0" rIns="0" bIns="0" rtlCol="0" anchor="ctr"/>
          <a:lstStyle/>
          <a:p>
            <a:pPr indent="0" marL="0">
              <a:buNone/>
            </a:pPr>
            <a:r>
              <a:rPr lang="en-US" sz="3000" b="1" dirty="0">
                <a:solidFill>
                  <a:srgbClr val="0B1F2A"/>
                </a:solidFill>
                <a:latin typeface="Arial" pitchFamily="34" charset="0"/>
                <a:ea typeface="Arial" pitchFamily="34" charset="-122"/>
                <a:cs typeface="Arial" pitchFamily="34" charset="-120"/>
              </a:rPr>
              <a:t>Results: 10-year returns and risk of the curated funds</a:t>
            </a:r>
            <a:endParaRPr lang="en-US" sz="3000" dirty="0"/>
          </a:p>
        </p:txBody>
      </p:sp>
      <p:sp>
        <p:nvSpPr>
          <p:cNvPr id="4" name="Text 2"/>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B75"/>
                </a:solidFill>
                <a:latin typeface="Calibri" pitchFamily="34" charset="0"/>
                <a:ea typeface="Calibri" pitchFamily="34" charset="-122"/>
                <a:cs typeface="Calibri" pitchFamily="34" charset="-120"/>
              </a:rPr>
              <a:t>Big Data Architecture  |  Stock Market &amp; Mutual Fund Risk Analytics</a:t>
            </a:r>
            <a:endParaRPr lang="en-US" sz="900" dirty="0"/>
          </a:p>
        </p:txBody>
      </p:sp>
      <p:sp>
        <p:nvSpPr>
          <p:cNvPr id="5" name="Text 3"/>
          <p:cNvSpPr txBox="1"/>
          <p:nvPr/>
        </p:nvSpPr>
        <p:spPr>
          <a:xfrm>
            <a:off x="11183112" y="6473952"/>
            <a:ext cx="457200" cy="228600"/>
          </a:xfrm>
          <a:prstGeom prst="rect">
            <a:avLst/>
          </a:prstGeom>
          <a:noFill/>
          <a:ln/>
        </p:spPr>
        <p:txBody>
          <a:bodyPr wrap="square" lIns="0" tIns="0" rIns="0" bIns="0" rtlCol="0" anchor="t"/>
          <a:lstStyle/>
          <a:p>
            <a:pPr algn="r" indent="0" marL="0">
              <a:buNone/>
            </a:pPr>
            <a:r>
              <a:rPr lang="en-US" sz="900" dirty="0">
                <a:solidFill>
                  <a:srgbClr val="5B6B75"/>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548640" y="1645920"/>
            <a:ext cx="5760720" cy="4526280"/>
          </a:xfrm>
          <a:prstGeom prst="roundRect">
            <a:avLst>
              <a:gd name="adj" fmla="val 2424"/>
            </a:avLst>
          </a:prstGeom>
          <a:solidFill>
            <a:srgbClr val="F2F6F8"/>
          </a:solidFill>
          <a:ln w="12700">
            <a:solidFill>
              <a:srgbClr val="F2F6F8"/>
            </a:solidFill>
            <a:prstDash val="solid"/>
          </a:ln>
        </p:spPr>
      </p:sp>
      <p:graphicFrame>
        <p:nvGraphicFramePr>
          <p:cNvPr id="7" name="Chart 0" descr=""/>
          <p:cNvGraphicFramePr/>
          <p:nvPr/>
        </p:nvGraphicFramePr>
        <p:xfrm>
          <a:off x="685800" y="1737360"/>
          <a:ext cx="5486400" cy="434340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6583680" y="1691640"/>
            <a:ext cx="2468880" cy="594360"/>
          </a:xfrm>
          <a:prstGeom prst="rect">
            <a:avLst/>
          </a:prstGeom>
          <a:noFill/>
          <a:ln/>
        </p:spPr>
        <p:txBody>
          <a:bodyPr wrap="square" lIns="0" tIns="0" rIns="0" bIns="0" rtlCol="0" anchor="t"/>
          <a:lstStyle/>
          <a:p>
            <a:pPr indent="0" marL="0">
              <a:buNone/>
            </a:pPr>
            <a:r>
              <a:rPr lang="en-US" sz="3000" b="1" dirty="0">
                <a:solidFill>
                  <a:srgbClr val="0E9F6E"/>
                </a:solidFill>
                <a:latin typeface="Arial" pitchFamily="34" charset="0"/>
                <a:ea typeface="Arial" pitchFamily="34" charset="-122"/>
                <a:cs typeface="Arial" pitchFamily="34" charset="-120"/>
              </a:rPr>
              <a:t>₹5.68 lakh</a:t>
            </a:r>
            <a:endParaRPr lang="en-US" sz="3000" dirty="0"/>
          </a:p>
        </p:txBody>
      </p:sp>
      <p:sp>
        <p:nvSpPr>
          <p:cNvPr id="9" name="Text 6"/>
          <p:cNvSpPr txBox="1"/>
          <p:nvPr/>
        </p:nvSpPr>
        <p:spPr>
          <a:xfrm>
            <a:off x="6583680" y="2286000"/>
            <a:ext cx="2377440" cy="685800"/>
          </a:xfrm>
          <a:prstGeom prst="rect">
            <a:avLst/>
          </a:prstGeom>
          <a:noFill/>
          <a:ln/>
        </p:spPr>
        <p:txBody>
          <a:bodyPr wrap="square" lIns="0" tIns="0" rIns="0" bIns="0" rtlCol="0" anchor="t"/>
          <a:lstStyle/>
          <a:p>
            <a:pPr indent="0" marL="0">
              <a:buNone/>
            </a:pPr>
            <a:r>
              <a:rPr lang="en-US" sz="1200" dirty="0">
                <a:solidFill>
                  <a:srgbClr val="5B6B75"/>
                </a:solidFill>
                <a:latin typeface="Calibri" pitchFamily="34" charset="0"/>
                <a:ea typeface="Calibri" pitchFamily="34" charset="-122"/>
                <a:cs typeface="Calibri" pitchFamily="34" charset="-120"/>
              </a:rPr>
              <a:t>what ₹1 lakh became in the best fund (Invesco India Midcap) in 10 years</a:t>
            </a:r>
            <a:endParaRPr lang="en-US" sz="1200" dirty="0"/>
          </a:p>
        </p:txBody>
      </p:sp>
      <p:sp>
        <p:nvSpPr>
          <p:cNvPr id="10" name="Text 7"/>
          <p:cNvSpPr txBox="1"/>
          <p:nvPr/>
        </p:nvSpPr>
        <p:spPr>
          <a:xfrm>
            <a:off x="9189720" y="1691640"/>
            <a:ext cx="2468880" cy="594360"/>
          </a:xfrm>
          <a:prstGeom prst="rect">
            <a:avLst/>
          </a:prstGeom>
          <a:noFill/>
          <a:ln/>
        </p:spPr>
        <p:txBody>
          <a:bodyPr wrap="square" lIns="0" tIns="0" rIns="0" bIns="0" rtlCol="0" anchor="t"/>
          <a:lstStyle/>
          <a:p>
            <a:pPr indent="0" marL="0">
              <a:buNone/>
            </a:pPr>
            <a:r>
              <a:rPr lang="en-US" sz="3000" b="1" dirty="0">
                <a:solidFill>
                  <a:srgbClr val="1F6F8B"/>
                </a:solidFill>
                <a:latin typeface="Arial" pitchFamily="34" charset="0"/>
                <a:ea typeface="Arial" pitchFamily="34" charset="-122"/>
                <a:cs typeface="Arial" pitchFamily="34" charset="-120"/>
              </a:rPr>
              <a:t>₹2.86 lakh</a:t>
            </a:r>
            <a:endParaRPr lang="en-US" sz="3000" dirty="0"/>
          </a:p>
        </p:txBody>
      </p:sp>
      <p:sp>
        <p:nvSpPr>
          <p:cNvPr id="11" name="Text 8"/>
          <p:cNvSpPr txBox="1"/>
          <p:nvPr/>
        </p:nvSpPr>
        <p:spPr>
          <a:xfrm>
            <a:off x="9189720" y="2286000"/>
            <a:ext cx="2377440" cy="685800"/>
          </a:xfrm>
          <a:prstGeom prst="rect">
            <a:avLst/>
          </a:prstGeom>
          <a:noFill/>
          <a:ln/>
        </p:spPr>
        <p:txBody>
          <a:bodyPr wrap="square" lIns="0" tIns="0" rIns="0" bIns="0" rtlCol="0" anchor="t"/>
          <a:lstStyle/>
          <a:p>
            <a:pPr indent="0" marL="0">
              <a:buNone/>
            </a:pPr>
            <a:r>
              <a:rPr lang="en-US" sz="1200" dirty="0">
                <a:solidFill>
                  <a:srgbClr val="5B6B75"/>
                </a:solidFill>
                <a:latin typeface="Calibri" pitchFamily="34" charset="0"/>
                <a:ea typeface="Calibri" pitchFamily="34" charset="-122"/>
                <a:cs typeface="Calibri" pitchFamily="34" charset="-120"/>
              </a:rPr>
              <a:t>what ₹1 lakh became in the Nifty 50 index fund over the same 10 years</a:t>
            </a:r>
            <a:endParaRPr lang="en-US" sz="1200" dirty="0"/>
          </a:p>
        </p:txBody>
      </p:sp>
      <p:sp>
        <p:nvSpPr>
          <p:cNvPr id="12" name="Text 9"/>
          <p:cNvSpPr txBox="1"/>
          <p:nvPr/>
        </p:nvSpPr>
        <p:spPr>
          <a:xfrm>
            <a:off x="6583680" y="3200400"/>
            <a:ext cx="3657600" cy="256032"/>
          </a:xfrm>
          <a:prstGeom prst="rect">
            <a:avLst/>
          </a:prstGeom>
          <a:noFill/>
          <a:ln/>
        </p:spPr>
        <p:txBody>
          <a:bodyPr wrap="square" lIns="0" tIns="0" rIns="0" bIns="0" rtlCol="0" anchor="t"/>
          <a:lstStyle/>
          <a:p>
            <a:pPr indent="0" marL="0">
              <a:buNone/>
            </a:pPr>
            <a:r>
              <a:rPr lang="en-US" sz="1050" b="1" spc="200" kern="0" dirty="0">
                <a:solidFill>
                  <a:srgbClr val="5B6B75"/>
                </a:solidFill>
                <a:latin typeface="Calibri" pitchFamily="34" charset="0"/>
                <a:ea typeface="Calibri" pitchFamily="34" charset="-122"/>
                <a:cs typeface="Calibri" pitchFamily="34" charset="-120"/>
              </a:rPr>
              <a:t>AVERAGE BY CATEGORY</a:t>
            </a:r>
            <a:endParaRPr lang="en-US" sz="10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583680" y="3520440"/>
          <a:ext cx="5056632" cy="914400"/>
        </p:xfrm>
        <a:graphic>
          <a:graphicData uri="http://schemas.openxmlformats.org/drawingml/2006/table">
            <a:tbl>
              <a:tblPr/>
              <a:tblGrid>
                <a:gridCol w="1371600"/>
                <a:gridCol w="1216152"/>
                <a:gridCol w="1143000"/>
                <a:gridCol w="132588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Category</a:t>
                      </a:r>
                      <a:endParaRPr lang="en-US" sz="1250" dirty="0">
                        <a:latin typeface="Calibri" charset="0"/>
                        <a:ea typeface="Calibri" charset="0"/>
                        <a:cs typeface="Calibri" charset="0"/>
                      </a:endParaRPr>
                    </a:p>
                  </a:txBody>
                  <a:tcPr marL="91440" marR="91440"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0B1F2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10-yr CAGR</a:t>
                      </a:r>
                      <a:endParaRPr lang="en-US" sz="1250" dirty="0">
                        <a:latin typeface="Calibri" charset="0"/>
                        <a:ea typeface="Calibri" charset="0"/>
                        <a:cs typeface="Calibri" charset="0"/>
                      </a:endParaRPr>
                    </a:p>
                  </a:txBody>
                  <a:tcPr marL="91440" marR="91440"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0B1F2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Volatility</a:t>
                      </a:r>
                      <a:endParaRPr lang="en-US" sz="1250" dirty="0">
                        <a:latin typeface="Calibri" charset="0"/>
                        <a:ea typeface="Calibri" charset="0"/>
                        <a:cs typeface="Calibri" charset="0"/>
                      </a:endParaRPr>
                    </a:p>
                  </a:txBody>
                  <a:tcPr marL="91440" marR="91440"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0B1F2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Max drawdown</a:t>
                      </a:r>
                      <a:endParaRPr lang="en-US" sz="1250" dirty="0">
                        <a:latin typeface="Calibri" charset="0"/>
                        <a:ea typeface="Calibri" charset="0"/>
                        <a:cs typeface="Calibri" charset="0"/>
                      </a:endParaRPr>
                    </a:p>
                  </a:txBody>
                  <a:tcPr marL="91440" marR="91440"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0B1F2A"/>
                    </a:solidFill>
                  </a:tcPr>
                </a:tc>
              </a:tr>
              <a:tr h="384048">
                <a:tc>
                  <a:txBody>
                    <a:bodyPr/>
                    <a:lstStyle/>
                    <a:p>
                      <a:pPr algn="l" indent="0" marL="0">
                        <a:buNone/>
                      </a:pPr>
                      <a:r>
                        <a:rPr lang="en-US" sz="1250" b="1" dirty="0">
                          <a:solidFill>
                            <a:srgbClr val="0B1F2A"/>
                          </a:solidFill>
                          <a:latin typeface="Calibri" pitchFamily="34" charset="0"/>
                          <a:ea typeface="Calibri" pitchFamily="34" charset="-122"/>
                          <a:cs typeface="Calibri" pitchFamily="34" charset="-120"/>
                        </a:rPr>
                        <a:t>Mid cap</a:t>
                      </a:r>
                      <a:endParaRPr lang="en-US" sz="1250" dirty="0">
                        <a:latin typeface="Calibri" charset="0"/>
                        <a:ea typeface="Calibri" charset="0"/>
                        <a:cs typeface="Calibri" charset="0"/>
                      </a:endParaRPr>
                    </a:p>
                  </a:txBody>
                  <a:tcPr marL="91440" marR="91440"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2F6F8"/>
                    </a:solidFill>
                  </a:tcPr>
                </a:tc>
                <a:tc>
                  <a:txBody>
                    <a:bodyPr/>
                    <a:lstStyle/>
                    <a:p>
                      <a:pPr algn="r" indent="0" marL="0">
                        <a:buNone/>
                      </a:pPr>
                      <a:r>
                        <a:rPr lang="en-US" sz="1250" dirty="0">
                          <a:solidFill>
                            <a:srgbClr val="1B2B34"/>
                          </a:solidFill>
                          <a:latin typeface="Calibri" pitchFamily="34" charset="0"/>
                          <a:ea typeface="Calibri" pitchFamily="34" charset="-122"/>
                          <a:cs typeface="Calibri" pitchFamily="34" charset="-120"/>
                        </a:rPr>
                        <a:t>16.1%</a:t>
                      </a:r>
                      <a:endParaRPr lang="en-US" sz="1250" dirty="0">
                        <a:latin typeface="Calibri" charset="0"/>
                        <a:ea typeface="Calibri" charset="0"/>
                        <a:cs typeface="Calibri" charset="0"/>
                      </a:endParaRPr>
                    </a:p>
                  </a:txBody>
                  <a:tcPr marL="91440" marR="91440"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2F6F8"/>
                    </a:solidFill>
                  </a:tcPr>
                </a:tc>
                <a:tc>
                  <a:txBody>
                    <a:bodyPr/>
                    <a:lstStyle/>
                    <a:p>
                      <a:pPr algn="r" indent="0" marL="0">
                        <a:buNone/>
                      </a:pPr>
                      <a:r>
                        <a:rPr lang="en-US" sz="1250" dirty="0">
                          <a:solidFill>
                            <a:srgbClr val="1B2B34"/>
                          </a:solidFill>
                          <a:latin typeface="Calibri" pitchFamily="34" charset="0"/>
                          <a:ea typeface="Calibri" pitchFamily="34" charset="-122"/>
                          <a:cs typeface="Calibri" pitchFamily="34" charset="-120"/>
                        </a:rPr>
                        <a:t>16.3%</a:t>
                      </a:r>
                      <a:endParaRPr lang="en-US" sz="1250" dirty="0">
                        <a:latin typeface="Calibri" charset="0"/>
                        <a:ea typeface="Calibri" charset="0"/>
                        <a:cs typeface="Calibri" charset="0"/>
                      </a:endParaRPr>
                    </a:p>
                  </a:txBody>
                  <a:tcPr marL="91440" marR="91440"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2F6F8"/>
                    </a:solidFill>
                  </a:tcPr>
                </a:tc>
                <a:tc>
                  <a:txBody>
                    <a:bodyPr/>
                    <a:lstStyle/>
                    <a:p>
                      <a:pPr algn="r" indent="0" marL="0">
                        <a:buNone/>
                      </a:pPr>
                      <a:r>
                        <a:rPr lang="en-US" sz="1250" dirty="0">
                          <a:solidFill>
                            <a:srgbClr val="1B2B34"/>
                          </a:solidFill>
                          <a:latin typeface="Calibri" pitchFamily="34" charset="0"/>
                          <a:ea typeface="Calibri" pitchFamily="34" charset="-122"/>
                          <a:cs typeface="Calibri" pitchFamily="34" charset="-120"/>
                        </a:rPr>
                        <a:t>−36.4%</a:t>
                      </a:r>
                      <a:endParaRPr lang="en-US" sz="1250" dirty="0">
                        <a:latin typeface="Calibri" charset="0"/>
                        <a:ea typeface="Calibri" charset="0"/>
                        <a:cs typeface="Calibri" charset="0"/>
                      </a:endParaRPr>
                    </a:p>
                  </a:txBody>
                  <a:tcPr marL="91440" marR="91440"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2F6F8"/>
                    </a:solidFill>
                  </a:tcPr>
                </a:tc>
              </a:tr>
              <a:tr h="384048">
                <a:tc>
                  <a:txBody>
                    <a:bodyPr/>
                    <a:lstStyle/>
                    <a:p>
                      <a:pPr algn="l" indent="0" marL="0">
                        <a:buNone/>
                      </a:pPr>
                      <a:r>
                        <a:rPr lang="en-US" sz="1250" b="1" dirty="0">
                          <a:solidFill>
                            <a:srgbClr val="0B1F2A"/>
                          </a:solidFill>
                          <a:latin typeface="Calibri" pitchFamily="34" charset="0"/>
                          <a:ea typeface="Calibri" pitchFamily="34" charset="-122"/>
                          <a:cs typeface="Calibri" pitchFamily="34" charset="-120"/>
                        </a:rPr>
                        <a:t>Flexi cap</a:t>
                      </a:r>
                      <a:endParaRPr lang="en-US" sz="1250" dirty="0">
                        <a:latin typeface="Calibri" charset="0"/>
                        <a:ea typeface="Calibri" charset="0"/>
                        <a:cs typeface="Calibri" charset="0"/>
                      </a:endParaRPr>
                    </a:p>
                  </a:txBody>
                  <a:tcPr marL="91440" marR="91440"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B2B34"/>
                          </a:solidFill>
                          <a:latin typeface="Calibri" pitchFamily="34" charset="0"/>
                          <a:ea typeface="Calibri" pitchFamily="34" charset="-122"/>
                          <a:cs typeface="Calibri" pitchFamily="34" charset="-120"/>
                        </a:rPr>
                        <a:t>13.1%</a:t>
                      </a:r>
                      <a:endParaRPr lang="en-US" sz="1250" dirty="0">
                        <a:latin typeface="Calibri" charset="0"/>
                        <a:ea typeface="Calibri" charset="0"/>
                        <a:cs typeface="Calibri" charset="0"/>
                      </a:endParaRPr>
                    </a:p>
                  </a:txBody>
                  <a:tcPr marL="91440" marR="91440"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B2B34"/>
                          </a:solidFill>
                          <a:latin typeface="Calibri" pitchFamily="34" charset="0"/>
                          <a:ea typeface="Calibri" pitchFamily="34" charset="-122"/>
                          <a:cs typeface="Calibri" pitchFamily="34" charset="-120"/>
                        </a:rPr>
                        <a:t>15.5%</a:t>
                      </a:r>
                      <a:endParaRPr lang="en-US" sz="1250" dirty="0">
                        <a:latin typeface="Calibri" charset="0"/>
                        <a:ea typeface="Calibri" charset="0"/>
                        <a:cs typeface="Calibri" charset="0"/>
                      </a:endParaRPr>
                    </a:p>
                  </a:txBody>
                  <a:tcPr marL="91440" marR="91440"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B2B34"/>
                          </a:solidFill>
                          <a:latin typeface="Calibri" pitchFamily="34" charset="0"/>
                          <a:ea typeface="Calibri" pitchFamily="34" charset="-122"/>
                          <a:cs typeface="Calibri" pitchFamily="34" charset="-120"/>
                        </a:rPr>
                        <a:t>−35.9%</a:t>
                      </a:r>
                      <a:endParaRPr lang="en-US" sz="1250" dirty="0">
                        <a:latin typeface="Calibri" charset="0"/>
                        <a:ea typeface="Calibri" charset="0"/>
                        <a:cs typeface="Calibri" charset="0"/>
                      </a:endParaRPr>
                    </a:p>
                  </a:txBody>
                  <a:tcPr marL="91440" marR="91440"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FFFFF"/>
                    </a:solidFill>
                  </a:tcPr>
                </a:tc>
              </a:tr>
              <a:tr h="384048">
                <a:tc>
                  <a:txBody>
                    <a:bodyPr/>
                    <a:lstStyle/>
                    <a:p>
                      <a:pPr algn="l" indent="0" marL="0">
                        <a:buNone/>
                      </a:pPr>
                      <a:r>
                        <a:rPr lang="en-US" sz="1250" b="1" dirty="0">
                          <a:solidFill>
                            <a:srgbClr val="0B1F2A"/>
                          </a:solidFill>
                          <a:latin typeface="Calibri" pitchFamily="34" charset="0"/>
                          <a:ea typeface="Calibri" pitchFamily="34" charset="-122"/>
                          <a:cs typeface="Calibri" pitchFamily="34" charset="-120"/>
                        </a:rPr>
                        <a:t>Large cap</a:t>
                      </a:r>
                      <a:endParaRPr lang="en-US" sz="1250" dirty="0">
                        <a:latin typeface="Calibri" charset="0"/>
                        <a:ea typeface="Calibri" charset="0"/>
                        <a:cs typeface="Calibri" charset="0"/>
                      </a:endParaRPr>
                    </a:p>
                  </a:txBody>
                  <a:tcPr marL="91440" marR="91440"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2F6F8"/>
                    </a:solidFill>
                  </a:tcPr>
                </a:tc>
                <a:tc>
                  <a:txBody>
                    <a:bodyPr/>
                    <a:lstStyle/>
                    <a:p>
                      <a:pPr algn="r" indent="0" marL="0">
                        <a:buNone/>
                      </a:pPr>
                      <a:r>
                        <a:rPr lang="en-US" sz="1250" dirty="0">
                          <a:solidFill>
                            <a:srgbClr val="1B2B34"/>
                          </a:solidFill>
                          <a:latin typeface="Calibri" pitchFamily="34" charset="0"/>
                          <a:ea typeface="Calibri" pitchFamily="34" charset="-122"/>
                          <a:cs typeface="Calibri" pitchFamily="34" charset="-120"/>
                        </a:rPr>
                        <a:t>12.3%</a:t>
                      </a:r>
                      <a:endParaRPr lang="en-US" sz="1250" dirty="0">
                        <a:latin typeface="Calibri" charset="0"/>
                        <a:ea typeface="Calibri" charset="0"/>
                        <a:cs typeface="Calibri" charset="0"/>
                      </a:endParaRPr>
                    </a:p>
                  </a:txBody>
                  <a:tcPr marL="91440" marR="91440"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2F6F8"/>
                    </a:solidFill>
                  </a:tcPr>
                </a:tc>
                <a:tc>
                  <a:txBody>
                    <a:bodyPr/>
                    <a:lstStyle/>
                    <a:p>
                      <a:pPr algn="r" indent="0" marL="0">
                        <a:buNone/>
                      </a:pPr>
                      <a:r>
                        <a:rPr lang="en-US" sz="1250" dirty="0">
                          <a:solidFill>
                            <a:srgbClr val="1B2B34"/>
                          </a:solidFill>
                          <a:latin typeface="Calibri" pitchFamily="34" charset="0"/>
                          <a:ea typeface="Calibri" pitchFamily="34" charset="-122"/>
                          <a:cs typeface="Calibri" pitchFamily="34" charset="-120"/>
                        </a:rPr>
                        <a:t>15.7%</a:t>
                      </a:r>
                      <a:endParaRPr lang="en-US" sz="1250" dirty="0">
                        <a:latin typeface="Calibri" charset="0"/>
                        <a:ea typeface="Calibri" charset="0"/>
                        <a:cs typeface="Calibri" charset="0"/>
                      </a:endParaRPr>
                    </a:p>
                  </a:txBody>
                  <a:tcPr marL="91440" marR="91440"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2F6F8"/>
                    </a:solidFill>
                  </a:tcPr>
                </a:tc>
                <a:tc>
                  <a:txBody>
                    <a:bodyPr/>
                    <a:lstStyle/>
                    <a:p>
                      <a:pPr algn="r" indent="0" marL="0">
                        <a:buNone/>
                      </a:pPr>
                      <a:r>
                        <a:rPr lang="en-US" sz="1250" dirty="0">
                          <a:solidFill>
                            <a:srgbClr val="1B2B34"/>
                          </a:solidFill>
                          <a:latin typeface="Calibri" pitchFamily="34" charset="0"/>
                          <a:ea typeface="Calibri" pitchFamily="34" charset="-122"/>
                          <a:cs typeface="Calibri" pitchFamily="34" charset="-120"/>
                        </a:rPr>
                        <a:t>−36.4%</a:t>
                      </a:r>
                      <a:endParaRPr lang="en-US" sz="1250" dirty="0">
                        <a:latin typeface="Calibri" charset="0"/>
                        <a:ea typeface="Calibri" charset="0"/>
                        <a:cs typeface="Calibri" charset="0"/>
                      </a:endParaRPr>
                    </a:p>
                  </a:txBody>
                  <a:tcPr marL="91440" marR="91440"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2F6F8"/>
                    </a:solidFill>
                  </a:tcPr>
                </a:tc>
              </a:tr>
              <a:tr h="384048">
                <a:tc>
                  <a:txBody>
                    <a:bodyPr/>
                    <a:lstStyle/>
                    <a:p>
                      <a:pPr algn="l" indent="0" marL="0">
                        <a:buNone/>
                      </a:pPr>
                      <a:r>
                        <a:rPr lang="en-US" sz="1250" b="1" dirty="0">
                          <a:solidFill>
                            <a:srgbClr val="0B1F2A"/>
                          </a:solidFill>
                          <a:latin typeface="Calibri" pitchFamily="34" charset="0"/>
                          <a:ea typeface="Calibri" pitchFamily="34" charset="-122"/>
                          <a:cs typeface="Calibri" pitchFamily="34" charset="-120"/>
                        </a:rPr>
                        <a:t>Index</a:t>
                      </a:r>
                      <a:endParaRPr lang="en-US" sz="1250" dirty="0">
                        <a:latin typeface="Calibri" charset="0"/>
                        <a:ea typeface="Calibri" charset="0"/>
                        <a:cs typeface="Calibri" charset="0"/>
                      </a:endParaRPr>
                    </a:p>
                  </a:txBody>
                  <a:tcPr marL="91440" marR="91440"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B2B34"/>
                          </a:solidFill>
                          <a:latin typeface="Calibri" pitchFamily="34" charset="0"/>
                          <a:ea typeface="Calibri" pitchFamily="34" charset="-122"/>
                          <a:cs typeface="Calibri" pitchFamily="34" charset="-120"/>
                        </a:rPr>
                        <a:t>11.3%</a:t>
                      </a:r>
                      <a:endParaRPr lang="en-US" sz="1250" dirty="0">
                        <a:latin typeface="Calibri" charset="0"/>
                        <a:ea typeface="Calibri" charset="0"/>
                        <a:cs typeface="Calibri" charset="0"/>
                      </a:endParaRPr>
                    </a:p>
                  </a:txBody>
                  <a:tcPr marL="91440" marR="91440"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B2B34"/>
                          </a:solidFill>
                          <a:latin typeface="Calibri" pitchFamily="34" charset="0"/>
                          <a:ea typeface="Calibri" pitchFamily="34" charset="-122"/>
                          <a:cs typeface="Calibri" pitchFamily="34" charset="-120"/>
                        </a:rPr>
                        <a:t>16.5%</a:t>
                      </a:r>
                      <a:endParaRPr lang="en-US" sz="1250" dirty="0">
                        <a:latin typeface="Calibri" charset="0"/>
                        <a:ea typeface="Calibri" charset="0"/>
                        <a:cs typeface="Calibri" charset="0"/>
                      </a:endParaRPr>
                    </a:p>
                  </a:txBody>
                  <a:tcPr marL="91440" marR="91440"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B2B34"/>
                          </a:solidFill>
                          <a:latin typeface="Calibri" pitchFamily="34" charset="0"/>
                          <a:ea typeface="Calibri" pitchFamily="34" charset="-122"/>
                          <a:cs typeface="Calibri" pitchFamily="34" charset="-120"/>
                        </a:rPr>
                        <a:t>−38.7%</a:t>
                      </a:r>
                      <a:endParaRPr lang="en-US" sz="1250" dirty="0">
                        <a:latin typeface="Calibri" charset="0"/>
                        <a:ea typeface="Calibri" charset="0"/>
                        <a:cs typeface="Calibri" charset="0"/>
                      </a:endParaRPr>
                    </a:p>
                  </a:txBody>
                  <a:tcPr marL="91440" marR="91440"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FFFFF"/>
                    </a:solidFill>
                  </a:tcPr>
                </a:tc>
              </a:tr>
            </a:tbl>
          </a:graphicData>
        </a:graphic>
      </p:graphicFrame>
      <p:sp>
        <p:nvSpPr>
          <p:cNvPr id="14" name="Text 10"/>
          <p:cNvSpPr txBox="1"/>
          <p:nvPr/>
        </p:nvSpPr>
        <p:spPr>
          <a:xfrm>
            <a:off x="6583680" y="5532120"/>
            <a:ext cx="5056632" cy="640080"/>
          </a:xfrm>
          <a:prstGeom prst="rect">
            <a:avLst/>
          </a:prstGeom>
          <a:noFill/>
          <a:ln/>
        </p:spPr>
        <p:txBody>
          <a:bodyPr wrap="square" lIns="0" tIns="0" rIns="0" bIns="0" rtlCol="0" anchor="t"/>
          <a:lstStyle/>
          <a:p>
            <a:pPr indent="0" marL="0">
              <a:buNone/>
            </a:pPr>
            <a:r>
              <a:rPr lang="en-US" sz="1150" i="1" dirty="0">
                <a:solidFill>
                  <a:srgbClr val="1F6F8B"/>
                </a:solidFill>
                <a:latin typeface="Calibri" pitchFamily="34" charset="0"/>
                <a:ea typeface="Calibri" pitchFamily="34" charset="-122"/>
                <a:cs typeface="Calibri" pitchFamily="34" charset="-120"/>
              </a:rPr>
              <a:t>Every category fell by more than a third at its worst point (the March 2020 crash). Mid-cap funds returned the most; index funds had the deepest fall. As of 1 October 2026.</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300" kern="0" dirty="0">
                <a:solidFill>
                  <a:srgbClr val="0E9F6E"/>
                </a:solidFill>
                <a:latin typeface="Calibri" pitchFamily="34" charset="0"/>
                <a:ea typeface="Calibri" pitchFamily="34" charset="-122"/>
                <a:cs typeface="Calibri" pitchFamily="34" charset="-120"/>
              </a:rPr>
              <a:t>12  ·  HOLDING-PERIOD ANALYSIS</a:t>
            </a:r>
            <a:endParaRPr lang="en-US" sz="1200" dirty="0"/>
          </a:p>
        </p:txBody>
      </p:sp>
      <p:sp>
        <p:nvSpPr>
          <p:cNvPr id="3" name="Text 1"/>
          <p:cNvSpPr txBox="1"/>
          <p:nvPr/>
        </p:nvSpPr>
        <p:spPr>
          <a:xfrm>
            <a:off x="548640" y="676656"/>
            <a:ext cx="11064240" cy="685800"/>
          </a:xfrm>
          <a:prstGeom prst="rect">
            <a:avLst/>
          </a:prstGeom>
          <a:noFill/>
          <a:ln/>
        </p:spPr>
        <p:txBody>
          <a:bodyPr wrap="square" lIns="0" tIns="0" rIns="0" bIns="0" rtlCol="0" anchor="ctr"/>
          <a:lstStyle/>
          <a:p>
            <a:pPr indent="0" marL="0">
              <a:buNone/>
            </a:pPr>
            <a:r>
              <a:rPr lang="en-US" sz="3000" b="1" dirty="0">
                <a:solidFill>
                  <a:srgbClr val="0B1F2A"/>
                </a:solidFill>
                <a:latin typeface="Arial" pitchFamily="34" charset="0"/>
                <a:ea typeface="Arial" pitchFamily="34" charset="-122"/>
                <a:cs typeface="Arial" pitchFamily="34" charset="-120"/>
              </a:rPr>
              <a:t>Does holding longer really pay? The data says yes</a:t>
            </a:r>
            <a:endParaRPr lang="en-US" sz="3000" dirty="0"/>
          </a:p>
        </p:txBody>
      </p:sp>
      <p:sp>
        <p:nvSpPr>
          <p:cNvPr id="4" name="Text 2"/>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B75"/>
                </a:solidFill>
                <a:latin typeface="Calibri" pitchFamily="34" charset="0"/>
                <a:ea typeface="Calibri" pitchFamily="34" charset="-122"/>
                <a:cs typeface="Calibri" pitchFamily="34" charset="-120"/>
              </a:rPr>
              <a:t>Big Data Architecture  |  Stock Market &amp; Mutual Fund Risk Analytics</a:t>
            </a:r>
            <a:endParaRPr lang="en-US" sz="900" dirty="0"/>
          </a:p>
        </p:txBody>
      </p:sp>
      <p:sp>
        <p:nvSpPr>
          <p:cNvPr id="5" name="Text 3"/>
          <p:cNvSpPr txBox="1"/>
          <p:nvPr/>
        </p:nvSpPr>
        <p:spPr>
          <a:xfrm>
            <a:off x="11183112" y="6473952"/>
            <a:ext cx="457200" cy="228600"/>
          </a:xfrm>
          <a:prstGeom prst="rect">
            <a:avLst/>
          </a:prstGeom>
          <a:noFill/>
          <a:ln/>
        </p:spPr>
        <p:txBody>
          <a:bodyPr wrap="square" lIns="0" tIns="0" rIns="0" bIns="0" rtlCol="0" anchor="t"/>
          <a:lstStyle/>
          <a:p>
            <a:pPr algn="r" indent="0" marL="0">
              <a:buNone/>
            </a:pPr>
            <a:r>
              <a:rPr lang="en-US" sz="900" dirty="0">
                <a:solidFill>
                  <a:srgbClr val="5B6B75"/>
                </a:solidFill>
                <a:latin typeface="Calibri" pitchFamily="34" charset="0"/>
                <a:ea typeface="Calibri" pitchFamily="34" charset="-122"/>
                <a:cs typeface="Calibri" pitchFamily="34" charset="-120"/>
              </a:rPr>
              <a:t>13</a:t>
            </a:r>
            <a:endParaRPr lang="en-US" sz="900" dirty="0"/>
          </a:p>
        </p:txBody>
      </p:sp>
      <p:sp>
        <p:nvSpPr>
          <p:cNvPr id="6" name="Shape 4"/>
          <p:cNvSpPr/>
          <p:nvPr/>
        </p:nvSpPr>
        <p:spPr>
          <a:xfrm>
            <a:off x="548640" y="1737360"/>
            <a:ext cx="438912" cy="438912"/>
          </a:xfrm>
          <a:prstGeom prst="ellipse">
            <a:avLst/>
          </a:prstGeom>
          <a:solidFill>
            <a:srgbClr val="0E9F6E"/>
          </a:solidFill>
          <a:ln w="12700">
            <a:solidFill>
              <a:srgbClr val="0E9F6E"/>
            </a:solidFill>
            <a:prstDash val="solid"/>
          </a:ln>
        </p:spPr>
      </p:sp>
      <p:sp>
        <p:nvSpPr>
          <p:cNvPr id="7" name="Text 5"/>
          <p:cNvSpPr txBox="1"/>
          <p:nvPr/>
        </p:nvSpPr>
        <p:spPr>
          <a:xfrm>
            <a:off x="548640" y="17373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txBox="1"/>
          <p:nvPr/>
        </p:nvSpPr>
        <p:spPr>
          <a:xfrm>
            <a:off x="1188720" y="1719072"/>
            <a:ext cx="4297680" cy="685800"/>
          </a:xfrm>
          <a:prstGeom prst="rect">
            <a:avLst/>
          </a:prstGeom>
          <a:noFill/>
          <a:ln/>
        </p:spPr>
        <p:txBody>
          <a:bodyPr wrap="square" lIns="0" tIns="0" rIns="0" bIns="0" rtlCol="0" anchor="t"/>
          <a:lstStyle/>
          <a:p>
            <a:pPr indent="0" marL="0">
              <a:buNone/>
            </a:pPr>
            <a:r>
              <a:rPr lang="en-US" sz="1450" dirty="0">
                <a:solidFill>
                  <a:srgbClr val="1B2B34"/>
                </a:solidFill>
                <a:latin typeface="Calibri" pitchFamily="34" charset="0"/>
                <a:ea typeface="Calibri" pitchFamily="34" charset="-122"/>
                <a:cs typeface="Calibri" pitchFamily="34" charset="-120"/>
              </a:rPr>
              <a:t>Take every month from 2013 as a possible start date.</a:t>
            </a:r>
            <a:endParaRPr lang="en-US" sz="1450" dirty="0"/>
          </a:p>
        </p:txBody>
      </p:sp>
      <p:sp>
        <p:nvSpPr>
          <p:cNvPr id="9" name="Shape 7"/>
          <p:cNvSpPr/>
          <p:nvPr/>
        </p:nvSpPr>
        <p:spPr>
          <a:xfrm>
            <a:off x="548640" y="2560320"/>
            <a:ext cx="438912" cy="438912"/>
          </a:xfrm>
          <a:prstGeom prst="ellipse">
            <a:avLst/>
          </a:prstGeom>
          <a:solidFill>
            <a:srgbClr val="0E9F6E"/>
          </a:solidFill>
          <a:ln w="12700">
            <a:solidFill>
              <a:srgbClr val="0E9F6E"/>
            </a:solidFill>
            <a:prstDash val="solid"/>
          </a:ln>
        </p:spPr>
      </p:sp>
      <p:sp>
        <p:nvSpPr>
          <p:cNvPr id="10" name="Text 8"/>
          <p:cNvSpPr txBox="1"/>
          <p:nvPr/>
        </p:nvSpPr>
        <p:spPr>
          <a:xfrm>
            <a:off x="548640" y="256032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txBox="1"/>
          <p:nvPr/>
        </p:nvSpPr>
        <p:spPr>
          <a:xfrm>
            <a:off x="1188720" y="2542032"/>
            <a:ext cx="4297680" cy="685800"/>
          </a:xfrm>
          <a:prstGeom prst="rect">
            <a:avLst/>
          </a:prstGeom>
          <a:noFill/>
          <a:ln/>
        </p:spPr>
        <p:txBody>
          <a:bodyPr wrap="square" lIns="0" tIns="0" rIns="0" bIns="0" rtlCol="0" anchor="t"/>
          <a:lstStyle/>
          <a:p>
            <a:pPr indent="0" marL="0">
              <a:buNone/>
            </a:pPr>
            <a:r>
              <a:rPr lang="en-US" sz="1450" dirty="0">
                <a:solidFill>
                  <a:srgbClr val="1B2B34"/>
                </a:solidFill>
                <a:latin typeface="Calibri" pitchFamily="34" charset="0"/>
                <a:ea typeface="Calibri" pitchFamily="34" charset="-122"/>
                <a:cs typeface="Calibri" pitchFamily="34" charset="-120"/>
              </a:rPr>
              <a:t>For each start, compute the return of holding for 1, 3, 5, 7 and 10 years.</a:t>
            </a:r>
            <a:endParaRPr lang="en-US" sz="1450" dirty="0"/>
          </a:p>
        </p:txBody>
      </p:sp>
      <p:sp>
        <p:nvSpPr>
          <p:cNvPr id="12" name="Shape 10"/>
          <p:cNvSpPr/>
          <p:nvPr/>
        </p:nvSpPr>
        <p:spPr>
          <a:xfrm>
            <a:off x="548640" y="3383280"/>
            <a:ext cx="438912" cy="438912"/>
          </a:xfrm>
          <a:prstGeom prst="ellipse">
            <a:avLst/>
          </a:prstGeom>
          <a:solidFill>
            <a:srgbClr val="0E9F6E"/>
          </a:solidFill>
          <a:ln w="12700">
            <a:solidFill>
              <a:srgbClr val="0E9F6E"/>
            </a:solidFill>
            <a:prstDash val="solid"/>
          </a:ln>
        </p:spPr>
      </p:sp>
      <p:sp>
        <p:nvSpPr>
          <p:cNvPr id="13" name="Text 11"/>
          <p:cNvSpPr txBox="1"/>
          <p:nvPr/>
        </p:nvSpPr>
        <p:spPr>
          <a:xfrm>
            <a:off x="548640" y="338328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1188720" y="3364992"/>
            <a:ext cx="4297680" cy="685800"/>
          </a:xfrm>
          <a:prstGeom prst="rect">
            <a:avLst/>
          </a:prstGeom>
          <a:noFill/>
          <a:ln/>
        </p:spPr>
        <p:txBody>
          <a:bodyPr wrap="square" lIns="0" tIns="0" rIns="0" bIns="0" rtlCol="0" anchor="t"/>
          <a:lstStyle/>
          <a:p>
            <a:pPr indent="0" marL="0">
              <a:buNone/>
            </a:pPr>
            <a:r>
              <a:rPr lang="en-US" sz="1450" dirty="0">
                <a:solidFill>
                  <a:srgbClr val="1B2B34"/>
                </a:solidFill>
                <a:latin typeface="Calibri" pitchFamily="34" charset="0"/>
                <a:ea typeface="Calibri" pitchFamily="34" charset="-122"/>
                <a:cs typeface="Calibri" pitchFamily="34" charset="-120"/>
              </a:rPr>
              <a:t>Report the share of windows that made money, the median return and the range.</a:t>
            </a:r>
            <a:endParaRPr lang="en-US" sz="1450" dirty="0"/>
          </a:p>
        </p:txBody>
      </p:sp>
      <p:sp>
        <p:nvSpPr>
          <p:cNvPr id="15" name="Shape 13"/>
          <p:cNvSpPr/>
          <p:nvPr/>
        </p:nvSpPr>
        <p:spPr>
          <a:xfrm>
            <a:off x="548640" y="4343400"/>
            <a:ext cx="4937760" cy="1783080"/>
          </a:xfrm>
          <a:prstGeom prst="roundRect">
            <a:avLst>
              <a:gd name="adj" fmla="val 6154"/>
            </a:avLst>
          </a:prstGeom>
          <a:solidFill>
            <a:srgbClr val="E6F5EE"/>
          </a:solidFill>
          <a:ln w="12700">
            <a:solidFill>
              <a:srgbClr val="E6F5EE"/>
            </a:solidFill>
            <a:prstDash val="solid"/>
          </a:ln>
        </p:spPr>
      </p:sp>
      <p:sp>
        <p:nvSpPr>
          <p:cNvPr id="16" name="Text 14"/>
          <p:cNvSpPr txBox="1"/>
          <p:nvPr/>
        </p:nvSpPr>
        <p:spPr>
          <a:xfrm>
            <a:off x="777240" y="4434840"/>
            <a:ext cx="4526280" cy="1600200"/>
          </a:xfrm>
          <a:prstGeom prst="rect">
            <a:avLst/>
          </a:prstGeom>
          <a:noFill/>
          <a:ln/>
        </p:spPr>
        <p:txBody>
          <a:bodyPr wrap="square" lIns="0" tIns="0" rIns="0" bIns="0" rtlCol="0" anchor="ctr"/>
          <a:lstStyle/>
          <a:p>
            <a:pPr indent="0" marL="0">
              <a:spcAft>
                <a:spcPts val="600"/>
              </a:spcAft>
              <a:buNone/>
            </a:pPr>
            <a:r>
              <a:rPr lang="en-US" sz="1300" b="1" dirty="0">
                <a:solidFill>
                  <a:srgbClr val="0B1F2A"/>
                </a:solidFill>
                <a:latin typeface="Calibri" pitchFamily="34" charset="0"/>
                <a:ea typeface="Calibri" pitchFamily="34" charset="-122"/>
                <a:cs typeface="Calibri" pitchFamily="34" charset="-120"/>
              </a:rPr>
              <a:t>What it shows. </a:t>
            </a:r>
            <a:pPr indent="0" marL="0">
              <a:spcAft>
                <a:spcPts val="600"/>
              </a:spcAft>
              <a:buNone/>
            </a:pPr>
            <a:r>
              <a:rPr lang="en-US" sz="1300" dirty="0">
                <a:solidFill>
                  <a:srgbClr val="1B2B34"/>
                </a:solidFill>
                <a:latin typeface="Calibri" pitchFamily="34" charset="0"/>
                <a:ea typeface="Calibri" pitchFamily="34" charset="-122"/>
                <a:cs typeface="Calibri" pitchFamily="34" charset="-120"/>
              </a:rPr>
              <a:t>A 1-year hold lost money in about 1 window out of 6. From 7 years up, no window lost money, and the return range narrows to about 13% to 18% a year.</a:t>
            </a:r>
            <a:endParaRPr lang="en-US" sz="1300" dirty="0"/>
          </a:p>
          <a:p>
            <a:pPr indent="0" marL="0">
              <a:spcAft>
                <a:spcPts val="600"/>
              </a:spcAft>
              <a:buNone/>
            </a:pPr>
            <a:r>
              <a:rPr lang="en-US" sz="1300" i="1" dirty="0">
                <a:solidFill>
                  <a:srgbClr val="1F6F8B"/>
                </a:solidFill>
                <a:latin typeface="Calibri" pitchFamily="34" charset="0"/>
                <a:ea typeface="Calibri" pitchFamily="34" charset="-122"/>
                <a:cs typeface="Calibri" pitchFamily="34" charset="-120"/>
              </a:rPr>
              <a:t>Past results from a mostly rising market; not a guarantee.</a:t>
            </a:r>
            <a:endParaRPr lang="en-US" sz="1300" dirty="0"/>
          </a:p>
        </p:txBody>
      </p:sp>
      <p:sp>
        <p:nvSpPr>
          <p:cNvPr id="17" name="Shape 15"/>
          <p:cNvSpPr/>
          <p:nvPr/>
        </p:nvSpPr>
        <p:spPr>
          <a:xfrm>
            <a:off x="5852160" y="1645920"/>
            <a:ext cx="5788152" cy="4480560"/>
          </a:xfrm>
          <a:prstGeom prst="roundRect">
            <a:avLst>
              <a:gd name="adj" fmla="val 2449"/>
            </a:avLst>
          </a:prstGeom>
          <a:solidFill>
            <a:srgbClr val="F2F6F8"/>
          </a:solidFill>
          <a:ln w="12700">
            <a:solidFill>
              <a:srgbClr val="F2F6F8"/>
            </a:solidFill>
            <a:prstDash val="solid"/>
          </a:ln>
        </p:spPr>
      </p:sp>
      <p:graphicFrame>
        <p:nvGraphicFramePr>
          <p:cNvPr id="18" name="Chart 0" descr=""/>
          <p:cNvGraphicFramePr/>
          <p:nvPr/>
        </p:nvGraphicFramePr>
        <p:xfrm>
          <a:off x="5989320" y="1737360"/>
          <a:ext cx="5513832" cy="2423160"/>
        </p:xfrm>
        <a:graphic xmlns:a="http://schemas.openxmlformats.org/drawingml/2006/main">
          <a:graphicData uri="http://schemas.openxmlformats.org/drawingml/2006/chart">
            <c:chart xmlns:c="http://schemas.openxmlformats.org/drawingml/2006/chart" r:id="rId1"/>
          </a:graphicData>
        </a:graphic>
      </p:graphicFrame>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080760" y="4206240"/>
          <a:ext cx="5330952" cy="914400"/>
        </p:xfrm>
        <a:graphic>
          <a:graphicData uri="http://schemas.openxmlformats.org/drawingml/2006/table">
            <a:tbl>
              <a:tblPr/>
              <a:tblGrid>
                <a:gridCol w="1234440"/>
                <a:gridCol w="1371600"/>
                <a:gridCol w="1362456"/>
                <a:gridCol w="1362456"/>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Held for</a:t>
                      </a:r>
                      <a:endParaRPr lang="en-US" sz="1150" dirty="0">
                        <a:latin typeface="Calibri" charset="0"/>
                        <a:ea typeface="Calibri" charset="0"/>
                        <a:cs typeface="Calibri" charset="0"/>
                      </a:endParaRPr>
                    </a:p>
                  </a:txBody>
                  <a:tcPr marL="91440" marR="91440" marT="0" marB="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0B1F2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Median CAGR</a:t>
                      </a:r>
                      <a:endParaRPr lang="en-US" sz="1150" dirty="0">
                        <a:latin typeface="Calibri" charset="0"/>
                        <a:ea typeface="Calibri" charset="0"/>
                        <a:cs typeface="Calibri" charset="0"/>
                      </a:endParaRPr>
                    </a:p>
                  </a:txBody>
                  <a:tcPr marL="91440" marR="91440" marT="0" marB="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0B1F2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10th percentile</a:t>
                      </a:r>
                      <a:endParaRPr lang="en-US" sz="1150" dirty="0">
                        <a:latin typeface="Calibri" charset="0"/>
                        <a:ea typeface="Calibri" charset="0"/>
                        <a:cs typeface="Calibri" charset="0"/>
                      </a:endParaRPr>
                    </a:p>
                  </a:txBody>
                  <a:tcPr marL="91440" marR="91440" marT="0" marB="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0B1F2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90th percentile</a:t>
                      </a:r>
                      <a:endParaRPr lang="en-US" sz="1150" dirty="0">
                        <a:latin typeface="Calibri" charset="0"/>
                        <a:ea typeface="Calibri" charset="0"/>
                        <a:cs typeface="Calibri" charset="0"/>
                      </a:endParaRPr>
                    </a:p>
                  </a:txBody>
                  <a:tcPr marL="91440" marR="91440" marT="0" marB="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0B1F2A"/>
                    </a:solidFill>
                  </a:tcPr>
                </a:tc>
              </a:tr>
              <a:tr h="292608">
                <a:tc>
                  <a:txBody>
                    <a:bodyPr/>
                    <a:lstStyle/>
                    <a:p>
                      <a:pPr algn="l" indent="0" marL="0">
                        <a:buNone/>
                      </a:pPr>
                      <a:r>
                        <a:rPr lang="en-US" sz="1150" b="1" dirty="0">
                          <a:solidFill>
                            <a:srgbClr val="0B1F2A"/>
                          </a:solidFill>
                          <a:latin typeface="Calibri" pitchFamily="34" charset="0"/>
                          <a:ea typeface="Calibri" pitchFamily="34" charset="-122"/>
                          <a:cs typeface="Calibri" pitchFamily="34" charset="-120"/>
                        </a:rPr>
                        <a:t>1 year</a:t>
                      </a:r>
                      <a:endParaRPr lang="en-US" sz="1150" dirty="0">
                        <a:latin typeface="Calibri" charset="0"/>
                        <a:ea typeface="Calibri" charset="0"/>
                        <a:cs typeface="Calibri" charset="0"/>
                      </a:endParaRPr>
                    </a:p>
                  </a:txBody>
                  <a:tcPr marL="91440" marR="91440" marT="0" marB="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9EFF2"/>
                    </a:solidFill>
                  </a:tcPr>
                </a:tc>
                <a:tc>
                  <a:txBody>
                    <a:bodyPr/>
                    <a:lstStyle/>
                    <a:p>
                      <a:pPr algn="r" indent="0" marL="0">
                        <a:buNone/>
                      </a:pPr>
                      <a:r>
                        <a:rPr lang="en-US" sz="1150" dirty="0">
                          <a:solidFill>
                            <a:srgbClr val="1B2B34"/>
                          </a:solidFill>
                          <a:latin typeface="Calibri" pitchFamily="34" charset="0"/>
                          <a:ea typeface="Calibri" pitchFamily="34" charset="-122"/>
                          <a:cs typeface="Calibri" pitchFamily="34" charset="-120"/>
                        </a:rPr>
                        <a:t>13.4%</a:t>
                      </a:r>
                      <a:endParaRPr lang="en-US" sz="1150" dirty="0">
                        <a:latin typeface="Calibri" charset="0"/>
                        <a:ea typeface="Calibri" charset="0"/>
                        <a:cs typeface="Calibri" charset="0"/>
                      </a:endParaRPr>
                    </a:p>
                  </a:txBody>
                  <a:tcPr marL="91440" marR="91440" marT="0" marB="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9EFF2"/>
                    </a:solidFill>
                  </a:tcPr>
                </a:tc>
                <a:tc>
                  <a:txBody>
                    <a:bodyPr/>
                    <a:lstStyle/>
                    <a:p>
                      <a:pPr algn="r" indent="0" marL="0">
                        <a:buNone/>
                      </a:pPr>
                      <a:r>
                        <a:rPr lang="en-US" sz="1150" dirty="0">
                          <a:solidFill>
                            <a:srgbClr val="1B2B34"/>
                          </a:solidFill>
                          <a:latin typeface="Calibri" pitchFamily="34" charset="0"/>
                          <a:ea typeface="Calibri" pitchFamily="34" charset="-122"/>
                          <a:cs typeface="Calibri" pitchFamily="34" charset="-120"/>
                        </a:rPr>
                        <a:t>−3.5%</a:t>
                      </a:r>
                      <a:endParaRPr lang="en-US" sz="1150" dirty="0">
                        <a:latin typeface="Calibri" charset="0"/>
                        <a:ea typeface="Calibri" charset="0"/>
                        <a:cs typeface="Calibri" charset="0"/>
                      </a:endParaRPr>
                    </a:p>
                  </a:txBody>
                  <a:tcPr marL="91440" marR="91440" marT="0" marB="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9EFF2"/>
                    </a:solidFill>
                  </a:tcPr>
                </a:tc>
                <a:tc>
                  <a:txBody>
                    <a:bodyPr/>
                    <a:lstStyle/>
                    <a:p>
                      <a:pPr algn="r" indent="0" marL="0">
                        <a:buNone/>
                      </a:pPr>
                      <a:r>
                        <a:rPr lang="en-US" sz="1150" dirty="0">
                          <a:solidFill>
                            <a:srgbClr val="1B2B34"/>
                          </a:solidFill>
                          <a:latin typeface="Calibri" pitchFamily="34" charset="0"/>
                          <a:ea typeface="Calibri" pitchFamily="34" charset="-122"/>
                          <a:cs typeface="Calibri" pitchFamily="34" charset="-120"/>
                        </a:rPr>
                        <a:t>51.7%</a:t>
                      </a:r>
                      <a:endParaRPr lang="en-US" sz="1150" dirty="0">
                        <a:latin typeface="Calibri" charset="0"/>
                        <a:ea typeface="Calibri" charset="0"/>
                        <a:cs typeface="Calibri" charset="0"/>
                      </a:endParaRPr>
                    </a:p>
                  </a:txBody>
                  <a:tcPr marL="91440" marR="91440" marT="0" marB="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9EFF2"/>
                    </a:solidFill>
                  </a:tcPr>
                </a:tc>
              </a:tr>
              <a:tr h="292608">
                <a:tc>
                  <a:txBody>
                    <a:bodyPr/>
                    <a:lstStyle/>
                    <a:p>
                      <a:pPr algn="l" indent="0" marL="0">
                        <a:buNone/>
                      </a:pPr>
                      <a:r>
                        <a:rPr lang="en-US" sz="1150" b="1" dirty="0">
                          <a:solidFill>
                            <a:srgbClr val="0B1F2A"/>
                          </a:solidFill>
                          <a:latin typeface="Calibri" pitchFamily="34" charset="0"/>
                          <a:ea typeface="Calibri" pitchFamily="34" charset="-122"/>
                          <a:cs typeface="Calibri" pitchFamily="34" charset="-120"/>
                        </a:rPr>
                        <a:t>3 years</a:t>
                      </a:r>
                      <a:endParaRPr lang="en-US" sz="1150" dirty="0">
                        <a:latin typeface="Calibri" charset="0"/>
                        <a:ea typeface="Calibri" charset="0"/>
                        <a:cs typeface="Calibri" charset="0"/>
                      </a:endParaRPr>
                    </a:p>
                  </a:txBody>
                  <a:tcPr marL="91440" marR="91440" marT="0" marB="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B34"/>
                          </a:solidFill>
                          <a:latin typeface="Calibri" pitchFamily="34" charset="0"/>
                          <a:ea typeface="Calibri" pitchFamily="34" charset="-122"/>
                          <a:cs typeface="Calibri" pitchFamily="34" charset="-120"/>
                        </a:rPr>
                        <a:t>17.0%</a:t>
                      </a:r>
                      <a:endParaRPr lang="en-US" sz="1150" dirty="0">
                        <a:latin typeface="Calibri" charset="0"/>
                        <a:ea typeface="Calibri" charset="0"/>
                        <a:cs typeface="Calibri" charset="0"/>
                      </a:endParaRPr>
                    </a:p>
                  </a:txBody>
                  <a:tcPr marL="91440" marR="91440" marT="0" marB="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B34"/>
                          </a:solidFill>
                          <a:latin typeface="Calibri" pitchFamily="34" charset="0"/>
                          <a:ea typeface="Calibri" pitchFamily="34" charset="-122"/>
                          <a:cs typeface="Calibri" pitchFamily="34" charset="-120"/>
                        </a:rPr>
                        <a:t>7.3%</a:t>
                      </a:r>
                      <a:endParaRPr lang="en-US" sz="1150" dirty="0">
                        <a:latin typeface="Calibri" charset="0"/>
                        <a:ea typeface="Calibri" charset="0"/>
                        <a:cs typeface="Calibri" charset="0"/>
                      </a:endParaRPr>
                    </a:p>
                  </a:txBody>
                  <a:tcPr marL="91440" marR="91440" marT="0" marB="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B34"/>
                          </a:solidFill>
                          <a:latin typeface="Calibri" pitchFamily="34" charset="0"/>
                          <a:ea typeface="Calibri" pitchFamily="34" charset="-122"/>
                          <a:cs typeface="Calibri" pitchFamily="34" charset="-120"/>
                        </a:rPr>
                        <a:t>25.1%</a:t>
                      </a:r>
                      <a:endParaRPr lang="en-US" sz="1150" dirty="0">
                        <a:latin typeface="Calibri" charset="0"/>
                        <a:ea typeface="Calibri" charset="0"/>
                        <a:cs typeface="Calibri" charset="0"/>
                      </a:endParaRPr>
                    </a:p>
                  </a:txBody>
                  <a:tcPr marL="91440" marR="91440" marT="0" marB="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r>
              <a:tr h="292608">
                <a:tc>
                  <a:txBody>
                    <a:bodyPr/>
                    <a:lstStyle/>
                    <a:p>
                      <a:pPr algn="l" indent="0" marL="0">
                        <a:buNone/>
                      </a:pPr>
                      <a:r>
                        <a:rPr lang="en-US" sz="1150" b="1" dirty="0">
                          <a:solidFill>
                            <a:srgbClr val="0B1F2A"/>
                          </a:solidFill>
                          <a:latin typeface="Calibri" pitchFamily="34" charset="0"/>
                          <a:ea typeface="Calibri" pitchFamily="34" charset="-122"/>
                          <a:cs typeface="Calibri" pitchFamily="34" charset="-120"/>
                        </a:rPr>
                        <a:t>5 years</a:t>
                      </a:r>
                      <a:endParaRPr lang="en-US" sz="1150" dirty="0">
                        <a:latin typeface="Calibri" charset="0"/>
                        <a:ea typeface="Calibri" charset="0"/>
                        <a:cs typeface="Calibri" charset="0"/>
                      </a:endParaRPr>
                    </a:p>
                  </a:txBody>
                  <a:tcPr marL="91440" marR="91440" marT="0" marB="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9EFF2"/>
                    </a:solidFill>
                  </a:tcPr>
                </a:tc>
                <a:tc>
                  <a:txBody>
                    <a:bodyPr/>
                    <a:lstStyle/>
                    <a:p>
                      <a:pPr algn="r" indent="0" marL="0">
                        <a:buNone/>
                      </a:pPr>
                      <a:r>
                        <a:rPr lang="en-US" sz="1150" dirty="0">
                          <a:solidFill>
                            <a:srgbClr val="1B2B34"/>
                          </a:solidFill>
                          <a:latin typeface="Calibri" pitchFamily="34" charset="0"/>
                          <a:ea typeface="Calibri" pitchFamily="34" charset="-122"/>
                          <a:cs typeface="Calibri" pitchFamily="34" charset="-120"/>
                        </a:rPr>
                        <a:t>15.6%</a:t>
                      </a:r>
                      <a:endParaRPr lang="en-US" sz="1150" dirty="0">
                        <a:latin typeface="Calibri" charset="0"/>
                        <a:ea typeface="Calibri" charset="0"/>
                        <a:cs typeface="Calibri" charset="0"/>
                      </a:endParaRPr>
                    </a:p>
                  </a:txBody>
                  <a:tcPr marL="91440" marR="91440" marT="0" marB="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9EFF2"/>
                    </a:solidFill>
                  </a:tcPr>
                </a:tc>
                <a:tc>
                  <a:txBody>
                    <a:bodyPr/>
                    <a:lstStyle/>
                    <a:p>
                      <a:pPr algn="r" indent="0" marL="0">
                        <a:buNone/>
                      </a:pPr>
                      <a:r>
                        <a:rPr lang="en-US" sz="1150" dirty="0">
                          <a:solidFill>
                            <a:srgbClr val="1B2B34"/>
                          </a:solidFill>
                          <a:latin typeface="Calibri" pitchFamily="34" charset="0"/>
                          <a:ea typeface="Calibri" pitchFamily="34" charset="-122"/>
                          <a:cs typeface="Calibri" pitchFamily="34" charset="-120"/>
                        </a:rPr>
                        <a:t>9.0%</a:t>
                      </a:r>
                      <a:endParaRPr lang="en-US" sz="1150" dirty="0">
                        <a:latin typeface="Calibri" charset="0"/>
                        <a:ea typeface="Calibri" charset="0"/>
                        <a:cs typeface="Calibri" charset="0"/>
                      </a:endParaRPr>
                    </a:p>
                  </a:txBody>
                  <a:tcPr marL="91440" marR="91440" marT="0" marB="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9EFF2"/>
                    </a:solidFill>
                  </a:tcPr>
                </a:tc>
                <a:tc>
                  <a:txBody>
                    <a:bodyPr/>
                    <a:lstStyle/>
                    <a:p>
                      <a:pPr algn="r" indent="0" marL="0">
                        <a:buNone/>
                      </a:pPr>
                      <a:r>
                        <a:rPr lang="en-US" sz="1150" dirty="0">
                          <a:solidFill>
                            <a:srgbClr val="1B2B34"/>
                          </a:solidFill>
                          <a:latin typeface="Calibri" pitchFamily="34" charset="0"/>
                          <a:ea typeface="Calibri" pitchFamily="34" charset="-122"/>
                          <a:cs typeface="Calibri" pitchFamily="34" charset="-120"/>
                        </a:rPr>
                        <a:t>23.2%</a:t>
                      </a:r>
                      <a:endParaRPr lang="en-US" sz="1150" dirty="0">
                        <a:latin typeface="Calibri" charset="0"/>
                        <a:ea typeface="Calibri" charset="0"/>
                        <a:cs typeface="Calibri" charset="0"/>
                      </a:endParaRPr>
                    </a:p>
                  </a:txBody>
                  <a:tcPr marL="91440" marR="91440" marT="0" marB="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9EFF2"/>
                    </a:solidFill>
                  </a:tcPr>
                </a:tc>
              </a:tr>
              <a:tr h="292608">
                <a:tc>
                  <a:txBody>
                    <a:bodyPr/>
                    <a:lstStyle/>
                    <a:p>
                      <a:pPr algn="l" indent="0" marL="0">
                        <a:buNone/>
                      </a:pPr>
                      <a:r>
                        <a:rPr lang="en-US" sz="1150" b="1" dirty="0">
                          <a:solidFill>
                            <a:srgbClr val="0B1F2A"/>
                          </a:solidFill>
                          <a:latin typeface="Calibri" pitchFamily="34" charset="0"/>
                          <a:ea typeface="Calibri" pitchFamily="34" charset="-122"/>
                          <a:cs typeface="Calibri" pitchFamily="34" charset="-120"/>
                        </a:rPr>
                        <a:t>7 years</a:t>
                      </a:r>
                      <a:endParaRPr lang="en-US" sz="1150" dirty="0">
                        <a:latin typeface="Calibri" charset="0"/>
                        <a:ea typeface="Calibri" charset="0"/>
                        <a:cs typeface="Calibri" charset="0"/>
                      </a:endParaRPr>
                    </a:p>
                  </a:txBody>
                  <a:tcPr marL="91440" marR="91440" marT="0" marB="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B34"/>
                          </a:solidFill>
                          <a:latin typeface="Calibri" pitchFamily="34" charset="0"/>
                          <a:ea typeface="Calibri" pitchFamily="34" charset="-122"/>
                          <a:cs typeface="Calibri" pitchFamily="34" charset="-120"/>
                        </a:rPr>
                        <a:t>15.4%</a:t>
                      </a:r>
                      <a:endParaRPr lang="en-US" sz="1150" dirty="0">
                        <a:latin typeface="Calibri" charset="0"/>
                        <a:ea typeface="Calibri" charset="0"/>
                        <a:cs typeface="Calibri" charset="0"/>
                      </a:endParaRPr>
                    </a:p>
                  </a:txBody>
                  <a:tcPr marL="91440" marR="91440" marT="0" marB="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B34"/>
                          </a:solidFill>
                          <a:latin typeface="Calibri" pitchFamily="34" charset="0"/>
                          <a:ea typeface="Calibri" pitchFamily="34" charset="-122"/>
                          <a:cs typeface="Calibri" pitchFamily="34" charset="-120"/>
                        </a:rPr>
                        <a:t>12.9%</a:t>
                      </a:r>
                      <a:endParaRPr lang="en-US" sz="1150" dirty="0">
                        <a:latin typeface="Calibri" charset="0"/>
                        <a:ea typeface="Calibri" charset="0"/>
                        <a:cs typeface="Calibri" charset="0"/>
                      </a:endParaRPr>
                    </a:p>
                  </a:txBody>
                  <a:tcPr marL="91440" marR="91440" marT="0" marB="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B34"/>
                          </a:solidFill>
                          <a:latin typeface="Calibri" pitchFamily="34" charset="0"/>
                          <a:ea typeface="Calibri" pitchFamily="34" charset="-122"/>
                          <a:cs typeface="Calibri" pitchFamily="34" charset="-120"/>
                        </a:rPr>
                        <a:t>18.0%</a:t>
                      </a:r>
                      <a:endParaRPr lang="en-US" sz="1150" dirty="0">
                        <a:latin typeface="Calibri" charset="0"/>
                        <a:ea typeface="Calibri" charset="0"/>
                        <a:cs typeface="Calibri" charset="0"/>
                      </a:endParaRPr>
                    </a:p>
                  </a:txBody>
                  <a:tcPr marL="91440" marR="91440" marT="0" marB="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FFFFFF"/>
                    </a:solidFill>
                  </a:tcPr>
                </a:tc>
              </a:tr>
              <a:tr h="292608">
                <a:tc>
                  <a:txBody>
                    <a:bodyPr/>
                    <a:lstStyle/>
                    <a:p>
                      <a:pPr algn="l" indent="0" marL="0">
                        <a:buNone/>
                      </a:pPr>
                      <a:r>
                        <a:rPr lang="en-US" sz="1150" b="1" dirty="0">
                          <a:solidFill>
                            <a:srgbClr val="0B1F2A"/>
                          </a:solidFill>
                          <a:latin typeface="Calibri" pitchFamily="34" charset="0"/>
                          <a:ea typeface="Calibri" pitchFamily="34" charset="-122"/>
                          <a:cs typeface="Calibri" pitchFamily="34" charset="-120"/>
                        </a:rPr>
                        <a:t>10 years</a:t>
                      </a:r>
                      <a:endParaRPr lang="en-US" sz="1150" dirty="0">
                        <a:latin typeface="Calibri" charset="0"/>
                        <a:ea typeface="Calibri" charset="0"/>
                        <a:cs typeface="Calibri" charset="0"/>
                      </a:endParaRPr>
                    </a:p>
                  </a:txBody>
                  <a:tcPr marL="91440" marR="91440" marT="0" marB="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9EFF2"/>
                    </a:solidFill>
                  </a:tcPr>
                </a:tc>
                <a:tc>
                  <a:txBody>
                    <a:bodyPr/>
                    <a:lstStyle/>
                    <a:p>
                      <a:pPr algn="r" indent="0" marL="0">
                        <a:buNone/>
                      </a:pPr>
                      <a:r>
                        <a:rPr lang="en-US" sz="1150" dirty="0">
                          <a:solidFill>
                            <a:srgbClr val="1B2B34"/>
                          </a:solidFill>
                          <a:latin typeface="Calibri" pitchFamily="34" charset="0"/>
                          <a:ea typeface="Calibri" pitchFamily="34" charset="-122"/>
                          <a:cs typeface="Calibri" pitchFamily="34" charset="-120"/>
                        </a:rPr>
                        <a:t>15.7%</a:t>
                      </a:r>
                      <a:endParaRPr lang="en-US" sz="1150" dirty="0">
                        <a:latin typeface="Calibri" charset="0"/>
                        <a:ea typeface="Calibri" charset="0"/>
                        <a:cs typeface="Calibri" charset="0"/>
                      </a:endParaRPr>
                    </a:p>
                  </a:txBody>
                  <a:tcPr marL="91440" marR="91440" marT="0" marB="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9EFF2"/>
                    </a:solidFill>
                  </a:tcPr>
                </a:tc>
                <a:tc>
                  <a:txBody>
                    <a:bodyPr/>
                    <a:lstStyle/>
                    <a:p>
                      <a:pPr algn="r" indent="0" marL="0">
                        <a:buNone/>
                      </a:pPr>
                      <a:r>
                        <a:rPr lang="en-US" sz="1150" dirty="0">
                          <a:solidFill>
                            <a:srgbClr val="1B2B34"/>
                          </a:solidFill>
                          <a:latin typeface="Calibri" pitchFamily="34" charset="0"/>
                          <a:ea typeface="Calibri" pitchFamily="34" charset="-122"/>
                          <a:cs typeface="Calibri" pitchFamily="34" charset="-120"/>
                        </a:rPr>
                        <a:t>14.2%</a:t>
                      </a:r>
                      <a:endParaRPr lang="en-US" sz="1150" dirty="0">
                        <a:latin typeface="Calibri" charset="0"/>
                        <a:ea typeface="Calibri" charset="0"/>
                        <a:cs typeface="Calibri" charset="0"/>
                      </a:endParaRPr>
                    </a:p>
                  </a:txBody>
                  <a:tcPr marL="91440" marR="91440" marT="0" marB="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9EFF2"/>
                    </a:solidFill>
                  </a:tcPr>
                </a:tc>
                <a:tc>
                  <a:txBody>
                    <a:bodyPr/>
                    <a:lstStyle/>
                    <a:p>
                      <a:pPr algn="r" indent="0" marL="0">
                        <a:buNone/>
                      </a:pPr>
                      <a:r>
                        <a:rPr lang="en-US" sz="1150" dirty="0">
                          <a:solidFill>
                            <a:srgbClr val="1B2B34"/>
                          </a:solidFill>
                          <a:latin typeface="Calibri" pitchFamily="34" charset="0"/>
                          <a:ea typeface="Calibri" pitchFamily="34" charset="-122"/>
                          <a:cs typeface="Calibri" pitchFamily="34" charset="-120"/>
                        </a:rPr>
                        <a:t>18.4%</a:t>
                      </a:r>
                      <a:endParaRPr lang="en-US" sz="1150" dirty="0">
                        <a:latin typeface="Calibri" charset="0"/>
                        <a:ea typeface="Calibri" charset="0"/>
                        <a:cs typeface="Calibri" charset="0"/>
                      </a:endParaRPr>
                    </a:p>
                  </a:txBody>
                  <a:tcPr marL="91440" marR="91440" marT="0" marB="0" anchor="ctr">
                    <a:lnL w="6350" cap="flat" cmpd="sng" algn="ctr">
                      <a:solidFill>
                        <a:srgbClr val="D6E0E5"/>
                      </a:solidFill>
                      <a:prstDash val="solid"/>
                      <a:round/>
                      <a:headEnd type="none" w="med" len="med"/>
                      <a:tailEnd type="none" w="med" len="med"/>
                    </a:lnL>
                    <a:lnR w="6350" cap="flat" cmpd="sng" algn="ctr">
                      <a:solidFill>
                        <a:srgbClr val="D6E0E5"/>
                      </a:solidFill>
                      <a:prstDash val="solid"/>
                      <a:round/>
                      <a:headEnd type="none" w="med" len="med"/>
                      <a:tailEnd type="none" w="med" len="med"/>
                    </a:lnR>
                    <a:lnT w="6350" cap="flat" cmpd="sng" algn="ctr">
                      <a:solidFill>
                        <a:srgbClr val="D6E0E5"/>
                      </a:solidFill>
                      <a:prstDash val="solid"/>
                      <a:round/>
                      <a:headEnd type="none" w="med" len="med"/>
                      <a:tailEnd type="none" w="med" len="med"/>
                    </a:lnT>
                    <a:lnB w="6350" cap="flat" cmpd="sng" algn="ctr">
                      <a:solidFill>
                        <a:srgbClr val="D6E0E5"/>
                      </a:solidFill>
                      <a:prstDash val="solid"/>
                      <a:round/>
                      <a:headEnd type="none" w="med" len="med"/>
                      <a:tailEnd type="none" w="med" len="med"/>
                    </a:lnB>
                    <a:solidFill>
                      <a:srgbClr val="E9EFF2"/>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300" kern="0" dirty="0">
                <a:solidFill>
                  <a:srgbClr val="0E9F6E"/>
                </a:solidFill>
                <a:latin typeface="Calibri" pitchFamily="34" charset="0"/>
                <a:ea typeface="Calibri" pitchFamily="34" charset="-122"/>
                <a:cs typeface="Calibri" pitchFamily="34" charset="-120"/>
              </a:rPr>
              <a:t>13  ·  RESULTS</a:t>
            </a:r>
            <a:endParaRPr lang="en-US" sz="1200" dirty="0"/>
          </a:p>
        </p:txBody>
      </p:sp>
      <p:sp>
        <p:nvSpPr>
          <p:cNvPr id="3" name="Text 1"/>
          <p:cNvSpPr txBox="1"/>
          <p:nvPr/>
        </p:nvSpPr>
        <p:spPr>
          <a:xfrm>
            <a:off x="548640" y="676656"/>
            <a:ext cx="11064240" cy="685800"/>
          </a:xfrm>
          <a:prstGeom prst="rect">
            <a:avLst/>
          </a:prstGeom>
          <a:noFill/>
          <a:ln/>
        </p:spPr>
        <p:txBody>
          <a:bodyPr wrap="square" lIns="0" tIns="0" rIns="0" bIns="0" rtlCol="0" anchor="ctr"/>
          <a:lstStyle/>
          <a:p>
            <a:pPr indent="0" marL="0">
              <a:buNone/>
            </a:pPr>
            <a:r>
              <a:rPr lang="en-US" sz="3000" b="1" dirty="0">
                <a:solidFill>
                  <a:srgbClr val="0B1F2A"/>
                </a:solidFill>
                <a:latin typeface="Arial" pitchFamily="34" charset="0"/>
                <a:ea typeface="Arial" pitchFamily="34" charset="-122"/>
                <a:cs typeface="Arial" pitchFamily="34" charset="-120"/>
              </a:rPr>
              <a:t>Results: Nifty 50 stocks and company debt</a:t>
            </a:r>
            <a:endParaRPr lang="en-US" sz="3000" dirty="0"/>
          </a:p>
        </p:txBody>
      </p:sp>
      <p:sp>
        <p:nvSpPr>
          <p:cNvPr id="4" name="Text 2"/>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B75"/>
                </a:solidFill>
                <a:latin typeface="Calibri" pitchFamily="34" charset="0"/>
                <a:ea typeface="Calibri" pitchFamily="34" charset="-122"/>
                <a:cs typeface="Calibri" pitchFamily="34" charset="-120"/>
              </a:rPr>
              <a:t>Big Data Architecture  |  Stock Market &amp; Mutual Fund Risk Analytics</a:t>
            </a:r>
            <a:endParaRPr lang="en-US" sz="900" dirty="0"/>
          </a:p>
        </p:txBody>
      </p:sp>
      <p:sp>
        <p:nvSpPr>
          <p:cNvPr id="5" name="Text 3"/>
          <p:cNvSpPr txBox="1"/>
          <p:nvPr/>
        </p:nvSpPr>
        <p:spPr>
          <a:xfrm>
            <a:off x="11183112" y="6473952"/>
            <a:ext cx="457200" cy="228600"/>
          </a:xfrm>
          <a:prstGeom prst="rect">
            <a:avLst/>
          </a:prstGeom>
          <a:noFill/>
          <a:ln/>
        </p:spPr>
        <p:txBody>
          <a:bodyPr wrap="square" lIns="0" tIns="0" rIns="0" bIns="0" rtlCol="0" anchor="t"/>
          <a:lstStyle/>
          <a:p>
            <a:pPr algn="r" indent="0" marL="0">
              <a:buNone/>
            </a:pPr>
            <a:r>
              <a:rPr lang="en-US" sz="900" dirty="0">
                <a:solidFill>
                  <a:srgbClr val="5B6B75"/>
                </a:solidFill>
                <a:latin typeface="Calibri" pitchFamily="34" charset="0"/>
                <a:ea typeface="Calibri" pitchFamily="34" charset="-122"/>
                <a:cs typeface="Calibri" pitchFamily="34" charset="-120"/>
              </a:rPr>
              <a:t>14</a:t>
            </a:r>
            <a:endParaRPr lang="en-US" sz="900" dirty="0"/>
          </a:p>
        </p:txBody>
      </p:sp>
      <p:sp>
        <p:nvSpPr>
          <p:cNvPr id="6" name="Shape 4"/>
          <p:cNvSpPr/>
          <p:nvPr/>
        </p:nvSpPr>
        <p:spPr>
          <a:xfrm>
            <a:off x="548640" y="1645920"/>
            <a:ext cx="5394960" cy="4526280"/>
          </a:xfrm>
          <a:prstGeom prst="roundRect">
            <a:avLst>
              <a:gd name="adj" fmla="val 2424"/>
            </a:avLst>
          </a:prstGeom>
          <a:solidFill>
            <a:srgbClr val="F2F6F8"/>
          </a:solidFill>
          <a:ln w="12700">
            <a:solidFill>
              <a:srgbClr val="F2F6F8"/>
            </a:solidFill>
            <a:prstDash val="solid"/>
          </a:ln>
        </p:spPr>
      </p:sp>
      <p:graphicFrame>
        <p:nvGraphicFramePr>
          <p:cNvPr id="7" name="Chart 0" descr=""/>
          <p:cNvGraphicFramePr/>
          <p:nvPr/>
        </p:nvGraphicFramePr>
        <p:xfrm>
          <a:off x="685800" y="1737360"/>
          <a:ext cx="5120640" cy="246888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822960" y="4343400"/>
            <a:ext cx="4937760" cy="256032"/>
          </a:xfrm>
          <a:prstGeom prst="rect">
            <a:avLst/>
          </a:prstGeom>
          <a:noFill/>
          <a:ln/>
        </p:spPr>
        <p:txBody>
          <a:bodyPr wrap="square" lIns="0" tIns="0" rIns="0" bIns="0" rtlCol="0" anchor="t"/>
          <a:lstStyle/>
          <a:p>
            <a:pPr indent="0" marL="0">
              <a:buNone/>
            </a:pPr>
            <a:r>
              <a:rPr lang="en-US" sz="1050" b="1" spc="200" kern="0" dirty="0">
                <a:solidFill>
                  <a:srgbClr val="5B6B75"/>
                </a:solidFill>
                <a:latin typeface="Calibri" pitchFamily="34" charset="0"/>
                <a:ea typeface="Calibri" pitchFamily="34" charset="-122"/>
                <a:cs typeface="Calibri" pitchFamily="34" charset="-120"/>
              </a:rPr>
              <a:t>DEBT-TO-EQUITY OF THE 38 NON-FINANCIAL COMPANIES</a:t>
            </a:r>
            <a:endParaRPr lang="en-US" sz="1050" dirty="0"/>
          </a:p>
        </p:txBody>
      </p:sp>
      <p:sp>
        <p:nvSpPr>
          <p:cNvPr id="9" name="Text 6"/>
          <p:cNvSpPr txBox="1"/>
          <p:nvPr/>
        </p:nvSpPr>
        <p:spPr>
          <a:xfrm>
            <a:off x="822960" y="4617720"/>
            <a:ext cx="1645920" cy="548640"/>
          </a:xfrm>
          <a:prstGeom prst="rect">
            <a:avLst/>
          </a:prstGeom>
          <a:noFill/>
          <a:ln/>
        </p:spPr>
        <p:txBody>
          <a:bodyPr wrap="square" lIns="0" tIns="0" rIns="0" bIns="0" rtlCol="0" anchor="b"/>
          <a:lstStyle/>
          <a:p>
            <a:pPr indent="0" marL="0">
              <a:buNone/>
            </a:pPr>
            <a:r>
              <a:rPr lang="en-US" sz="3000" b="1" dirty="0">
                <a:solidFill>
                  <a:srgbClr val="0E9F6E"/>
                </a:solidFill>
                <a:latin typeface="Arial" pitchFamily="34" charset="0"/>
                <a:ea typeface="Arial" pitchFamily="34" charset="-122"/>
                <a:cs typeface="Arial" pitchFamily="34" charset="-120"/>
              </a:rPr>
              <a:t>22</a:t>
            </a:r>
            <a:pPr indent="0" marL="0">
              <a:buNone/>
            </a:pPr>
            <a:r>
              <a:rPr lang="en-US" sz="1400" b="1" dirty="0">
                <a:solidFill>
                  <a:srgbClr val="0B1F2A"/>
                </a:solidFill>
                <a:latin typeface="Calibri" pitchFamily="34" charset="0"/>
                <a:ea typeface="Calibri" pitchFamily="34" charset="-122"/>
                <a:cs typeface="Calibri" pitchFamily="34" charset="-120"/>
              </a:rPr>
              <a:t>  Low</a:t>
            </a:r>
            <a:endParaRPr lang="en-US" sz="3000" dirty="0"/>
          </a:p>
        </p:txBody>
      </p:sp>
      <p:sp>
        <p:nvSpPr>
          <p:cNvPr id="10" name="Text 7"/>
          <p:cNvSpPr txBox="1"/>
          <p:nvPr/>
        </p:nvSpPr>
        <p:spPr>
          <a:xfrm>
            <a:off x="822960" y="5193792"/>
            <a:ext cx="1645920" cy="256032"/>
          </a:xfrm>
          <a:prstGeom prst="rect">
            <a:avLst/>
          </a:prstGeom>
          <a:noFill/>
          <a:ln/>
        </p:spPr>
        <p:txBody>
          <a:bodyPr wrap="square" lIns="0" tIns="0" rIns="0" bIns="0" rtlCol="0" anchor="t"/>
          <a:lstStyle/>
          <a:p>
            <a:pPr indent="0" marL="0">
              <a:buNone/>
            </a:pPr>
            <a:r>
              <a:rPr lang="en-US" sz="1150" dirty="0">
                <a:solidFill>
                  <a:srgbClr val="5B6B75"/>
                </a:solidFill>
                <a:latin typeface="Calibri" pitchFamily="34" charset="0"/>
                <a:ea typeface="Calibri" pitchFamily="34" charset="-122"/>
                <a:cs typeface="Calibri" pitchFamily="34" charset="-120"/>
              </a:rPr>
              <a:t>up to 0.5</a:t>
            </a:r>
            <a:endParaRPr lang="en-US" sz="1150" dirty="0"/>
          </a:p>
        </p:txBody>
      </p:sp>
      <p:sp>
        <p:nvSpPr>
          <p:cNvPr id="11" name="Text 8"/>
          <p:cNvSpPr txBox="1"/>
          <p:nvPr/>
        </p:nvSpPr>
        <p:spPr>
          <a:xfrm>
            <a:off x="2514600" y="4617720"/>
            <a:ext cx="1645920" cy="548640"/>
          </a:xfrm>
          <a:prstGeom prst="rect">
            <a:avLst/>
          </a:prstGeom>
          <a:noFill/>
          <a:ln/>
        </p:spPr>
        <p:txBody>
          <a:bodyPr wrap="square" lIns="0" tIns="0" rIns="0" bIns="0" rtlCol="0" anchor="b"/>
          <a:lstStyle/>
          <a:p>
            <a:pPr indent="0" marL="0">
              <a:buNone/>
            </a:pPr>
            <a:r>
              <a:rPr lang="en-US" sz="3000" b="1" dirty="0">
                <a:solidFill>
                  <a:srgbClr val="B7791F"/>
                </a:solidFill>
                <a:latin typeface="Arial" pitchFamily="34" charset="0"/>
                <a:ea typeface="Arial" pitchFamily="34" charset="-122"/>
                <a:cs typeface="Arial" pitchFamily="34" charset="-120"/>
              </a:rPr>
              <a:t>6</a:t>
            </a:r>
            <a:pPr indent="0" marL="0">
              <a:buNone/>
            </a:pPr>
            <a:r>
              <a:rPr lang="en-US" sz="1400" b="1" dirty="0">
                <a:solidFill>
                  <a:srgbClr val="0B1F2A"/>
                </a:solidFill>
                <a:latin typeface="Calibri" pitchFamily="34" charset="0"/>
                <a:ea typeface="Calibri" pitchFamily="34" charset="-122"/>
                <a:cs typeface="Calibri" pitchFamily="34" charset="-120"/>
              </a:rPr>
              <a:t>  Moderate</a:t>
            </a:r>
            <a:endParaRPr lang="en-US" sz="3000" dirty="0"/>
          </a:p>
        </p:txBody>
      </p:sp>
      <p:sp>
        <p:nvSpPr>
          <p:cNvPr id="12" name="Text 9"/>
          <p:cNvSpPr txBox="1"/>
          <p:nvPr/>
        </p:nvSpPr>
        <p:spPr>
          <a:xfrm>
            <a:off x="2514600" y="5193792"/>
            <a:ext cx="1645920" cy="256032"/>
          </a:xfrm>
          <a:prstGeom prst="rect">
            <a:avLst/>
          </a:prstGeom>
          <a:noFill/>
          <a:ln/>
        </p:spPr>
        <p:txBody>
          <a:bodyPr wrap="square" lIns="0" tIns="0" rIns="0" bIns="0" rtlCol="0" anchor="t"/>
          <a:lstStyle/>
          <a:p>
            <a:pPr indent="0" marL="0">
              <a:buNone/>
            </a:pPr>
            <a:r>
              <a:rPr lang="en-US" sz="1150" dirty="0">
                <a:solidFill>
                  <a:srgbClr val="5B6B75"/>
                </a:solidFill>
                <a:latin typeface="Calibri" pitchFamily="34" charset="0"/>
                <a:ea typeface="Calibri" pitchFamily="34" charset="-122"/>
                <a:cs typeface="Calibri" pitchFamily="34" charset="-120"/>
              </a:rPr>
              <a:t>from 0.5 to 1</a:t>
            </a:r>
            <a:endParaRPr lang="en-US" sz="1150" dirty="0"/>
          </a:p>
        </p:txBody>
      </p:sp>
      <p:sp>
        <p:nvSpPr>
          <p:cNvPr id="13" name="Text 10"/>
          <p:cNvSpPr txBox="1"/>
          <p:nvPr/>
        </p:nvSpPr>
        <p:spPr>
          <a:xfrm>
            <a:off x="4206240" y="4617720"/>
            <a:ext cx="1645920" cy="548640"/>
          </a:xfrm>
          <a:prstGeom prst="rect">
            <a:avLst/>
          </a:prstGeom>
          <a:noFill/>
          <a:ln/>
        </p:spPr>
        <p:txBody>
          <a:bodyPr wrap="square" lIns="0" tIns="0" rIns="0" bIns="0" rtlCol="0" anchor="b"/>
          <a:lstStyle/>
          <a:p>
            <a:pPr indent="0" marL="0">
              <a:buNone/>
            </a:pPr>
            <a:r>
              <a:rPr lang="en-US" sz="3000" b="1" dirty="0">
                <a:solidFill>
                  <a:srgbClr val="E5484D"/>
                </a:solidFill>
                <a:latin typeface="Arial" pitchFamily="34" charset="0"/>
                <a:ea typeface="Arial" pitchFamily="34" charset="-122"/>
                <a:cs typeface="Arial" pitchFamily="34" charset="-120"/>
              </a:rPr>
              <a:t>10</a:t>
            </a:r>
            <a:pPr indent="0" marL="0">
              <a:buNone/>
            </a:pPr>
            <a:r>
              <a:rPr lang="en-US" sz="1400" b="1" dirty="0">
                <a:solidFill>
                  <a:srgbClr val="0B1F2A"/>
                </a:solidFill>
                <a:latin typeface="Calibri" pitchFamily="34" charset="0"/>
                <a:ea typeface="Calibri" pitchFamily="34" charset="-122"/>
                <a:cs typeface="Calibri" pitchFamily="34" charset="-120"/>
              </a:rPr>
              <a:t>  High</a:t>
            </a:r>
            <a:endParaRPr lang="en-US" sz="3000" dirty="0"/>
          </a:p>
        </p:txBody>
      </p:sp>
      <p:sp>
        <p:nvSpPr>
          <p:cNvPr id="14" name="Text 11"/>
          <p:cNvSpPr txBox="1"/>
          <p:nvPr/>
        </p:nvSpPr>
        <p:spPr>
          <a:xfrm>
            <a:off x="4206240" y="5193792"/>
            <a:ext cx="1645920" cy="256032"/>
          </a:xfrm>
          <a:prstGeom prst="rect">
            <a:avLst/>
          </a:prstGeom>
          <a:noFill/>
          <a:ln/>
        </p:spPr>
        <p:txBody>
          <a:bodyPr wrap="square" lIns="0" tIns="0" rIns="0" bIns="0" rtlCol="0" anchor="t"/>
          <a:lstStyle/>
          <a:p>
            <a:pPr indent="0" marL="0">
              <a:buNone/>
            </a:pPr>
            <a:r>
              <a:rPr lang="en-US" sz="1150" dirty="0">
                <a:solidFill>
                  <a:srgbClr val="5B6B75"/>
                </a:solidFill>
                <a:latin typeface="Calibri" pitchFamily="34" charset="0"/>
                <a:ea typeface="Calibri" pitchFamily="34" charset="-122"/>
                <a:cs typeface="Calibri" pitchFamily="34" charset="-120"/>
              </a:rPr>
              <a:t>above 1</a:t>
            </a:r>
            <a:endParaRPr lang="en-US" sz="1150" dirty="0"/>
          </a:p>
        </p:txBody>
      </p:sp>
      <p:sp>
        <p:nvSpPr>
          <p:cNvPr id="15" name="Text 12"/>
          <p:cNvSpPr txBox="1"/>
          <p:nvPr/>
        </p:nvSpPr>
        <p:spPr>
          <a:xfrm>
            <a:off x="822960" y="5532120"/>
            <a:ext cx="4937760" cy="548640"/>
          </a:xfrm>
          <a:prstGeom prst="rect">
            <a:avLst/>
          </a:prstGeom>
          <a:noFill/>
          <a:ln/>
        </p:spPr>
        <p:txBody>
          <a:bodyPr wrap="square" lIns="0" tIns="0" rIns="0" bIns="0" rtlCol="0" anchor="ctr"/>
          <a:lstStyle/>
          <a:p>
            <a:pPr indent="0" marL="0">
              <a:buNone/>
            </a:pPr>
            <a:r>
              <a:rPr lang="en-US" sz="1150" i="1" dirty="0">
                <a:solidFill>
                  <a:srgbClr val="1F6F8B"/>
                </a:solidFill>
                <a:latin typeface="Calibri" pitchFamily="34" charset="0"/>
                <a:ea typeface="Calibri" pitchFamily="34" charset="-122"/>
                <a:cs typeface="Calibri" pitchFamily="34" charset="-120"/>
              </a:rPr>
              <a:t>The 12 financial-services companies are shown but not judged: for banks and lenders, borrowing is the business.</a:t>
            </a:r>
            <a:endParaRPr lang="en-US" sz="1150" dirty="0"/>
          </a:p>
        </p:txBody>
      </p:sp>
      <p:sp>
        <p:nvSpPr>
          <p:cNvPr id="16" name="Text 13"/>
          <p:cNvSpPr txBox="1"/>
          <p:nvPr/>
        </p:nvSpPr>
        <p:spPr>
          <a:xfrm>
            <a:off x="6217920" y="1691640"/>
            <a:ext cx="2560320" cy="594360"/>
          </a:xfrm>
          <a:prstGeom prst="rect">
            <a:avLst/>
          </a:prstGeom>
          <a:noFill/>
          <a:ln/>
        </p:spPr>
        <p:txBody>
          <a:bodyPr wrap="square" lIns="0" tIns="0" rIns="0" bIns="0" rtlCol="0" anchor="t"/>
          <a:lstStyle/>
          <a:p>
            <a:pPr indent="0" marL="0">
              <a:buNone/>
            </a:pPr>
            <a:r>
              <a:rPr lang="en-US" sz="3000" b="1" dirty="0">
                <a:solidFill>
                  <a:srgbClr val="0E9F6E"/>
                </a:solidFill>
                <a:latin typeface="Arial" pitchFamily="34" charset="0"/>
                <a:ea typeface="Arial" pitchFamily="34" charset="-122"/>
                <a:cs typeface="Arial" pitchFamily="34" charset="-120"/>
              </a:rPr>
              <a:t>₹2.60 lakh</a:t>
            </a:r>
            <a:endParaRPr lang="en-US" sz="3000" dirty="0"/>
          </a:p>
        </p:txBody>
      </p:sp>
      <p:sp>
        <p:nvSpPr>
          <p:cNvPr id="17" name="Text 14"/>
          <p:cNvSpPr txBox="1"/>
          <p:nvPr/>
        </p:nvSpPr>
        <p:spPr>
          <a:xfrm>
            <a:off x="6217920" y="2286000"/>
            <a:ext cx="2514600" cy="685800"/>
          </a:xfrm>
          <a:prstGeom prst="rect">
            <a:avLst/>
          </a:prstGeom>
          <a:noFill/>
          <a:ln/>
        </p:spPr>
        <p:txBody>
          <a:bodyPr wrap="square" lIns="0" tIns="0" rIns="0" bIns="0" rtlCol="0" anchor="t"/>
          <a:lstStyle/>
          <a:p>
            <a:pPr indent="0" marL="0">
              <a:buNone/>
            </a:pPr>
            <a:r>
              <a:rPr lang="en-US" sz="1200" dirty="0">
                <a:solidFill>
                  <a:srgbClr val="5B6B75"/>
                </a:solidFill>
                <a:latin typeface="Calibri" pitchFamily="34" charset="0"/>
                <a:ea typeface="Calibri" pitchFamily="34" charset="-122"/>
                <a:cs typeface="Calibri" pitchFamily="34" charset="-120"/>
              </a:rPr>
              <a:t>what ₹1 lakh became in the Nifty 50 index in 10 years (10.0% a year, before dividends)</a:t>
            </a:r>
            <a:endParaRPr lang="en-US" sz="1200" dirty="0"/>
          </a:p>
        </p:txBody>
      </p:sp>
      <p:sp>
        <p:nvSpPr>
          <p:cNvPr id="18" name="Text 15"/>
          <p:cNvSpPr txBox="1"/>
          <p:nvPr/>
        </p:nvSpPr>
        <p:spPr>
          <a:xfrm>
            <a:off x="9006840" y="1691640"/>
            <a:ext cx="2560320" cy="594360"/>
          </a:xfrm>
          <a:prstGeom prst="rect">
            <a:avLst/>
          </a:prstGeom>
          <a:noFill/>
          <a:ln/>
        </p:spPr>
        <p:txBody>
          <a:bodyPr wrap="square" lIns="0" tIns="0" rIns="0" bIns="0" rtlCol="0" anchor="t"/>
          <a:lstStyle/>
          <a:p>
            <a:pPr indent="0" marL="0">
              <a:buNone/>
            </a:pPr>
            <a:r>
              <a:rPr lang="en-US" sz="3000" b="1" dirty="0">
                <a:solidFill>
                  <a:srgbClr val="1F6F8B"/>
                </a:solidFill>
                <a:latin typeface="Arial" pitchFamily="34" charset="0"/>
                <a:ea typeface="Arial" pitchFamily="34" charset="-122"/>
                <a:cs typeface="Arial" pitchFamily="34" charset="-120"/>
              </a:rPr>
              <a:t>₹2.58 lakh</a:t>
            </a:r>
            <a:endParaRPr lang="en-US" sz="3000" dirty="0"/>
          </a:p>
        </p:txBody>
      </p:sp>
      <p:sp>
        <p:nvSpPr>
          <p:cNvPr id="19" name="Text 16"/>
          <p:cNvSpPr txBox="1"/>
          <p:nvPr/>
        </p:nvSpPr>
        <p:spPr>
          <a:xfrm>
            <a:off x="9006840" y="2286000"/>
            <a:ext cx="2514600" cy="685800"/>
          </a:xfrm>
          <a:prstGeom prst="rect">
            <a:avLst/>
          </a:prstGeom>
          <a:noFill/>
          <a:ln/>
        </p:spPr>
        <p:txBody>
          <a:bodyPr wrap="square" lIns="0" tIns="0" rIns="0" bIns="0" rtlCol="0" anchor="t"/>
          <a:lstStyle/>
          <a:p>
            <a:pPr indent="0" marL="0">
              <a:buNone/>
            </a:pPr>
            <a:r>
              <a:rPr lang="en-US" sz="1200" dirty="0">
                <a:solidFill>
                  <a:srgbClr val="5B6B75"/>
                </a:solidFill>
                <a:latin typeface="Calibri" pitchFamily="34" charset="0"/>
                <a:ea typeface="Calibri" pitchFamily="34" charset="-122"/>
                <a:cs typeface="Calibri" pitchFamily="34" charset="-120"/>
              </a:rPr>
              <a:t>the same amount in the Sensex over the same 10 years (9.9% a year)</a:t>
            </a:r>
            <a:endParaRPr lang="en-US" sz="1200" dirty="0"/>
          </a:p>
        </p:txBody>
      </p:sp>
      <p:sp>
        <p:nvSpPr>
          <p:cNvPr id="20" name="Text 17"/>
          <p:cNvSpPr txBox="1"/>
          <p:nvPr/>
        </p:nvSpPr>
        <p:spPr>
          <a:xfrm>
            <a:off x="6217920" y="3200400"/>
            <a:ext cx="5394960" cy="256032"/>
          </a:xfrm>
          <a:prstGeom prst="rect">
            <a:avLst/>
          </a:prstGeom>
          <a:noFill/>
          <a:ln/>
        </p:spPr>
        <p:txBody>
          <a:bodyPr wrap="square" lIns="0" tIns="0" rIns="0" bIns="0" rtlCol="0" anchor="t"/>
          <a:lstStyle/>
          <a:p>
            <a:pPr indent="0" marL="0">
              <a:buNone/>
            </a:pPr>
            <a:r>
              <a:rPr lang="en-US" sz="1050" b="1" spc="200" kern="0" dirty="0">
                <a:solidFill>
                  <a:srgbClr val="5B6B75"/>
                </a:solidFill>
                <a:latin typeface="Calibri" pitchFamily="34" charset="0"/>
                <a:ea typeface="Calibri" pitchFamily="34" charset="-122"/>
                <a:cs typeface="Calibri" pitchFamily="34" charset="-120"/>
              </a:rPr>
              <a:t>HIGHEST DEBT-TO-EQUITY, NON-FINANCIAL COMPANIES</a:t>
            </a:r>
            <a:endParaRPr lang="en-US" sz="10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217920" y="3520440"/>
          <a:ext cx="5422392" cy="914400"/>
        </p:xfrm>
        <a:graphic>
          <a:graphicData uri="http://schemas.openxmlformats.org/drawingml/2006/table">
            <a:tbl>
              <a:tblPr/>
              <a:tblGrid>
                <a:gridCol w="2697480"/>
                <a:gridCol w="1362456"/>
                <a:gridCol w="1362456"/>
              </a:tblGrid>
              <a:tr h="347472">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Company</a:t>
                      </a:r>
                      <a:endParaRPr lang="en-US" sz="1250" dirty="0">
                        <a:latin typeface="Calibri" charset="0"/>
                        <a:ea typeface="Calibri" charset="0"/>
                        <a:cs typeface="Calibri" charset="0"/>
                      </a:endParaRPr>
                    </a:p>
                  </a:txBody>
                  <a:tcPr marL="91440" marR="91440"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0B1F2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Debt-to-equity</a:t>
                      </a:r>
                      <a:endParaRPr lang="en-US" sz="1250" dirty="0">
                        <a:latin typeface="Calibri" charset="0"/>
                        <a:ea typeface="Calibri" charset="0"/>
                        <a:cs typeface="Calibri" charset="0"/>
                      </a:endParaRPr>
                    </a:p>
                  </a:txBody>
                  <a:tcPr marL="91440" marR="91440"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0B1F2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Interest cover</a:t>
                      </a:r>
                      <a:endParaRPr lang="en-US" sz="1250" dirty="0">
                        <a:latin typeface="Calibri" charset="0"/>
                        <a:ea typeface="Calibri" charset="0"/>
                        <a:cs typeface="Calibri" charset="0"/>
                      </a:endParaRPr>
                    </a:p>
                  </a:txBody>
                  <a:tcPr marL="91440" marR="91440"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0B1F2A"/>
                    </a:solidFill>
                  </a:tcPr>
                </a:tc>
              </a:tr>
              <a:tr h="347472">
                <a:tc>
                  <a:txBody>
                    <a:bodyPr/>
                    <a:lstStyle/>
                    <a:p>
                      <a:pPr algn="l" indent="0" marL="0">
                        <a:buNone/>
                      </a:pPr>
                      <a:r>
                        <a:rPr lang="en-US" sz="1250" b="1" dirty="0">
                          <a:solidFill>
                            <a:srgbClr val="0B1F2A"/>
                          </a:solidFill>
                          <a:latin typeface="Calibri" pitchFamily="34" charset="0"/>
                          <a:ea typeface="Calibri" pitchFamily="34" charset="-122"/>
                          <a:cs typeface="Calibri" pitchFamily="34" charset="-120"/>
                        </a:rPr>
                        <a:t>InterGlobe Aviation (IndiGo)</a:t>
                      </a:r>
                      <a:endParaRPr lang="en-US" sz="1250" dirty="0">
                        <a:latin typeface="Calibri" charset="0"/>
                        <a:ea typeface="Calibri" charset="0"/>
                        <a:cs typeface="Calibri" charset="0"/>
                      </a:endParaRPr>
                    </a:p>
                  </a:txBody>
                  <a:tcPr marL="91440" marR="91440"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2F6F8"/>
                    </a:solidFill>
                  </a:tcPr>
                </a:tc>
                <a:tc>
                  <a:txBody>
                    <a:bodyPr/>
                    <a:lstStyle/>
                    <a:p>
                      <a:pPr algn="r" indent="0" marL="0">
                        <a:buNone/>
                      </a:pPr>
                      <a:r>
                        <a:rPr lang="en-US" sz="1250" dirty="0">
                          <a:solidFill>
                            <a:srgbClr val="1B2B34"/>
                          </a:solidFill>
                          <a:latin typeface="Calibri" pitchFamily="34" charset="0"/>
                          <a:ea typeface="Calibri" pitchFamily="34" charset="-122"/>
                          <a:cs typeface="Calibri" pitchFamily="34" charset="-120"/>
                        </a:rPr>
                        <a:t>11.15</a:t>
                      </a:r>
                      <a:endParaRPr lang="en-US" sz="1250" dirty="0">
                        <a:latin typeface="Calibri" charset="0"/>
                        <a:ea typeface="Calibri" charset="0"/>
                        <a:cs typeface="Calibri" charset="0"/>
                      </a:endParaRPr>
                    </a:p>
                  </a:txBody>
                  <a:tcPr marL="91440" marR="91440"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2F6F8"/>
                    </a:solidFill>
                  </a:tcPr>
                </a:tc>
                <a:tc>
                  <a:txBody>
                    <a:bodyPr/>
                    <a:lstStyle/>
                    <a:p>
                      <a:pPr algn="r" indent="0" marL="0">
                        <a:buNone/>
                      </a:pPr>
                      <a:r>
                        <a:rPr lang="en-US" sz="1250" b="1" dirty="0">
                          <a:solidFill>
                            <a:srgbClr val="E5484D"/>
                          </a:solidFill>
                          <a:latin typeface="Calibri" pitchFamily="34" charset="0"/>
                          <a:ea typeface="Calibri" pitchFamily="34" charset="-122"/>
                          <a:cs typeface="Calibri" pitchFamily="34" charset="-120"/>
                        </a:rPr>
                        <a:t>0.7 times</a:t>
                      </a:r>
                      <a:endParaRPr lang="en-US" sz="1250" dirty="0">
                        <a:latin typeface="Calibri" charset="0"/>
                        <a:ea typeface="Calibri" charset="0"/>
                        <a:cs typeface="Calibri" charset="0"/>
                      </a:endParaRPr>
                    </a:p>
                  </a:txBody>
                  <a:tcPr marL="91440" marR="91440"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2F6F8"/>
                    </a:solidFill>
                  </a:tcPr>
                </a:tc>
              </a:tr>
              <a:tr h="347472">
                <a:tc>
                  <a:txBody>
                    <a:bodyPr/>
                    <a:lstStyle/>
                    <a:p>
                      <a:pPr algn="l" indent="0" marL="0">
                        <a:buNone/>
                      </a:pPr>
                      <a:r>
                        <a:rPr lang="en-US" sz="1250" b="1" dirty="0">
                          <a:solidFill>
                            <a:srgbClr val="0B1F2A"/>
                          </a:solidFill>
                          <a:latin typeface="Calibri" pitchFamily="34" charset="0"/>
                          <a:ea typeface="Calibri" pitchFamily="34" charset="-122"/>
                          <a:cs typeface="Calibri" pitchFamily="34" charset="-120"/>
                        </a:rPr>
                        <a:t>Grasim Industries</a:t>
                      </a:r>
                      <a:endParaRPr lang="en-US" sz="1250" dirty="0">
                        <a:latin typeface="Calibri" charset="0"/>
                        <a:ea typeface="Calibri" charset="0"/>
                        <a:cs typeface="Calibri" charset="0"/>
                      </a:endParaRPr>
                    </a:p>
                  </a:txBody>
                  <a:tcPr marL="91440" marR="91440"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B2B34"/>
                          </a:solidFill>
                          <a:latin typeface="Calibri" pitchFamily="34" charset="0"/>
                          <a:ea typeface="Calibri" pitchFamily="34" charset="-122"/>
                          <a:cs typeface="Calibri" pitchFamily="34" charset="-120"/>
                        </a:rPr>
                        <a:t>2.20</a:t>
                      </a:r>
                      <a:endParaRPr lang="en-US" sz="1250" dirty="0">
                        <a:latin typeface="Calibri" charset="0"/>
                        <a:ea typeface="Calibri" charset="0"/>
                        <a:cs typeface="Calibri" charset="0"/>
                      </a:endParaRPr>
                    </a:p>
                  </a:txBody>
                  <a:tcPr marL="91440" marR="91440"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B2B34"/>
                          </a:solidFill>
                          <a:latin typeface="Calibri" pitchFamily="34" charset="0"/>
                          <a:ea typeface="Calibri" pitchFamily="34" charset="-122"/>
                          <a:cs typeface="Calibri" pitchFamily="34" charset="-120"/>
                        </a:rPr>
                        <a:t>5.2 times</a:t>
                      </a:r>
                      <a:endParaRPr lang="en-US" sz="1250" dirty="0">
                        <a:latin typeface="Calibri" charset="0"/>
                        <a:ea typeface="Calibri" charset="0"/>
                        <a:cs typeface="Calibri" charset="0"/>
                      </a:endParaRPr>
                    </a:p>
                  </a:txBody>
                  <a:tcPr marL="91440" marR="91440"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FFFFF"/>
                    </a:solidFill>
                  </a:tcPr>
                </a:tc>
              </a:tr>
              <a:tr h="347472">
                <a:tc>
                  <a:txBody>
                    <a:bodyPr/>
                    <a:lstStyle/>
                    <a:p>
                      <a:pPr algn="l" indent="0" marL="0">
                        <a:buNone/>
                      </a:pPr>
                      <a:r>
                        <a:rPr lang="en-US" sz="1250" b="1" dirty="0">
                          <a:solidFill>
                            <a:srgbClr val="0B1F2A"/>
                          </a:solidFill>
                          <a:latin typeface="Calibri" pitchFamily="34" charset="0"/>
                          <a:ea typeface="Calibri" pitchFamily="34" charset="-122"/>
                          <a:cs typeface="Calibri" pitchFamily="34" charset="-120"/>
                        </a:rPr>
                        <a:t>Titan Company</a:t>
                      </a:r>
                      <a:endParaRPr lang="en-US" sz="1250" dirty="0">
                        <a:latin typeface="Calibri" charset="0"/>
                        <a:ea typeface="Calibri" charset="0"/>
                        <a:cs typeface="Calibri" charset="0"/>
                      </a:endParaRPr>
                    </a:p>
                  </a:txBody>
                  <a:tcPr marL="91440" marR="91440"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2F6F8"/>
                    </a:solidFill>
                  </a:tcPr>
                </a:tc>
                <a:tc>
                  <a:txBody>
                    <a:bodyPr/>
                    <a:lstStyle/>
                    <a:p>
                      <a:pPr algn="r" indent="0" marL="0">
                        <a:buNone/>
                      </a:pPr>
                      <a:r>
                        <a:rPr lang="en-US" sz="1250" dirty="0">
                          <a:solidFill>
                            <a:srgbClr val="1B2B34"/>
                          </a:solidFill>
                          <a:latin typeface="Calibri" pitchFamily="34" charset="0"/>
                          <a:ea typeface="Calibri" pitchFamily="34" charset="-122"/>
                          <a:cs typeface="Calibri" pitchFamily="34" charset="-120"/>
                        </a:rPr>
                        <a:t>1.95</a:t>
                      </a:r>
                      <a:endParaRPr lang="en-US" sz="1250" dirty="0">
                        <a:latin typeface="Calibri" charset="0"/>
                        <a:ea typeface="Calibri" charset="0"/>
                        <a:cs typeface="Calibri" charset="0"/>
                      </a:endParaRPr>
                    </a:p>
                  </a:txBody>
                  <a:tcPr marL="91440" marR="91440"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2F6F8"/>
                    </a:solidFill>
                  </a:tcPr>
                </a:tc>
                <a:tc>
                  <a:txBody>
                    <a:bodyPr/>
                    <a:lstStyle/>
                    <a:p>
                      <a:pPr algn="r" indent="0" marL="0">
                        <a:buNone/>
                      </a:pPr>
                      <a:r>
                        <a:rPr lang="en-US" sz="1250" dirty="0">
                          <a:solidFill>
                            <a:srgbClr val="1B2B34"/>
                          </a:solidFill>
                          <a:latin typeface="Calibri" pitchFamily="34" charset="0"/>
                          <a:ea typeface="Calibri" pitchFamily="34" charset="-122"/>
                          <a:cs typeface="Calibri" pitchFamily="34" charset="-120"/>
                        </a:rPr>
                        <a:t>6.8 times</a:t>
                      </a:r>
                      <a:endParaRPr lang="en-US" sz="1250" dirty="0">
                        <a:latin typeface="Calibri" charset="0"/>
                        <a:ea typeface="Calibri" charset="0"/>
                        <a:cs typeface="Calibri" charset="0"/>
                      </a:endParaRPr>
                    </a:p>
                  </a:txBody>
                  <a:tcPr marL="91440" marR="91440"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2F6F8"/>
                    </a:solidFill>
                  </a:tcPr>
                </a:tc>
              </a:tr>
              <a:tr h="347472">
                <a:tc>
                  <a:txBody>
                    <a:bodyPr/>
                    <a:lstStyle/>
                    <a:p>
                      <a:pPr algn="l" indent="0" marL="0">
                        <a:buNone/>
                      </a:pPr>
                      <a:r>
                        <a:rPr lang="en-US" sz="1250" b="1" dirty="0">
                          <a:solidFill>
                            <a:srgbClr val="0B1F2A"/>
                          </a:solidFill>
                          <a:latin typeface="Calibri" pitchFamily="34" charset="0"/>
                          <a:ea typeface="Calibri" pitchFamily="34" charset="-122"/>
                          <a:cs typeface="Calibri" pitchFamily="34" charset="-120"/>
                        </a:rPr>
                        <a:t>Power Grid Corporation</a:t>
                      </a:r>
                      <a:endParaRPr lang="en-US" sz="1250" dirty="0">
                        <a:latin typeface="Calibri" charset="0"/>
                        <a:ea typeface="Calibri" charset="0"/>
                        <a:cs typeface="Calibri" charset="0"/>
                      </a:endParaRPr>
                    </a:p>
                  </a:txBody>
                  <a:tcPr marL="91440" marR="91440"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B2B34"/>
                          </a:solidFill>
                          <a:latin typeface="Calibri" pitchFamily="34" charset="0"/>
                          <a:ea typeface="Calibri" pitchFamily="34" charset="-122"/>
                          <a:cs typeface="Calibri" pitchFamily="34" charset="-120"/>
                        </a:rPr>
                        <a:t>1.51</a:t>
                      </a:r>
                      <a:endParaRPr lang="en-US" sz="1250" dirty="0">
                        <a:latin typeface="Calibri" charset="0"/>
                        <a:ea typeface="Calibri" charset="0"/>
                        <a:cs typeface="Calibri" charset="0"/>
                      </a:endParaRPr>
                    </a:p>
                  </a:txBody>
                  <a:tcPr marL="91440" marR="91440"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E5484D"/>
                          </a:solidFill>
                          <a:latin typeface="Calibri" pitchFamily="34" charset="0"/>
                          <a:ea typeface="Calibri" pitchFamily="34" charset="-122"/>
                          <a:cs typeface="Calibri" pitchFamily="34" charset="-120"/>
                        </a:rPr>
                        <a:t>2.8 times</a:t>
                      </a:r>
                      <a:endParaRPr lang="en-US" sz="1250" dirty="0">
                        <a:latin typeface="Calibri" charset="0"/>
                        <a:ea typeface="Calibri" charset="0"/>
                        <a:cs typeface="Calibri" charset="0"/>
                      </a:endParaRPr>
                    </a:p>
                  </a:txBody>
                  <a:tcPr marL="91440" marR="91440"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FFFFF"/>
                    </a:solidFill>
                  </a:tcPr>
                </a:tc>
              </a:tr>
              <a:tr h="347472">
                <a:tc>
                  <a:txBody>
                    <a:bodyPr/>
                    <a:lstStyle/>
                    <a:p>
                      <a:pPr algn="l" indent="0" marL="0">
                        <a:buNone/>
                      </a:pPr>
                      <a:r>
                        <a:rPr lang="en-US" sz="1250" b="1" dirty="0">
                          <a:solidFill>
                            <a:srgbClr val="0B1F2A"/>
                          </a:solidFill>
                          <a:latin typeface="Calibri" pitchFamily="34" charset="0"/>
                          <a:ea typeface="Calibri" pitchFamily="34" charset="-122"/>
                          <a:cs typeface="Calibri" pitchFamily="34" charset="-120"/>
                        </a:rPr>
                        <a:t>Mahindra &amp; Mahindra</a:t>
                      </a:r>
                      <a:endParaRPr lang="en-US" sz="1250" dirty="0">
                        <a:latin typeface="Calibri" charset="0"/>
                        <a:ea typeface="Calibri" charset="0"/>
                        <a:cs typeface="Calibri" charset="0"/>
                      </a:endParaRPr>
                    </a:p>
                  </a:txBody>
                  <a:tcPr marL="91440" marR="91440"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2F6F8"/>
                    </a:solidFill>
                  </a:tcPr>
                </a:tc>
                <a:tc>
                  <a:txBody>
                    <a:bodyPr/>
                    <a:lstStyle/>
                    <a:p>
                      <a:pPr algn="r" indent="0" marL="0">
                        <a:buNone/>
                      </a:pPr>
                      <a:r>
                        <a:rPr lang="en-US" sz="1250" dirty="0">
                          <a:solidFill>
                            <a:srgbClr val="1B2B34"/>
                          </a:solidFill>
                          <a:latin typeface="Calibri" pitchFamily="34" charset="0"/>
                          <a:ea typeface="Calibri" pitchFamily="34" charset="-122"/>
                          <a:cs typeface="Calibri" pitchFamily="34" charset="-120"/>
                        </a:rPr>
                        <a:t>1.44</a:t>
                      </a:r>
                      <a:endParaRPr lang="en-US" sz="1250" dirty="0">
                        <a:latin typeface="Calibri" charset="0"/>
                        <a:ea typeface="Calibri" charset="0"/>
                        <a:cs typeface="Calibri" charset="0"/>
                      </a:endParaRPr>
                    </a:p>
                  </a:txBody>
                  <a:tcPr marL="91440" marR="91440"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2F6F8"/>
                    </a:solidFill>
                  </a:tcPr>
                </a:tc>
                <a:tc>
                  <a:txBody>
                    <a:bodyPr/>
                    <a:lstStyle/>
                    <a:p>
                      <a:pPr algn="r" indent="0" marL="0">
                        <a:buNone/>
                      </a:pPr>
                      <a:r>
                        <a:rPr lang="en-US" sz="1250" dirty="0">
                          <a:solidFill>
                            <a:srgbClr val="1B2B34"/>
                          </a:solidFill>
                          <a:latin typeface="Calibri" pitchFamily="34" charset="0"/>
                          <a:ea typeface="Calibri" pitchFamily="34" charset="-122"/>
                          <a:cs typeface="Calibri" pitchFamily="34" charset="-120"/>
                        </a:rPr>
                        <a:t>3.7 times</a:t>
                      </a:r>
                      <a:endParaRPr lang="en-US" sz="1250" dirty="0">
                        <a:latin typeface="Calibri" charset="0"/>
                        <a:ea typeface="Calibri" charset="0"/>
                        <a:cs typeface="Calibri" charset="0"/>
                      </a:endParaRPr>
                    </a:p>
                  </a:txBody>
                  <a:tcPr marL="91440" marR="91440"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2F6F8"/>
                    </a:solidFill>
                  </a:tcPr>
                </a:tc>
              </a:tr>
            </a:tbl>
          </a:graphicData>
        </a:graphic>
      </p:graphicFrame>
      <p:sp>
        <p:nvSpPr>
          <p:cNvPr id="22" name="Text 18"/>
          <p:cNvSpPr txBox="1"/>
          <p:nvPr/>
        </p:nvSpPr>
        <p:spPr>
          <a:xfrm>
            <a:off x="6217920" y="5641848"/>
            <a:ext cx="5422392" cy="548640"/>
          </a:xfrm>
          <a:prstGeom prst="rect">
            <a:avLst/>
          </a:prstGeom>
          <a:noFill/>
          <a:ln/>
        </p:spPr>
        <p:txBody>
          <a:bodyPr wrap="square" lIns="0" tIns="0" rIns="0" bIns="0" rtlCol="0" anchor="t"/>
          <a:lstStyle/>
          <a:p>
            <a:pPr indent="0" marL="0">
              <a:buNone/>
            </a:pPr>
            <a:r>
              <a:rPr lang="en-US" sz="1100" i="1" dirty="0">
                <a:solidFill>
                  <a:srgbClr val="1F6F8B"/>
                </a:solidFill>
                <a:latin typeface="Calibri" pitchFamily="34" charset="0"/>
                <a:ea typeface="Calibri" pitchFamily="34" charset="-122"/>
                <a:cs typeface="Calibri" pitchFamily="34" charset="-120"/>
              </a:rPr>
              <a:t>Interest cover below 3 is flagged as weak (red): operating profit pays the interest bill fewer than three times. Also flagged: Eternal and Tata Motors Passenger Vehicles. As of 1 October 2026.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300" kern="0" dirty="0">
                <a:solidFill>
                  <a:srgbClr val="0E9F6E"/>
                </a:solidFill>
                <a:latin typeface="Calibri" pitchFamily="34" charset="0"/>
                <a:ea typeface="Calibri" pitchFamily="34" charset="-122"/>
                <a:cs typeface="Calibri" pitchFamily="34" charset="-120"/>
              </a:rPr>
              <a:t>14  ·  MACHINE LEARNING</a:t>
            </a:r>
            <a:endParaRPr lang="en-US" sz="1200" dirty="0"/>
          </a:p>
        </p:txBody>
      </p:sp>
      <p:sp>
        <p:nvSpPr>
          <p:cNvPr id="3" name="Text 1"/>
          <p:cNvSpPr txBox="1"/>
          <p:nvPr/>
        </p:nvSpPr>
        <p:spPr>
          <a:xfrm>
            <a:off x="548640" y="676656"/>
            <a:ext cx="11064240" cy="685800"/>
          </a:xfrm>
          <a:prstGeom prst="rect">
            <a:avLst/>
          </a:prstGeom>
          <a:noFill/>
          <a:ln/>
        </p:spPr>
        <p:txBody>
          <a:bodyPr wrap="square" lIns="0" tIns="0" rIns="0" bIns="0" rtlCol="0" anchor="ctr"/>
          <a:lstStyle/>
          <a:p>
            <a:pPr indent="0" marL="0">
              <a:buNone/>
            </a:pPr>
            <a:r>
              <a:rPr lang="en-US" sz="3000" b="1" dirty="0">
                <a:solidFill>
                  <a:srgbClr val="0B1F2A"/>
                </a:solidFill>
                <a:latin typeface="Arial" pitchFamily="34" charset="0"/>
                <a:ea typeface="Arial" pitchFamily="34" charset="-122"/>
                <a:cs typeface="Arial" pitchFamily="34" charset="-120"/>
              </a:rPr>
              <a:t>Forecasting: which model performs better?</a:t>
            </a:r>
            <a:endParaRPr lang="en-US" sz="3000" dirty="0"/>
          </a:p>
        </p:txBody>
      </p:sp>
      <p:sp>
        <p:nvSpPr>
          <p:cNvPr id="4" name="Text 2"/>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B75"/>
                </a:solidFill>
                <a:latin typeface="Calibri" pitchFamily="34" charset="0"/>
                <a:ea typeface="Calibri" pitchFamily="34" charset="-122"/>
                <a:cs typeface="Calibri" pitchFamily="34" charset="-120"/>
              </a:rPr>
              <a:t>Big Data Architecture  |  Stock Market &amp; Mutual Fund Risk Analytics</a:t>
            </a:r>
            <a:endParaRPr lang="en-US" sz="900" dirty="0"/>
          </a:p>
        </p:txBody>
      </p:sp>
      <p:sp>
        <p:nvSpPr>
          <p:cNvPr id="5" name="Text 3"/>
          <p:cNvSpPr txBox="1"/>
          <p:nvPr/>
        </p:nvSpPr>
        <p:spPr>
          <a:xfrm>
            <a:off x="11183112" y="6473952"/>
            <a:ext cx="457200" cy="228600"/>
          </a:xfrm>
          <a:prstGeom prst="rect">
            <a:avLst/>
          </a:prstGeom>
          <a:noFill/>
          <a:ln/>
        </p:spPr>
        <p:txBody>
          <a:bodyPr wrap="square" lIns="0" tIns="0" rIns="0" bIns="0" rtlCol="0" anchor="t"/>
          <a:lstStyle/>
          <a:p>
            <a:pPr algn="r" indent="0" marL="0">
              <a:buNone/>
            </a:pPr>
            <a:r>
              <a:rPr lang="en-US" sz="900" dirty="0">
                <a:solidFill>
                  <a:srgbClr val="5B6B75"/>
                </a:solidFill>
                <a:latin typeface="Calibri" pitchFamily="34" charset="0"/>
                <a:ea typeface="Calibri" pitchFamily="34" charset="-122"/>
                <a:cs typeface="Calibri" pitchFamily="34" charset="-120"/>
              </a:rPr>
              <a:t>15</a:t>
            </a:r>
            <a:endParaRPr lang="en-US"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400800" cy="914400"/>
        </p:xfrm>
        <a:graphic>
          <a:graphicData uri="http://schemas.openxmlformats.org/drawingml/2006/table">
            <a:tbl>
              <a:tblPr/>
              <a:tblGrid>
                <a:gridCol w="365760"/>
                <a:gridCol w="2148840"/>
                <a:gridCol w="1097280"/>
                <a:gridCol w="731520"/>
                <a:gridCol w="1051560"/>
                <a:gridCol w="100584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0B1F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73152" marR="73152"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0B1F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Runs on</a:t>
                      </a:r>
                      <a:endParaRPr lang="en-US" sz="1200" dirty="0">
                        <a:latin typeface="Calibri" charset="0"/>
                        <a:ea typeface="Calibri" charset="0"/>
                        <a:cs typeface="Calibri" charset="0"/>
                      </a:endParaRPr>
                    </a:p>
                  </a:txBody>
                  <a:tcPr marL="73152" marR="73152"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0B1F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RMSE</a:t>
                      </a:r>
                      <a:endParaRPr lang="en-US" sz="1200" dirty="0">
                        <a:latin typeface="Calibri" charset="0"/>
                        <a:ea typeface="Calibri" charset="0"/>
                        <a:cs typeface="Calibri" charset="0"/>
                      </a:endParaRPr>
                    </a:p>
                  </a:txBody>
                  <a:tcPr marL="73152" marR="73152"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0B1F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Direction right</a:t>
                      </a:r>
                      <a:endParaRPr lang="en-US" sz="1200" dirty="0">
                        <a:latin typeface="Calibri" charset="0"/>
                        <a:ea typeface="Calibri" charset="0"/>
                        <a:cs typeface="Calibri" charset="0"/>
                      </a:endParaRPr>
                    </a:p>
                  </a:txBody>
                  <a:tcPr marL="73152" marR="73152"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0B1F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vs baseline</a:t>
                      </a:r>
                      <a:endParaRPr lang="en-US" sz="1200" dirty="0">
                        <a:latin typeface="Calibri" charset="0"/>
                        <a:ea typeface="Calibri" charset="0"/>
                        <a:cs typeface="Calibri" charset="0"/>
                      </a:endParaRPr>
                    </a:p>
                  </a:txBody>
                  <a:tcPr marL="73152" marR="73152"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0B1F2A"/>
                    </a:solidFill>
                  </a:tcPr>
                </a:tc>
              </a:tr>
              <a:tr h="475488">
                <a:tc>
                  <a:txBody>
                    <a:bodyPr/>
                    <a:lstStyle/>
                    <a:p>
                      <a:pPr algn="l" indent="0" marL="0">
                        <a:buNone/>
                      </a:pPr>
                      <a:r>
                        <a:rPr lang="en-US" sz="1200" b="1" dirty="0">
                          <a:solidFill>
                            <a:srgbClr val="1B2B34"/>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E6F5EE"/>
                    </a:solidFill>
                  </a:tcPr>
                </a:tc>
                <a:tc>
                  <a:txBody>
                    <a:bodyPr/>
                    <a:lstStyle/>
                    <a:p>
                      <a:pPr algn="l" indent="0" marL="0">
                        <a:buNone/>
                      </a:pPr>
                      <a:r>
                        <a:rPr lang="en-US" sz="1200" b="1" dirty="0">
                          <a:solidFill>
                            <a:srgbClr val="0B1F2A"/>
                          </a:solidFill>
                          <a:latin typeface="Calibri" pitchFamily="34" charset="0"/>
                          <a:ea typeface="Calibri" pitchFamily="34" charset="-122"/>
                          <a:cs typeface="Calibri" pitchFamily="34" charset="-120"/>
                        </a:rPr>
                        <a:t>Random Forest</a:t>
                      </a:r>
                      <a:endParaRPr lang="en-US" sz="1200" dirty="0">
                        <a:latin typeface="Calibri" charset="0"/>
                        <a:ea typeface="Calibri" charset="0"/>
                        <a:cs typeface="Calibri" charset="0"/>
                      </a:endParaRPr>
                    </a:p>
                  </a:txBody>
                  <a:tcPr marL="73152" marR="73152"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E6F5EE"/>
                    </a:solidFill>
                  </a:tcPr>
                </a:tc>
                <a:tc>
                  <a:txBody>
                    <a:bodyPr/>
                    <a:lstStyle/>
                    <a:p>
                      <a:pPr algn="l" indent="0" marL="0">
                        <a:buNone/>
                      </a:pPr>
                      <a:r>
                        <a:rPr lang="en-US" sz="1200" b="1" dirty="0">
                          <a:solidFill>
                            <a:srgbClr val="1B2B34"/>
                          </a:solidFill>
                          <a:latin typeface="Calibri" pitchFamily="34" charset="0"/>
                          <a:ea typeface="Calibri" pitchFamily="34" charset="-122"/>
                          <a:cs typeface="Calibri" pitchFamily="34" charset="-120"/>
                        </a:rPr>
                        <a:t>Spark MLlib</a:t>
                      </a:r>
                      <a:endParaRPr lang="en-US" sz="1200" dirty="0">
                        <a:latin typeface="Calibri" charset="0"/>
                        <a:ea typeface="Calibri" charset="0"/>
                        <a:cs typeface="Calibri" charset="0"/>
                      </a:endParaRPr>
                    </a:p>
                  </a:txBody>
                  <a:tcPr marL="73152" marR="73152"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E6F5EE"/>
                    </a:solidFill>
                  </a:tcPr>
                </a:tc>
                <a:tc>
                  <a:txBody>
                    <a:bodyPr/>
                    <a:lstStyle/>
                    <a:p>
                      <a:pPr algn="r" indent="0" marL="0">
                        <a:buNone/>
                      </a:pPr>
                      <a:r>
                        <a:rPr lang="en-US" sz="1200" b="1" dirty="0">
                          <a:solidFill>
                            <a:srgbClr val="1B2B34"/>
                          </a:solidFill>
                          <a:latin typeface="Calibri" pitchFamily="34" charset="0"/>
                          <a:ea typeface="Calibri" pitchFamily="34" charset="-122"/>
                          <a:cs typeface="Calibri" pitchFamily="34" charset="-120"/>
                        </a:rPr>
                        <a:t>0.0487</a:t>
                      </a:r>
                      <a:endParaRPr lang="en-US" sz="1200" dirty="0">
                        <a:latin typeface="Calibri" charset="0"/>
                        <a:ea typeface="Calibri" charset="0"/>
                        <a:cs typeface="Calibri" charset="0"/>
                      </a:endParaRPr>
                    </a:p>
                  </a:txBody>
                  <a:tcPr marL="73152" marR="73152"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E6F5EE"/>
                    </a:solidFill>
                  </a:tcPr>
                </a:tc>
                <a:tc>
                  <a:txBody>
                    <a:bodyPr/>
                    <a:lstStyle/>
                    <a:p>
                      <a:pPr algn="r" indent="0" marL="0">
                        <a:buNone/>
                      </a:pPr>
                      <a:r>
                        <a:rPr lang="en-US" sz="1200" b="1" dirty="0">
                          <a:solidFill>
                            <a:srgbClr val="1B2B34"/>
                          </a:solidFill>
                          <a:latin typeface="Calibri" pitchFamily="34" charset="0"/>
                          <a:ea typeface="Calibri" pitchFamily="34" charset="-122"/>
                          <a:cs typeface="Calibri" pitchFamily="34" charset="-120"/>
                        </a:rPr>
                        <a:t>65.4%</a:t>
                      </a:r>
                      <a:endParaRPr lang="en-US" sz="1200" dirty="0">
                        <a:latin typeface="Calibri" charset="0"/>
                        <a:ea typeface="Calibri" charset="0"/>
                        <a:cs typeface="Calibri" charset="0"/>
                      </a:endParaRPr>
                    </a:p>
                  </a:txBody>
                  <a:tcPr marL="73152" marR="73152"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E6F5EE"/>
                    </a:solidFill>
                  </a:tcPr>
                </a:tc>
                <a:tc>
                  <a:txBody>
                    <a:bodyPr/>
                    <a:lstStyle/>
                    <a:p>
                      <a:pPr algn="r" indent="0" marL="0">
                        <a:buNone/>
                      </a:pPr>
                      <a:r>
                        <a:rPr lang="en-US" sz="1200" b="1" dirty="0">
                          <a:solidFill>
                            <a:srgbClr val="0E9F6E"/>
                          </a:solidFill>
                          <a:latin typeface="Calibri" pitchFamily="34" charset="0"/>
                          <a:ea typeface="Calibri" pitchFamily="34" charset="-122"/>
                          <a:cs typeface="Calibri" pitchFamily="34" charset="-120"/>
                        </a:rPr>
                        <a:t>5.9% better</a:t>
                      </a:r>
                      <a:endParaRPr lang="en-US" sz="1200" dirty="0">
                        <a:latin typeface="Calibri" charset="0"/>
                        <a:ea typeface="Calibri" charset="0"/>
                        <a:cs typeface="Calibri" charset="0"/>
                      </a:endParaRPr>
                    </a:p>
                  </a:txBody>
                  <a:tcPr marL="73152" marR="73152"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E6F5EE"/>
                    </a:solidFill>
                  </a:tcPr>
                </a:tc>
              </a:tr>
              <a:tr h="475488">
                <a:tc>
                  <a:txBody>
                    <a:bodyPr/>
                    <a:lstStyle/>
                    <a:p>
                      <a:pPr algn="l" indent="0" marL="0">
                        <a:buNone/>
                      </a:pPr>
                      <a:r>
                        <a:rPr lang="en-US" sz="1200" dirty="0">
                          <a:solidFill>
                            <a:srgbClr val="1B2B34"/>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3152" marR="73152"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0B1F2A"/>
                          </a:solidFill>
                          <a:latin typeface="Calibri" pitchFamily="34" charset="0"/>
                          <a:ea typeface="Calibri" pitchFamily="34" charset="-122"/>
                          <a:cs typeface="Calibri" pitchFamily="34" charset="-120"/>
                        </a:rPr>
                        <a:t>Historical mean (baseline)</a:t>
                      </a:r>
                      <a:endParaRPr lang="en-US" sz="1200" dirty="0">
                        <a:latin typeface="Calibri" charset="0"/>
                        <a:ea typeface="Calibri" charset="0"/>
                        <a:cs typeface="Calibri" charset="0"/>
                      </a:endParaRPr>
                    </a:p>
                  </a:txBody>
                  <a:tcPr marL="73152" marR="73152"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B34"/>
                          </a:solidFill>
                          <a:latin typeface="Calibri" pitchFamily="34" charset="0"/>
                          <a:ea typeface="Calibri" pitchFamily="34" charset="-122"/>
                          <a:cs typeface="Calibri" pitchFamily="34" charset="-120"/>
                        </a:rPr>
                        <a:t>pandas</a:t>
                      </a:r>
                      <a:endParaRPr lang="en-US" sz="1200" dirty="0">
                        <a:latin typeface="Calibri" charset="0"/>
                        <a:ea typeface="Calibri" charset="0"/>
                        <a:cs typeface="Calibri" charset="0"/>
                      </a:endParaRPr>
                    </a:p>
                  </a:txBody>
                  <a:tcPr marL="73152" marR="73152"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B34"/>
                          </a:solidFill>
                          <a:latin typeface="Calibri" pitchFamily="34" charset="0"/>
                          <a:ea typeface="Calibri" pitchFamily="34" charset="-122"/>
                          <a:cs typeface="Calibri" pitchFamily="34" charset="-120"/>
                        </a:rPr>
                        <a:t>0.0518</a:t>
                      </a:r>
                      <a:endParaRPr lang="en-US" sz="1200" dirty="0">
                        <a:latin typeface="Calibri" charset="0"/>
                        <a:ea typeface="Calibri" charset="0"/>
                        <a:cs typeface="Calibri" charset="0"/>
                      </a:endParaRPr>
                    </a:p>
                  </a:txBody>
                  <a:tcPr marL="73152" marR="73152"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B34"/>
                          </a:solidFill>
                          <a:latin typeface="Calibri" pitchFamily="34" charset="0"/>
                          <a:ea typeface="Calibri" pitchFamily="34" charset="-122"/>
                          <a:cs typeface="Calibri" pitchFamily="34" charset="-120"/>
                        </a:rPr>
                        <a:t>64.1%</a:t>
                      </a:r>
                      <a:endParaRPr lang="en-US" sz="1200" dirty="0">
                        <a:latin typeface="Calibri" charset="0"/>
                        <a:ea typeface="Calibri" charset="0"/>
                        <a:cs typeface="Calibri" charset="0"/>
                      </a:endParaRPr>
                    </a:p>
                  </a:txBody>
                  <a:tcPr marL="73152" marR="73152"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FFFFF"/>
                    </a:solidFill>
                  </a:tcPr>
                </a:tc>
                <a:tc>
                  <a:txBody>
                    <a:bodyPr/>
                    <a:lstStyle/>
                    <a:p>
                      <a:pPr algn="r" indent="0" marL="0">
                        <a:buNone/>
                      </a:pPr>
                      <a:r>
                        <a:rPr lang="en-US" sz="1200" dirty="0">
                          <a:solidFill>
                            <a:srgbClr val="5B6B7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FFFFF"/>
                    </a:solidFill>
                  </a:tcPr>
                </a:tc>
              </a:tr>
              <a:tr h="475488">
                <a:tc>
                  <a:txBody>
                    <a:bodyPr/>
                    <a:lstStyle/>
                    <a:p>
                      <a:pPr algn="l" indent="0" marL="0">
                        <a:buNone/>
                      </a:pPr>
                      <a:r>
                        <a:rPr lang="en-US" sz="1200" dirty="0">
                          <a:solidFill>
                            <a:srgbClr val="1B2B34"/>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73152" marR="73152"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2F6F8"/>
                    </a:solidFill>
                  </a:tcPr>
                </a:tc>
                <a:tc>
                  <a:txBody>
                    <a:bodyPr/>
                    <a:lstStyle/>
                    <a:p>
                      <a:pPr algn="l" indent="0" marL="0">
                        <a:buNone/>
                      </a:pPr>
                      <a:r>
                        <a:rPr lang="en-US" sz="1200" b="1" dirty="0">
                          <a:solidFill>
                            <a:srgbClr val="0B1F2A"/>
                          </a:solidFill>
                          <a:latin typeface="Calibri" pitchFamily="34" charset="0"/>
                          <a:ea typeface="Calibri" pitchFamily="34" charset="-122"/>
                          <a:cs typeface="Calibri" pitchFamily="34" charset="-120"/>
                        </a:rPr>
                        <a:t>Linear Regression</a:t>
                      </a:r>
                      <a:endParaRPr lang="en-US" sz="1200" dirty="0">
                        <a:latin typeface="Calibri" charset="0"/>
                        <a:ea typeface="Calibri" charset="0"/>
                        <a:cs typeface="Calibri" charset="0"/>
                      </a:endParaRPr>
                    </a:p>
                  </a:txBody>
                  <a:tcPr marL="73152" marR="73152"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2F6F8"/>
                    </a:solidFill>
                  </a:tcPr>
                </a:tc>
                <a:tc>
                  <a:txBody>
                    <a:bodyPr/>
                    <a:lstStyle/>
                    <a:p>
                      <a:pPr algn="l" indent="0" marL="0">
                        <a:buNone/>
                      </a:pPr>
                      <a:r>
                        <a:rPr lang="en-US" sz="1200" dirty="0">
                          <a:solidFill>
                            <a:srgbClr val="1B2B34"/>
                          </a:solidFill>
                          <a:latin typeface="Calibri" pitchFamily="34" charset="0"/>
                          <a:ea typeface="Calibri" pitchFamily="34" charset="-122"/>
                          <a:cs typeface="Calibri" pitchFamily="34" charset="-120"/>
                        </a:rPr>
                        <a:t>Spark MLlib</a:t>
                      </a:r>
                      <a:endParaRPr lang="en-US" sz="1200" dirty="0">
                        <a:latin typeface="Calibri" charset="0"/>
                        <a:ea typeface="Calibri" charset="0"/>
                        <a:cs typeface="Calibri" charset="0"/>
                      </a:endParaRPr>
                    </a:p>
                  </a:txBody>
                  <a:tcPr marL="73152" marR="73152"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2F6F8"/>
                    </a:solidFill>
                  </a:tcPr>
                </a:tc>
                <a:tc>
                  <a:txBody>
                    <a:bodyPr/>
                    <a:lstStyle/>
                    <a:p>
                      <a:pPr algn="r" indent="0" marL="0">
                        <a:buNone/>
                      </a:pPr>
                      <a:r>
                        <a:rPr lang="en-US" sz="1200" dirty="0">
                          <a:solidFill>
                            <a:srgbClr val="1B2B34"/>
                          </a:solidFill>
                          <a:latin typeface="Calibri" pitchFamily="34" charset="0"/>
                          <a:ea typeface="Calibri" pitchFamily="34" charset="-122"/>
                          <a:cs typeface="Calibri" pitchFamily="34" charset="-120"/>
                        </a:rPr>
                        <a:t>0.0521</a:t>
                      </a:r>
                      <a:endParaRPr lang="en-US" sz="1200" dirty="0">
                        <a:latin typeface="Calibri" charset="0"/>
                        <a:ea typeface="Calibri" charset="0"/>
                        <a:cs typeface="Calibri" charset="0"/>
                      </a:endParaRPr>
                    </a:p>
                  </a:txBody>
                  <a:tcPr marL="73152" marR="73152"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2F6F8"/>
                    </a:solidFill>
                  </a:tcPr>
                </a:tc>
                <a:tc>
                  <a:txBody>
                    <a:bodyPr/>
                    <a:lstStyle/>
                    <a:p>
                      <a:pPr algn="r" indent="0" marL="0">
                        <a:buNone/>
                      </a:pPr>
                      <a:r>
                        <a:rPr lang="en-US" sz="1200" dirty="0">
                          <a:solidFill>
                            <a:srgbClr val="1B2B34"/>
                          </a:solidFill>
                          <a:latin typeface="Calibri" pitchFamily="34" charset="0"/>
                          <a:ea typeface="Calibri" pitchFamily="34" charset="-122"/>
                          <a:cs typeface="Calibri" pitchFamily="34" charset="-120"/>
                        </a:rPr>
                        <a:t>62.4%</a:t>
                      </a:r>
                      <a:endParaRPr lang="en-US" sz="1200" dirty="0">
                        <a:latin typeface="Calibri" charset="0"/>
                        <a:ea typeface="Calibri" charset="0"/>
                        <a:cs typeface="Calibri" charset="0"/>
                      </a:endParaRPr>
                    </a:p>
                  </a:txBody>
                  <a:tcPr marL="73152" marR="73152"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2F6F8"/>
                    </a:solidFill>
                  </a:tcPr>
                </a:tc>
                <a:tc>
                  <a:txBody>
                    <a:bodyPr/>
                    <a:lstStyle/>
                    <a:p>
                      <a:pPr algn="r" indent="0" marL="0">
                        <a:buNone/>
                      </a:pPr>
                      <a:r>
                        <a:rPr lang="en-US" sz="1200" dirty="0">
                          <a:solidFill>
                            <a:srgbClr val="E5484D"/>
                          </a:solidFill>
                          <a:latin typeface="Calibri" pitchFamily="34" charset="0"/>
                          <a:ea typeface="Calibri" pitchFamily="34" charset="-122"/>
                          <a:cs typeface="Calibri" pitchFamily="34" charset="-120"/>
                        </a:rPr>
                        <a:t>0.7% worse</a:t>
                      </a:r>
                      <a:endParaRPr lang="en-US" sz="1200" dirty="0">
                        <a:latin typeface="Calibri" charset="0"/>
                        <a:ea typeface="Calibri" charset="0"/>
                        <a:cs typeface="Calibri" charset="0"/>
                      </a:endParaRPr>
                    </a:p>
                  </a:txBody>
                  <a:tcPr marL="73152" marR="73152"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2F6F8"/>
                    </a:solidFill>
                  </a:tcPr>
                </a:tc>
              </a:tr>
              <a:tr h="475488">
                <a:tc>
                  <a:txBody>
                    <a:bodyPr/>
                    <a:lstStyle/>
                    <a:p>
                      <a:pPr algn="l" indent="0" marL="0">
                        <a:buNone/>
                      </a:pPr>
                      <a:r>
                        <a:rPr lang="en-US" sz="1200" dirty="0">
                          <a:solidFill>
                            <a:srgbClr val="1B2B34"/>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73152" marR="73152"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0B1F2A"/>
                          </a:solidFill>
                          <a:latin typeface="Calibri" pitchFamily="34" charset="0"/>
                          <a:ea typeface="Calibri" pitchFamily="34" charset="-122"/>
                          <a:cs typeface="Calibri" pitchFamily="34" charset="-120"/>
                        </a:rPr>
                        <a:t>Gradient-Boosted Trees</a:t>
                      </a:r>
                      <a:endParaRPr lang="en-US" sz="1200" dirty="0">
                        <a:latin typeface="Calibri" charset="0"/>
                        <a:ea typeface="Calibri" charset="0"/>
                        <a:cs typeface="Calibri" charset="0"/>
                      </a:endParaRPr>
                    </a:p>
                  </a:txBody>
                  <a:tcPr marL="73152" marR="73152"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B34"/>
                          </a:solidFill>
                          <a:latin typeface="Calibri" pitchFamily="34" charset="0"/>
                          <a:ea typeface="Calibri" pitchFamily="34" charset="-122"/>
                          <a:cs typeface="Calibri" pitchFamily="34" charset="-120"/>
                        </a:rPr>
                        <a:t>Spark MLlib</a:t>
                      </a:r>
                      <a:endParaRPr lang="en-US" sz="1200" dirty="0">
                        <a:latin typeface="Calibri" charset="0"/>
                        <a:ea typeface="Calibri" charset="0"/>
                        <a:cs typeface="Calibri" charset="0"/>
                      </a:endParaRPr>
                    </a:p>
                  </a:txBody>
                  <a:tcPr marL="73152" marR="73152"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B34"/>
                          </a:solidFill>
                          <a:latin typeface="Calibri" pitchFamily="34" charset="0"/>
                          <a:ea typeface="Calibri" pitchFamily="34" charset="-122"/>
                          <a:cs typeface="Calibri" pitchFamily="34" charset="-120"/>
                        </a:rPr>
                        <a:t>0.0527</a:t>
                      </a:r>
                      <a:endParaRPr lang="en-US" sz="1200" dirty="0">
                        <a:latin typeface="Calibri" charset="0"/>
                        <a:ea typeface="Calibri" charset="0"/>
                        <a:cs typeface="Calibri" charset="0"/>
                      </a:endParaRPr>
                    </a:p>
                  </a:txBody>
                  <a:tcPr marL="73152" marR="73152"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B34"/>
                          </a:solidFill>
                          <a:latin typeface="Calibri" pitchFamily="34" charset="0"/>
                          <a:ea typeface="Calibri" pitchFamily="34" charset="-122"/>
                          <a:cs typeface="Calibri" pitchFamily="34" charset="-120"/>
                        </a:rPr>
                        <a:t>61.6%</a:t>
                      </a:r>
                      <a:endParaRPr lang="en-US" sz="1200" dirty="0">
                        <a:latin typeface="Calibri" charset="0"/>
                        <a:ea typeface="Calibri" charset="0"/>
                        <a:cs typeface="Calibri" charset="0"/>
                      </a:endParaRPr>
                    </a:p>
                  </a:txBody>
                  <a:tcPr marL="73152" marR="73152"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FFFFF"/>
                    </a:solidFill>
                  </a:tcPr>
                </a:tc>
                <a:tc>
                  <a:txBody>
                    <a:bodyPr/>
                    <a:lstStyle/>
                    <a:p>
                      <a:pPr algn="r" indent="0" marL="0">
                        <a:buNone/>
                      </a:pPr>
                      <a:r>
                        <a:rPr lang="en-US" sz="1200" dirty="0">
                          <a:solidFill>
                            <a:srgbClr val="E5484D"/>
                          </a:solidFill>
                          <a:latin typeface="Calibri" pitchFamily="34" charset="0"/>
                          <a:ea typeface="Calibri" pitchFamily="34" charset="-122"/>
                          <a:cs typeface="Calibri" pitchFamily="34" charset="-120"/>
                        </a:rPr>
                        <a:t>1.7% worse</a:t>
                      </a:r>
                      <a:endParaRPr lang="en-US" sz="1200" dirty="0">
                        <a:latin typeface="Calibri" charset="0"/>
                        <a:ea typeface="Calibri" charset="0"/>
                        <a:cs typeface="Calibri" charset="0"/>
                      </a:endParaRPr>
                    </a:p>
                  </a:txBody>
                  <a:tcPr marL="73152" marR="73152"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FFFFF"/>
                    </a:solidFill>
                  </a:tcPr>
                </a:tc>
              </a:tr>
              <a:tr h="475488">
                <a:tc>
                  <a:txBody>
                    <a:bodyPr/>
                    <a:lstStyle/>
                    <a:p>
                      <a:pPr algn="l" indent="0" marL="0">
                        <a:buNone/>
                      </a:pPr>
                      <a:r>
                        <a:rPr lang="en-US" sz="1200" dirty="0">
                          <a:solidFill>
                            <a:srgbClr val="1B2B34"/>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3152" marR="73152"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2F6F8"/>
                    </a:solidFill>
                  </a:tcPr>
                </a:tc>
                <a:tc>
                  <a:txBody>
                    <a:bodyPr/>
                    <a:lstStyle/>
                    <a:p>
                      <a:pPr algn="l" indent="0" marL="0">
                        <a:buNone/>
                      </a:pPr>
                      <a:r>
                        <a:rPr lang="en-US" sz="1200" b="1" dirty="0">
                          <a:solidFill>
                            <a:srgbClr val="0B1F2A"/>
                          </a:solidFill>
                          <a:latin typeface="Calibri" pitchFamily="34" charset="0"/>
                          <a:ea typeface="Calibri" pitchFamily="34" charset="-122"/>
                          <a:cs typeface="Calibri" pitchFamily="34" charset="-120"/>
                        </a:rPr>
                        <a:t>ARIMA(1,0,1)</a:t>
                      </a:r>
                      <a:endParaRPr lang="en-US" sz="1200" dirty="0">
                        <a:latin typeface="Calibri" charset="0"/>
                        <a:ea typeface="Calibri" charset="0"/>
                        <a:cs typeface="Calibri" charset="0"/>
                      </a:endParaRPr>
                    </a:p>
                  </a:txBody>
                  <a:tcPr marL="73152" marR="73152"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2F6F8"/>
                    </a:solidFill>
                  </a:tcPr>
                </a:tc>
                <a:tc>
                  <a:txBody>
                    <a:bodyPr/>
                    <a:lstStyle/>
                    <a:p>
                      <a:pPr algn="l" indent="0" marL="0">
                        <a:buNone/>
                      </a:pPr>
                      <a:r>
                        <a:rPr lang="en-US" sz="1200" dirty="0">
                          <a:solidFill>
                            <a:srgbClr val="1B2B34"/>
                          </a:solidFill>
                          <a:latin typeface="Calibri" pitchFamily="34" charset="0"/>
                          <a:ea typeface="Calibri" pitchFamily="34" charset="-122"/>
                          <a:cs typeface="Calibri" pitchFamily="34" charset="-120"/>
                        </a:rPr>
                        <a:t>statsmodels</a:t>
                      </a:r>
                      <a:endParaRPr lang="en-US" sz="1200" dirty="0">
                        <a:latin typeface="Calibri" charset="0"/>
                        <a:ea typeface="Calibri" charset="0"/>
                        <a:cs typeface="Calibri" charset="0"/>
                      </a:endParaRPr>
                    </a:p>
                  </a:txBody>
                  <a:tcPr marL="73152" marR="73152"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2F6F8"/>
                    </a:solidFill>
                  </a:tcPr>
                </a:tc>
                <a:tc>
                  <a:txBody>
                    <a:bodyPr/>
                    <a:lstStyle/>
                    <a:p>
                      <a:pPr algn="r" indent="0" marL="0">
                        <a:buNone/>
                      </a:pPr>
                      <a:r>
                        <a:rPr lang="en-US" sz="1200" dirty="0">
                          <a:solidFill>
                            <a:srgbClr val="1B2B34"/>
                          </a:solidFill>
                          <a:latin typeface="Calibri" pitchFamily="34" charset="0"/>
                          <a:ea typeface="Calibri" pitchFamily="34" charset="-122"/>
                          <a:cs typeface="Calibri" pitchFamily="34" charset="-120"/>
                        </a:rPr>
                        <a:t>0.0530</a:t>
                      </a:r>
                      <a:endParaRPr lang="en-US" sz="1200" dirty="0">
                        <a:latin typeface="Calibri" charset="0"/>
                        <a:ea typeface="Calibri" charset="0"/>
                        <a:cs typeface="Calibri" charset="0"/>
                      </a:endParaRPr>
                    </a:p>
                  </a:txBody>
                  <a:tcPr marL="73152" marR="73152"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2F6F8"/>
                    </a:solidFill>
                  </a:tcPr>
                </a:tc>
                <a:tc>
                  <a:txBody>
                    <a:bodyPr/>
                    <a:lstStyle/>
                    <a:p>
                      <a:pPr algn="r" indent="0" marL="0">
                        <a:buNone/>
                      </a:pPr>
                      <a:r>
                        <a:rPr lang="en-US" sz="1200" dirty="0">
                          <a:solidFill>
                            <a:srgbClr val="1B2B34"/>
                          </a:solidFill>
                          <a:latin typeface="Calibri" pitchFamily="34" charset="0"/>
                          <a:ea typeface="Calibri" pitchFamily="34" charset="-122"/>
                          <a:cs typeface="Calibri" pitchFamily="34" charset="-120"/>
                        </a:rPr>
                        <a:t>60.4%</a:t>
                      </a:r>
                      <a:endParaRPr lang="en-US" sz="1200" dirty="0">
                        <a:latin typeface="Calibri" charset="0"/>
                        <a:ea typeface="Calibri" charset="0"/>
                        <a:cs typeface="Calibri" charset="0"/>
                      </a:endParaRPr>
                    </a:p>
                  </a:txBody>
                  <a:tcPr marL="73152" marR="73152"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2F6F8"/>
                    </a:solidFill>
                  </a:tcPr>
                </a:tc>
                <a:tc>
                  <a:txBody>
                    <a:bodyPr/>
                    <a:lstStyle/>
                    <a:p>
                      <a:pPr algn="r" indent="0" marL="0">
                        <a:buNone/>
                      </a:pPr>
                      <a:r>
                        <a:rPr lang="en-US" sz="1200" dirty="0">
                          <a:solidFill>
                            <a:srgbClr val="E5484D"/>
                          </a:solidFill>
                          <a:latin typeface="Calibri" pitchFamily="34" charset="0"/>
                          <a:ea typeface="Calibri" pitchFamily="34" charset="-122"/>
                          <a:cs typeface="Calibri" pitchFamily="34" charset="-120"/>
                        </a:rPr>
                        <a:t>2.3% worse</a:t>
                      </a:r>
                      <a:endParaRPr lang="en-US" sz="1200" dirty="0">
                        <a:latin typeface="Calibri" charset="0"/>
                        <a:ea typeface="Calibri" charset="0"/>
                        <a:cs typeface="Calibri" charset="0"/>
                      </a:endParaRPr>
                    </a:p>
                  </a:txBody>
                  <a:tcPr marL="73152" marR="73152" marT="0" marB="0" anchor="ctr">
                    <a:lnL w="9525" cap="flat" cmpd="sng" algn="ctr">
                      <a:solidFill>
                        <a:srgbClr val="D6E0E5"/>
                      </a:solidFill>
                      <a:prstDash val="solid"/>
                      <a:round/>
                      <a:headEnd type="none" w="med" len="med"/>
                      <a:tailEnd type="none" w="med" len="med"/>
                    </a:lnL>
                    <a:lnR w="9525" cap="flat" cmpd="sng" algn="ctr">
                      <a:solidFill>
                        <a:srgbClr val="D6E0E5"/>
                      </a:solidFill>
                      <a:prstDash val="solid"/>
                      <a:round/>
                      <a:headEnd type="none" w="med" len="med"/>
                      <a:tailEnd type="none" w="med" len="med"/>
                    </a:lnR>
                    <a:lnT w="9525" cap="flat" cmpd="sng" algn="ctr">
                      <a:solidFill>
                        <a:srgbClr val="D6E0E5"/>
                      </a:solidFill>
                      <a:prstDash val="solid"/>
                      <a:round/>
                      <a:headEnd type="none" w="med" len="med"/>
                      <a:tailEnd type="none" w="med" len="med"/>
                    </a:lnT>
                    <a:lnB w="9525" cap="flat" cmpd="sng" algn="ctr">
                      <a:solidFill>
                        <a:srgbClr val="D6E0E5"/>
                      </a:solidFill>
                      <a:prstDash val="solid"/>
                      <a:round/>
                      <a:headEnd type="none" w="med" len="med"/>
                      <a:tailEnd type="none" w="med" len="med"/>
                    </a:lnB>
                    <a:solidFill>
                      <a:srgbClr val="F2F6F8"/>
                    </a:solidFill>
                  </a:tcPr>
                </a:tc>
              </a:tr>
            </a:tbl>
          </a:graphicData>
        </a:graphic>
      </p:graphicFrame>
      <p:sp>
        <p:nvSpPr>
          <p:cNvPr id="7" name="Shape 4"/>
          <p:cNvSpPr/>
          <p:nvPr/>
        </p:nvSpPr>
        <p:spPr>
          <a:xfrm>
            <a:off x="548640" y="4663440"/>
            <a:ext cx="6400800" cy="685800"/>
          </a:xfrm>
          <a:prstGeom prst="roundRect">
            <a:avLst>
              <a:gd name="adj" fmla="val 16000"/>
            </a:avLst>
          </a:prstGeom>
          <a:solidFill>
            <a:srgbClr val="F2F6F8"/>
          </a:solidFill>
          <a:ln w="12700">
            <a:solidFill>
              <a:srgbClr val="F2F6F8"/>
            </a:solidFill>
            <a:prstDash val="solid"/>
          </a:ln>
        </p:spPr>
      </p:sp>
      <p:sp>
        <p:nvSpPr>
          <p:cNvPr id="8" name="Text 5"/>
          <p:cNvSpPr txBox="1"/>
          <p:nvPr/>
        </p:nvSpPr>
        <p:spPr>
          <a:xfrm>
            <a:off x="731520" y="4663440"/>
            <a:ext cx="6080760" cy="685800"/>
          </a:xfrm>
          <a:prstGeom prst="rect">
            <a:avLst/>
          </a:prstGeom>
          <a:noFill/>
          <a:ln/>
        </p:spPr>
        <p:txBody>
          <a:bodyPr wrap="square" lIns="0" tIns="0" rIns="0" bIns="0" rtlCol="0" anchor="ctr"/>
          <a:lstStyle/>
          <a:p>
            <a:pPr indent="0" marL="0">
              <a:buNone/>
            </a:pPr>
            <a:r>
              <a:rPr lang="en-US" sz="1250" b="1" dirty="0">
                <a:solidFill>
                  <a:srgbClr val="0B1F2A"/>
                </a:solidFill>
                <a:latin typeface="Calibri" pitchFamily="34" charset="0"/>
                <a:ea typeface="Calibri" pitchFamily="34" charset="-122"/>
                <a:cs typeface="Calibri" pitchFamily="34" charset="-120"/>
              </a:rPr>
              <a:t>Task: </a:t>
            </a:r>
            <a:pPr indent="0" marL="0">
              <a:buNone/>
            </a:pPr>
            <a:r>
              <a:rPr lang="en-US" sz="1250" dirty="0">
                <a:solidFill>
                  <a:srgbClr val="1B2B34"/>
                </a:solidFill>
                <a:latin typeface="Calibri" pitchFamily="34" charset="0"/>
                <a:ea typeface="Calibri" pitchFamily="34" charset="-122"/>
                <a:cs typeface="Calibri" pitchFamily="34" charset="-120"/>
              </a:rPr>
              <a:t>predict next month's return for each of the 30 curated funds. 2,790 predictions, tested year by year from 2019 to 2026.</a:t>
            </a:r>
            <a:endParaRPr lang="en-US" sz="1250" dirty="0"/>
          </a:p>
        </p:txBody>
      </p:sp>
      <p:sp>
        <p:nvSpPr>
          <p:cNvPr id="9" name="Shape 6"/>
          <p:cNvSpPr/>
          <p:nvPr/>
        </p:nvSpPr>
        <p:spPr>
          <a:xfrm>
            <a:off x="548640" y="5458968"/>
            <a:ext cx="6400800" cy="713232"/>
          </a:xfrm>
          <a:prstGeom prst="roundRect">
            <a:avLst>
              <a:gd name="adj" fmla="val 15385"/>
            </a:avLst>
          </a:prstGeom>
          <a:solidFill>
            <a:srgbClr val="E6F5EE"/>
          </a:solidFill>
          <a:ln w="12700">
            <a:solidFill>
              <a:srgbClr val="E6F5EE"/>
            </a:solidFill>
            <a:prstDash val="solid"/>
          </a:ln>
        </p:spPr>
      </p:sp>
      <p:sp>
        <p:nvSpPr>
          <p:cNvPr id="10" name="Text 7"/>
          <p:cNvSpPr txBox="1"/>
          <p:nvPr/>
        </p:nvSpPr>
        <p:spPr>
          <a:xfrm>
            <a:off x="731520" y="5458968"/>
            <a:ext cx="6080760" cy="713232"/>
          </a:xfrm>
          <a:prstGeom prst="rect">
            <a:avLst/>
          </a:prstGeom>
          <a:noFill/>
          <a:ln/>
        </p:spPr>
        <p:txBody>
          <a:bodyPr wrap="square" lIns="0" tIns="0" rIns="0" bIns="0" rtlCol="0" anchor="ctr"/>
          <a:lstStyle/>
          <a:p>
            <a:pPr indent="0" marL="0">
              <a:buNone/>
            </a:pPr>
            <a:r>
              <a:rPr lang="en-US" sz="1250" b="1" dirty="0">
                <a:solidFill>
                  <a:srgbClr val="0B1F2A"/>
                </a:solidFill>
                <a:latin typeface="Calibri" pitchFamily="34" charset="0"/>
                <a:ea typeface="Calibri" pitchFamily="34" charset="-122"/>
                <a:cs typeface="Calibri" pitchFamily="34" charset="-120"/>
              </a:rPr>
              <a:t>Finding: </a:t>
            </a:r>
            <a:pPr indent="0" marL="0">
              <a:buNone/>
            </a:pPr>
            <a:r>
              <a:rPr lang="en-US" sz="1250" dirty="0">
                <a:solidFill>
                  <a:srgbClr val="1B2B34"/>
                </a:solidFill>
                <a:latin typeface="Calibri" pitchFamily="34" charset="0"/>
                <a:ea typeface="Calibri" pitchFamily="34" charset="-122"/>
                <a:cs typeface="Calibri" pitchFamily="34" charset="-120"/>
              </a:rPr>
              <a:t>only Random Forest beat the simple baseline, and not every year. It lost in 2023 and 2024.</a:t>
            </a:r>
            <a:endParaRPr lang="en-US" sz="1250" dirty="0"/>
          </a:p>
        </p:txBody>
      </p:sp>
      <p:sp>
        <p:nvSpPr>
          <p:cNvPr id="11" name="Shape 8"/>
          <p:cNvSpPr/>
          <p:nvPr/>
        </p:nvSpPr>
        <p:spPr>
          <a:xfrm>
            <a:off x="7178040" y="1645920"/>
            <a:ext cx="4462272" cy="4526280"/>
          </a:xfrm>
          <a:prstGeom prst="roundRect">
            <a:avLst>
              <a:gd name="adj" fmla="val 2459"/>
            </a:avLst>
          </a:prstGeom>
          <a:solidFill>
            <a:srgbClr val="F2F6F8"/>
          </a:solidFill>
          <a:ln w="12700">
            <a:solidFill>
              <a:srgbClr val="F2F6F8"/>
            </a:solidFill>
            <a:prstDash val="solid"/>
          </a:ln>
        </p:spPr>
      </p:sp>
      <p:graphicFrame>
        <p:nvGraphicFramePr>
          <p:cNvPr id="12" name="Chart 0" descr=""/>
          <p:cNvGraphicFramePr/>
          <p:nvPr/>
        </p:nvGraphicFramePr>
        <p:xfrm>
          <a:off x="7269480" y="1737360"/>
          <a:ext cx="4279392" cy="3840480"/>
        </p:xfrm>
        <a:graphic xmlns:a="http://schemas.openxmlformats.org/drawingml/2006/main">
          <a:graphicData uri="http://schemas.openxmlformats.org/drawingml/2006/chart">
            <c:chart xmlns:c="http://schemas.openxmlformats.org/drawingml/2006/chart" r:id="rId1"/>
          </a:graphicData>
        </a:graphic>
      </p:graphicFrame>
      <p:sp>
        <p:nvSpPr>
          <p:cNvPr id="13" name="Text 9"/>
          <p:cNvSpPr txBox="1"/>
          <p:nvPr/>
        </p:nvSpPr>
        <p:spPr>
          <a:xfrm>
            <a:off x="7360920" y="5623560"/>
            <a:ext cx="4114800" cy="457200"/>
          </a:xfrm>
          <a:prstGeom prst="rect">
            <a:avLst/>
          </a:prstGeom>
          <a:noFill/>
          <a:ln/>
        </p:spPr>
        <p:txBody>
          <a:bodyPr wrap="square" lIns="0" tIns="0" rIns="0" bIns="0" rtlCol="0" anchor="ctr"/>
          <a:lstStyle/>
          <a:p>
            <a:pPr indent="0" marL="0">
              <a:buNone/>
            </a:pPr>
            <a:r>
              <a:rPr lang="en-US" sz="1150" i="1" dirty="0">
                <a:solidFill>
                  <a:srgbClr val="1F6F8B"/>
                </a:solidFill>
                <a:latin typeface="Calibri" pitchFamily="34" charset="0"/>
                <a:ea typeface="Calibri" pitchFamily="34" charset="-122"/>
                <a:cs typeface="Calibri" pitchFamily="34" charset="-120"/>
              </a:rPr>
              <a:t>The 2020 spike is the Covid crash: every model's error more than doubled.</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300" kern="0" dirty="0">
                <a:solidFill>
                  <a:srgbClr val="0E9F6E"/>
                </a:solidFill>
                <a:latin typeface="Calibri" pitchFamily="34" charset="0"/>
                <a:ea typeface="Calibri" pitchFamily="34" charset="-122"/>
                <a:cs typeface="Calibri" pitchFamily="34" charset="-120"/>
              </a:rPr>
              <a:t>15  ·  MACHINE LEARNING</a:t>
            </a:r>
            <a:endParaRPr lang="en-US" sz="1200" dirty="0"/>
          </a:p>
        </p:txBody>
      </p:sp>
      <p:sp>
        <p:nvSpPr>
          <p:cNvPr id="3" name="Text 1"/>
          <p:cNvSpPr txBox="1"/>
          <p:nvPr/>
        </p:nvSpPr>
        <p:spPr>
          <a:xfrm>
            <a:off x="548640" y="676656"/>
            <a:ext cx="11064240" cy="685800"/>
          </a:xfrm>
          <a:prstGeom prst="rect">
            <a:avLst/>
          </a:prstGeom>
          <a:noFill/>
          <a:ln/>
        </p:spPr>
        <p:txBody>
          <a:bodyPr wrap="square" lIns="0" tIns="0" rIns="0" bIns="0" rtlCol="0" anchor="ctr"/>
          <a:lstStyle/>
          <a:p>
            <a:pPr indent="0" marL="0">
              <a:buNone/>
            </a:pPr>
            <a:r>
              <a:rPr lang="en-US" sz="3000" b="1" dirty="0">
                <a:solidFill>
                  <a:srgbClr val="0B1F2A"/>
                </a:solidFill>
                <a:latin typeface="Arial" pitchFamily="34" charset="0"/>
                <a:ea typeface="Arial" pitchFamily="34" charset="-122"/>
                <a:cs typeface="Arial" pitchFamily="34" charset="-120"/>
              </a:rPr>
              <a:t>Honest evaluation and risk prediction</a:t>
            </a:r>
            <a:endParaRPr lang="en-US" sz="3000" dirty="0"/>
          </a:p>
        </p:txBody>
      </p:sp>
      <p:sp>
        <p:nvSpPr>
          <p:cNvPr id="4" name="Text 2"/>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B75"/>
                </a:solidFill>
                <a:latin typeface="Calibri" pitchFamily="34" charset="0"/>
                <a:ea typeface="Calibri" pitchFamily="34" charset="-122"/>
                <a:cs typeface="Calibri" pitchFamily="34" charset="-120"/>
              </a:rPr>
              <a:t>Big Data Architecture  |  Stock Market &amp; Mutual Fund Risk Analytics</a:t>
            </a:r>
            <a:endParaRPr lang="en-US" sz="900" dirty="0"/>
          </a:p>
        </p:txBody>
      </p:sp>
      <p:sp>
        <p:nvSpPr>
          <p:cNvPr id="5" name="Text 3"/>
          <p:cNvSpPr txBox="1"/>
          <p:nvPr/>
        </p:nvSpPr>
        <p:spPr>
          <a:xfrm>
            <a:off x="11183112" y="6473952"/>
            <a:ext cx="457200" cy="228600"/>
          </a:xfrm>
          <a:prstGeom prst="rect">
            <a:avLst/>
          </a:prstGeom>
          <a:noFill/>
          <a:ln/>
        </p:spPr>
        <p:txBody>
          <a:bodyPr wrap="square" lIns="0" tIns="0" rIns="0" bIns="0" rtlCol="0" anchor="t"/>
          <a:lstStyle/>
          <a:p>
            <a:pPr algn="r" indent="0" marL="0">
              <a:buNone/>
            </a:pPr>
            <a:r>
              <a:rPr lang="en-US" sz="900" dirty="0">
                <a:solidFill>
                  <a:srgbClr val="5B6B75"/>
                </a:solidFill>
                <a:latin typeface="Calibri" pitchFamily="34" charset="0"/>
                <a:ea typeface="Calibri" pitchFamily="34" charset="-122"/>
                <a:cs typeface="Calibri" pitchFamily="34" charset="-120"/>
              </a:rPr>
              <a:t>16</a:t>
            </a:r>
            <a:endParaRPr lang="en-US" sz="900" dirty="0"/>
          </a:p>
        </p:txBody>
      </p:sp>
      <p:sp>
        <p:nvSpPr>
          <p:cNvPr id="6" name="Shape 4"/>
          <p:cNvSpPr/>
          <p:nvPr/>
        </p:nvSpPr>
        <p:spPr>
          <a:xfrm>
            <a:off x="548640" y="1645920"/>
            <a:ext cx="5760720" cy="4526280"/>
          </a:xfrm>
          <a:prstGeom prst="roundRect">
            <a:avLst>
              <a:gd name="adj" fmla="val 2424"/>
            </a:avLst>
          </a:prstGeom>
          <a:solidFill>
            <a:srgbClr val="F2F6F8"/>
          </a:solidFill>
          <a:ln w="12700">
            <a:solidFill>
              <a:srgbClr val="F2F6F8"/>
            </a:solidFill>
            <a:prstDash val="solid"/>
          </a:ln>
        </p:spPr>
      </p:sp>
      <p:sp>
        <p:nvSpPr>
          <p:cNvPr id="7" name="Text 5"/>
          <p:cNvSpPr txBox="1"/>
          <p:nvPr/>
        </p:nvSpPr>
        <p:spPr>
          <a:xfrm>
            <a:off x="822960" y="1828800"/>
            <a:ext cx="5029200" cy="365760"/>
          </a:xfrm>
          <a:prstGeom prst="rect">
            <a:avLst/>
          </a:prstGeom>
          <a:noFill/>
          <a:ln/>
        </p:spPr>
        <p:txBody>
          <a:bodyPr wrap="square" lIns="0" tIns="0" rIns="0" bIns="0" rtlCol="0" anchor="t"/>
          <a:lstStyle/>
          <a:p>
            <a:pPr indent="0" marL="0">
              <a:buNone/>
            </a:pPr>
            <a:r>
              <a:rPr lang="en-US" sz="1800" b="1" dirty="0">
                <a:solidFill>
                  <a:srgbClr val="0B1F2A"/>
                </a:solidFill>
                <a:latin typeface="Arial" pitchFamily="34" charset="0"/>
                <a:ea typeface="Arial" pitchFamily="34" charset="-122"/>
                <a:cs typeface="Arial" pitchFamily="34" charset="-120"/>
              </a:rPr>
              <a:t>Walk-forward validation</a:t>
            </a:r>
            <a:endParaRPr lang="en-US" sz="1800" dirty="0"/>
          </a:p>
        </p:txBody>
      </p:sp>
      <p:sp>
        <p:nvSpPr>
          <p:cNvPr id="8" name="Text 6"/>
          <p:cNvSpPr txBox="1"/>
          <p:nvPr/>
        </p:nvSpPr>
        <p:spPr>
          <a:xfrm>
            <a:off x="822960" y="2468880"/>
            <a:ext cx="1143000" cy="347472"/>
          </a:xfrm>
          <a:prstGeom prst="rect">
            <a:avLst/>
          </a:prstGeom>
          <a:noFill/>
          <a:ln/>
        </p:spPr>
        <p:txBody>
          <a:bodyPr wrap="square" lIns="0" tIns="0" rIns="0" bIns="0" rtlCol="0" anchor="ctr"/>
          <a:lstStyle/>
          <a:p>
            <a:pPr indent="0" marL="0">
              <a:buNone/>
            </a:pPr>
            <a:r>
              <a:rPr lang="en-US" sz="1200" b="1" dirty="0">
                <a:solidFill>
                  <a:srgbClr val="5B6B75"/>
                </a:solidFill>
                <a:latin typeface="Calibri" pitchFamily="34" charset="0"/>
                <a:ea typeface="Calibri" pitchFamily="34" charset="-122"/>
                <a:cs typeface="Calibri" pitchFamily="34" charset="-120"/>
              </a:rPr>
              <a:t>Test 2019</a:t>
            </a:r>
            <a:endParaRPr lang="en-US" sz="1200" dirty="0"/>
          </a:p>
        </p:txBody>
      </p:sp>
      <p:sp>
        <p:nvSpPr>
          <p:cNvPr id="9" name="Shape 7"/>
          <p:cNvSpPr/>
          <p:nvPr/>
        </p:nvSpPr>
        <p:spPr>
          <a:xfrm>
            <a:off x="2057400" y="2468880"/>
            <a:ext cx="1554480" cy="347472"/>
          </a:xfrm>
          <a:prstGeom prst="rect">
            <a:avLst/>
          </a:prstGeom>
          <a:solidFill>
            <a:srgbClr val="0E9F6E"/>
          </a:solidFill>
          <a:ln w="12700">
            <a:solidFill>
              <a:srgbClr val="FFFFFF"/>
            </a:solidFill>
            <a:prstDash val="solid"/>
          </a:ln>
        </p:spPr>
      </p:sp>
      <p:sp>
        <p:nvSpPr>
          <p:cNvPr id="10" name="Shape 8"/>
          <p:cNvSpPr/>
          <p:nvPr/>
        </p:nvSpPr>
        <p:spPr>
          <a:xfrm>
            <a:off x="3611880" y="2468880"/>
            <a:ext cx="566928" cy="347472"/>
          </a:xfrm>
          <a:prstGeom prst="rect">
            <a:avLst/>
          </a:prstGeom>
          <a:solidFill>
            <a:srgbClr val="F5A524"/>
          </a:solidFill>
          <a:ln w="12700">
            <a:solidFill>
              <a:srgbClr val="FFFFFF"/>
            </a:solidFill>
            <a:prstDash val="solid"/>
          </a:ln>
        </p:spPr>
      </p:sp>
      <p:sp>
        <p:nvSpPr>
          <p:cNvPr id="11" name="Text 9"/>
          <p:cNvSpPr txBox="1"/>
          <p:nvPr/>
        </p:nvSpPr>
        <p:spPr>
          <a:xfrm>
            <a:off x="822960" y="2980944"/>
            <a:ext cx="1143000" cy="347472"/>
          </a:xfrm>
          <a:prstGeom prst="rect">
            <a:avLst/>
          </a:prstGeom>
          <a:noFill/>
          <a:ln/>
        </p:spPr>
        <p:txBody>
          <a:bodyPr wrap="square" lIns="0" tIns="0" rIns="0" bIns="0" rtlCol="0" anchor="ctr"/>
          <a:lstStyle/>
          <a:p>
            <a:pPr indent="0" marL="0">
              <a:buNone/>
            </a:pPr>
            <a:r>
              <a:rPr lang="en-US" sz="1200" b="1" dirty="0">
                <a:solidFill>
                  <a:srgbClr val="5B6B75"/>
                </a:solidFill>
                <a:latin typeface="Calibri" pitchFamily="34" charset="0"/>
                <a:ea typeface="Calibri" pitchFamily="34" charset="-122"/>
                <a:cs typeface="Calibri" pitchFamily="34" charset="-120"/>
              </a:rPr>
              <a:t>Test 2020</a:t>
            </a:r>
            <a:endParaRPr lang="en-US" sz="1200" dirty="0"/>
          </a:p>
        </p:txBody>
      </p:sp>
      <p:sp>
        <p:nvSpPr>
          <p:cNvPr id="12" name="Shape 10"/>
          <p:cNvSpPr/>
          <p:nvPr/>
        </p:nvSpPr>
        <p:spPr>
          <a:xfrm>
            <a:off x="2057400" y="2980944"/>
            <a:ext cx="2121408" cy="347472"/>
          </a:xfrm>
          <a:prstGeom prst="rect">
            <a:avLst/>
          </a:prstGeom>
          <a:solidFill>
            <a:srgbClr val="0E9F6E"/>
          </a:solidFill>
          <a:ln w="12700">
            <a:solidFill>
              <a:srgbClr val="FFFFFF"/>
            </a:solidFill>
            <a:prstDash val="solid"/>
          </a:ln>
        </p:spPr>
      </p:sp>
      <p:sp>
        <p:nvSpPr>
          <p:cNvPr id="13" name="Shape 11"/>
          <p:cNvSpPr/>
          <p:nvPr/>
        </p:nvSpPr>
        <p:spPr>
          <a:xfrm>
            <a:off x="4178808" y="2980944"/>
            <a:ext cx="566928" cy="347472"/>
          </a:xfrm>
          <a:prstGeom prst="rect">
            <a:avLst/>
          </a:prstGeom>
          <a:solidFill>
            <a:srgbClr val="F5A524"/>
          </a:solidFill>
          <a:ln w="12700">
            <a:solidFill>
              <a:srgbClr val="FFFFFF"/>
            </a:solidFill>
            <a:prstDash val="solid"/>
          </a:ln>
        </p:spPr>
      </p:sp>
      <p:sp>
        <p:nvSpPr>
          <p:cNvPr id="14" name="Text 12"/>
          <p:cNvSpPr txBox="1"/>
          <p:nvPr/>
        </p:nvSpPr>
        <p:spPr>
          <a:xfrm>
            <a:off x="822960" y="3493008"/>
            <a:ext cx="1143000" cy="347472"/>
          </a:xfrm>
          <a:prstGeom prst="rect">
            <a:avLst/>
          </a:prstGeom>
          <a:noFill/>
          <a:ln/>
        </p:spPr>
        <p:txBody>
          <a:bodyPr wrap="square" lIns="0" tIns="0" rIns="0" bIns="0" rtlCol="0" anchor="ctr"/>
          <a:lstStyle/>
          <a:p>
            <a:pPr indent="0" marL="0">
              <a:buNone/>
            </a:pPr>
            <a:r>
              <a:rPr lang="en-US" sz="1200" b="1" dirty="0">
                <a:solidFill>
                  <a:srgbClr val="5B6B75"/>
                </a:solidFill>
                <a:latin typeface="Calibri" pitchFamily="34" charset="0"/>
                <a:ea typeface="Calibri" pitchFamily="34" charset="-122"/>
                <a:cs typeface="Calibri" pitchFamily="34" charset="-120"/>
              </a:rPr>
              <a:t>Test 2021</a:t>
            </a:r>
            <a:endParaRPr lang="en-US" sz="1200" dirty="0"/>
          </a:p>
        </p:txBody>
      </p:sp>
      <p:sp>
        <p:nvSpPr>
          <p:cNvPr id="15" name="Shape 13"/>
          <p:cNvSpPr/>
          <p:nvPr/>
        </p:nvSpPr>
        <p:spPr>
          <a:xfrm>
            <a:off x="2057400" y="3493008"/>
            <a:ext cx="2688336" cy="347472"/>
          </a:xfrm>
          <a:prstGeom prst="rect">
            <a:avLst/>
          </a:prstGeom>
          <a:solidFill>
            <a:srgbClr val="0E9F6E"/>
          </a:solidFill>
          <a:ln w="12700">
            <a:solidFill>
              <a:srgbClr val="FFFFFF"/>
            </a:solidFill>
            <a:prstDash val="solid"/>
          </a:ln>
        </p:spPr>
      </p:sp>
      <p:sp>
        <p:nvSpPr>
          <p:cNvPr id="16" name="Shape 14"/>
          <p:cNvSpPr/>
          <p:nvPr/>
        </p:nvSpPr>
        <p:spPr>
          <a:xfrm>
            <a:off x="4745736" y="3493008"/>
            <a:ext cx="566928" cy="347472"/>
          </a:xfrm>
          <a:prstGeom prst="rect">
            <a:avLst/>
          </a:prstGeom>
          <a:solidFill>
            <a:srgbClr val="F5A524"/>
          </a:solidFill>
          <a:ln w="12700">
            <a:solidFill>
              <a:srgbClr val="FFFFFF"/>
            </a:solidFill>
            <a:prstDash val="solid"/>
          </a:ln>
        </p:spPr>
      </p:sp>
      <p:sp>
        <p:nvSpPr>
          <p:cNvPr id="17" name="Text 15"/>
          <p:cNvSpPr txBox="1"/>
          <p:nvPr/>
        </p:nvSpPr>
        <p:spPr>
          <a:xfrm>
            <a:off x="822960" y="4005072"/>
            <a:ext cx="1143000" cy="347472"/>
          </a:xfrm>
          <a:prstGeom prst="rect">
            <a:avLst/>
          </a:prstGeom>
          <a:noFill/>
          <a:ln/>
        </p:spPr>
        <p:txBody>
          <a:bodyPr wrap="square" lIns="0" tIns="0" rIns="0" bIns="0" rtlCol="0" anchor="ctr"/>
          <a:lstStyle/>
          <a:p>
            <a:pPr indent="0" marL="0">
              <a:buNone/>
            </a:pPr>
            <a:r>
              <a:rPr lang="en-US" sz="1200" b="1" dirty="0">
                <a:solidFill>
                  <a:srgbClr val="5B6B75"/>
                </a:solidFill>
                <a:latin typeface="Calibri" pitchFamily="34" charset="0"/>
                <a:ea typeface="Calibri" pitchFamily="34" charset="-122"/>
                <a:cs typeface="Calibri" pitchFamily="34" charset="-120"/>
              </a:rPr>
              <a:t>Test 2022</a:t>
            </a:r>
            <a:endParaRPr lang="en-US" sz="1200" dirty="0"/>
          </a:p>
        </p:txBody>
      </p:sp>
      <p:sp>
        <p:nvSpPr>
          <p:cNvPr id="18" name="Shape 16"/>
          <p:cNvSpPr/>
          <p:nvPr/>
        </p:nvSpPr>
        <p:spPr>
          <a:xfrm>
            <a:off x="2057400" y="4005072"/>
            <a:ext cx="3255264" cy="347472"/>
          </a:xfrm>
          <a:prstGeom prst="rect">
            <a:avLst/>
          </a:prstGeom>
          <a:solidFill>
            <a:srgbClr val="0E9F6E"/>
          </a:solidFill>
          <a:ln w="12700">
            <a:solidFill>
              <a:srgbClr val="FFFFFF"/>
            </a:solidFill>
            <a:prstDash val="solid"/>
          </a:ln>
        </p:spPr>
      </p:sp>
      <p:sp>
        <p:nvSpPr>
          <p:cNvPr id="19" name="Shape 17"/>
          <p:cNvSpPr/>
          <p:nvPr/>
        </p:nvSpPr>
        <p:spPr>
          <a:xfrm>
            <a:off x="5312664" y="4005072"/>
            <a:ext cx="566928" cy="347472"/>
          </a:xfrm>
          <a:prstGeom prst="rect">
            <a:avLst/>
          </a:prstGeom>
          <a:solidFill>
            <a:srgbClr val="F5A524"/>
          </a:solidFill>
          <a:ln w="12700">
            <a:solidFill>
              <a:srgbClr val="FFFFFF"/>
            </a:solidFill>
            <a:prstDash val="solid"/>
          </a:ln>
        </p:spPr>
      </p:sp>
      <p:sp>
        <p:nvSpPr>
          <p:cNvPr id="20" name="Text 18"/>
          <p:cNvSpPr txBox="1"/>
          <p:nvPr/>
        </p:nvSpPr>
        <p:spPr>
          <a:xfrm>
            <a:off x="822960" y="4526280"/>
            <a:ext cx="4114800" cy="274320"/>
          </a:xfrm>
          <a:prstGeom prst="rect">
            <a:avLst/>
          </a:prstGeom>
          <a:noFill/>
          <a:ln/>
        </p:spPr>
        <p:txBody>
          <a:bodyPr wrap="square" lIns="0" tIns="0" rIns="0" bIns="0" rtlCol="0" anchor="ctr"/>
          <a:lstStyle/>
          <a:p>
            <a:pPr indent="0" marL="0">
              <a:buNone/>
            </a:pPr>
            <a:r>
              <a:rPr lang="en-US" sz="1150" i="1" dirty="0">
                <a:solidFill>
                  <a:srgbClr val="1F6F8B"/>
                </a:solidFill>
                <a:latin typeface="Calibri" pitchFamily="34" charset="0"/>
                <a:ea typeface="Calibri" pitchFamily="34" charset="-122"/>
                <a:cs typeface="Calibri" pitchFamily="34" charset="-120"/>
              </a:rPr>
              <a:t>and so on, up to Test 2026 (8 folds)</a:t>
            </a:r>
            <a:endParaRPr lang="en-US" sz="1150" dirty="0"/>
          </a:p>
        </p:txBody>
      </p:sp>
      <p:sp>
        <p:nvSpPr>
          <p:cNvPr id="21" name="Shape 19"/>
          <p:cNvSpPr/>
          <p:nvPr/>
        </p:nvSpPr>
        <p:spPr>
          <a:xfrm>
            <a:off x="4343400" y="4572000"/>
            <a:ext cx="228600" cy="182880"/>
          </a:xfrm>
          <a:prstGeom prst="rect">
            <a:avLst/>
          </a:prstGeom>
          <a:solidFill>
            <a:srgbClr val="0E9F6E"/>
          </a:solidFill>
          <a:ln w="12700">
            <a:solidFill>
              <a:srgbClr val="0E9F6E"/>
            </a:solidFill>
            <a:prstDash val="solid"/>
          </a:ln>
        </p:spPr>
      </p:sp>
      <p:sp>
        <p:nvSpPr>
          <p:cNvPr id="22" name="Text 20"/>
          <p:cNvSpPr txBox="1"/>
          <p:nvPr/>
        </p:nvSpPr>
        <p:spPr>
          <a:xfrm>
            <a:off x="4617720" y="4526280"/>
            <a:ext cx="548640" cy="274320"/>
          </a:xfrm>
          <a:prstGeom prst="rect">
            <a:avLst/>
          </a:prstGeom>
          <a:noFill/>
          <a:ln/>
        </p:spPr>
        <p:txBody>
          <a:bodyPr wrap="square" lIns="0" tIns="0" rIns="0" bIns="0" rtlCol="0" anchor="ctr"/>
          <a:lstStyle/>
          <a:p>
            <a:pPr indent="0" marL="0">
              <a:buNone/>
            </a:pPr>
            <a:r>
              <a:rPr lang="en-US" sz="1100" dirty="0">
                <a:solidFill>
                  <a:srgbClr val="1B2B34"/>
                </a:solidFill>
                <a:latin typeface="Calibri" pitchFamily="34" charset="0"/>
                <a:ea typeface="Calibri" pitchFamily="34" charset="-122"/>
                <a:cs typeface="Calibri" pitchFamily="34" charset="-120"/>
              </a:rPr>
              <a:t>Train</a:t>
            </a:r>
            <a:endParaRPr lang="en-US" sz="1100" dirty="0"/>
          </a:p>
        </p:txBody>
      </p:sp>
      <p:sp>
        <p:nvSpPr>
          <p:cNvPr id="23" name="Shape 21"/>
          <p:cNvSpPr/>
          <p:nvPr/>
        </p:nvSpPr>
        <p:spPr>
          <a:xfrm>
            <a:off x="5212080" y="4572000"/>
            <a:ext cx="228600" cy="182880"/>
          </a:xfrm>
          <a:prstGeom prst="rect">
            <a:avLst/>
          </a:prstGeom>
          <a:solidFill>
            <a:srgbClr val="F5A524"/>
          </a:solidFill>
          <a:ln w="12700">
            <a:solidFill>
              <a:srgbClr val="F5A524"/>
            </a:solidFill>
            <a:prstDash val="solid"/>
          </a:ln>
        </p:spPr>
      </p:sp>
      <p:sp>
        <p:nvSpPr>
          <p:cNvPr id="24" name="Text 22"/>
          <p:cNvSpPr txBox="1"/>
          <p:nvPr/>
        </p:nvSpPr>
        <p:spPr>
          <a:xfrm>
            <a:off x="5486400" y="4526280"/>
            <a:ext cx="548640" cy="274320"/>
          </a:xfrm>
          <a:prstGeom prst="rect">
            <a:avLst/>
          </a:prstGeom>
          <a:noFill/>
          <a:ln/>
        </p:spPr>
        <p:txBody>
          <a:bodyPr wrap="square" lIns="0" tIns="0" rIns="0" bIns="0" rtlCol="0" anchor="ctr"/>
          <a:lstStyle/>
          <a:p>
            <a:pPr indent="0" marL="0">
              <a:buNone/>
            </a:pPr>
            <a:r>
              <a:rPr lang="en-US" sz="1100" dirty="0">
                <a:solidFill>
                  <a:srgbClr val="1B2B34"/>
                </a:solidFill>
                <a:latin typeface="Calibri" pitchFamily="34" charset="0"/>
                <a:ea typeface="Calibri" pitchFamily="34" charset="-122"/>
                <a:cs typeface="Calibri" pitchFamily="34" charset="-120"/>
              </a:rPr>
              <a:t>Test</a:t>
            </a:r>
            <a:endParaRPr lang="en-US" sz="1100" dirty="0"/>
          </a:p>
        </p:txBody>
      </p:sp>
      <p:sp>
        <p:nvSpPr>
          <p:cNvPr id="25" name="Text 23"/>
          <p:cNvSpPr txBox="1"/>
          <p:nvPr/>
        </p:nvSpPr>
        <p:spPr>
          <a:xfrm>
            <a:off x="822960" y="5029200"/>
            <a:ext cx="5257800" cy="960120"/>
          </a:xfrm>
          <a:prstGeom prst="rect">
            <a:avLst/>
          </a:prstGeom>
          <a:noFill/>
          <a:ln/>
        </p:spPr>
        <p:txBody>
          <a:bodyPr wrap="square" lIns="0" tIns="0" rIns="0" bIns="0" rtlCol="0" anchor="t"/>
          <a:lstStyle/>
          <a:p>
            <a:pPr indent="0" marL="0">
              <a:buNone/>
            </a:pPr>
            <a:r>
              <a:rPr lang="en-US" sz="1250" dirty="0">
                <a:solidFill>
                  <a:srgbClr val="5B6B75"/>
                </a:solidFill>
                <a:latin typeface="Calibri" pitchFamily="34" charset="0"/>
                <a:ea typeface="Calibri" pitchFamily="34" charset="-122"/>
                <a:cs typeface="Calibri" pitchFamily="34" charset="-120"/>
              </a:rPr>
              <a:t>Train on all earlier years, test on the next unseen year, then roll forward. Data is never shuffled, so no future information leaks into training.</a:t>
            </a:r>
            <a:endParaRPr lang="en-US" sz="1250" dirty="0"/>
          </a:p>
        </p:txBody>
      </p:sp>
      <p:sp>
        <p:nvSpPr>
          <p:cNvPr id="26" name="Shape 24"/>
          <p:cNvSpPr/>
          <p:nvPr/>
        </p:nvSpPr>
        <p:spPr>
          <a:xfrm>
            <a:off x="6519672" y="1645920"/>
            <a:ext cx="5120640" cy="4526280"/>
          </a:xfrm>
          <a:prstGeom prst="roundRect">
            <a:avLst>
              <a:gd name="adj" fmla="val 2424"/>
            </a:avLst>
          </a:prstGeom>
          <a:solidFill>
            <a:srgbClr val="0B1F2A"/>
          </a:solidFill>
          <a:ln w="12700">
            <a:solidFill>
              <a:srgbClr val="0B1F2A"/>
            </a:solidFill>
            <a:prstDash val="solid"/>
          </a:ln>
          <a:effectLst>
            <a:outerShdw sx="100000" sy="100000" kx="0" ky="0" algn="bl" rotWithShape="0" blurRad="101600" dist="25400" dir="5400000">
              <a:srgbClr val="000000">
                <a:alpha val="10000"/>
              </a:srgbClr>
            </a:outerShdw>
          </a:effectLst>
        </p:spPr>
      </p:sp>
      <p:sp>
        <p:nvSpPr>
          <p:cNvPr id="27" name="Shape 25"/>
          <p:cNvSpPr/>
          <p:nvPr/>
        </p:nvSpPr>
        <p:spPr>
          <a:xfrm>
            <a:off x="6793992" y="1828800"/>
            <a:ext cx="548640" cy="548640"/>
          </a:xfrm>
          <a:prstGeom prst="ellipse">
            <a:avLst/>
          </a:prstGeom>
          <a:solidFill>
            <a:srgbClr val="0E9F6E"/>
          </a:solidFill>
          <a:ln w="12700">
            <a:solidFill>
              <a:srgbClr val="0E9F6E"/>
            </a:solidFill>
            <a:prstDash val="solid"/>
          </a:ln>
        </p:spPr>
      </p:sp>
      <p:pic>
        <p:nvPicPr>
          <p:cNvPr id="28" name="Image 0" descr="preencoded.png">    </p:cNvPr>
          <p:cNvPicPr>
            <a:picLocks noChangeAspect="1"/>
          </p:cNvPicPr>
          <p:nvPr/>
        </p:nvPicPr>
        <p:blipFill>
          <a:blip r:embed="rId1"/>
          <a:stretch>
            <a:fillRect/>
          </a:stretch>
        </p:blipFill>
        <p:spPr>
          <a:xfrm>
            <a:off x="6936638" y="1971446"/>
            <a:ext cx="263347" cy="263347"/>
          </a:xfrm>
          <a:prstGeom prst="rect">
            <a:avLst/>
          </a:prstGeom>
        </p:spPr>
      </p:pic>
      <p:sp>
        <p:nvSpPr>
          <p:cNvPr id="29" name="Text 26"/>
          <p:cNvSpPr txBox="1"/>
          <p:nvPr/>
        </p:nvSpPr>
        <p:spPr>
          <a:xfrm>
            <a:off x="7498080" y="1892808"/>
            <a:ext cx="3931920" cy="4114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Risk prediction</a:t>
            </a:r>
            <a:endParaRPr lang="en-US" sz="1800" dirty="0"/>
          </a:p>
        </p:txBody>
      </p:sp>
      <p:sp>
        <p:nvSpPr>
          <p:cNvPr id="30" name="Text 27"/>
          <p:cNvSpPr txBox="1"/>
          <p:nvPr/>
        </p:nvSpPr>
        <p:spPr>
          <a:xfrm>
            <a:off x="6793992" y="2542032"/>
            <a:ext cx="4572000" cy="228600"/>
          </a:xfrm>
          <a:prstGeom prst="rect">
            <a:avLst/>
          </a:prstGeom>
          <a:noFill/>
          <a:ln/>
        </p:spPr>
        <p:txBody>
          <a:bodyPr wrap="square" lIns="0" tIns="0" rIns="0" bIns="0" rtlCol="0" anchor="t"/>
          <a:lstStyle/>
          <a:p>
            <a:pPr indent="0" marL="0">
              <a:buNone/>
            </a:pPr>
            <a:r>
              <a:rPr lang="en-US" sz="1050" b="1" spc="200" kern="0" dirty="0">
                <a:solidFill>
                  <a:srgbClr val="F5A524"/>
                </a:solidFill>
                <a:latin typeface="Calibri" pitchFamily="34" charset="0"/>
                <a:ea typeface="Calibri" pitchFamily="34" charset="-122"/>
                <a:cs typeface="Calibri" pitchFamily="34" charset="-120"/>
              </a:rPr>
              <a:t>GOAL</a:t>
            </a:r>
            <a:endParaRPr lang="en-US" sz="1050" dirty="0"/>
          </a:p>
        </p:txBody>
      </p:sp>
      <p:sp>
        <p:nvSpPr>
          <p:cNvPr id="31" name="Text 28"/>
          <p:cNvSpPr txBox="1"/>
          <p:nvPr/>
        </p:nvSpPr>
        <p:spPr>
          <a:xfrm>
            <a:off x="6793992" y="2788920"/>
            <a:ext cx="4617720" cy="603504"/>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Predict each fund's risk band next quarter: lowest, middle or highest third of its peers by volatility.</a:t>
            </a:r>
            <a:endParaRPr lang="en-US" sz="1250" dirty="0"/>
          </a:p>
        </p:txBody>
      </p:sp>
      <p:sp>
        <p:nvSpPr>
          <p:cNvPr id="32" name="Text 29"/>
          <p:cNvSpPr txBox="1"/>
          <p:nvPr/>
        </p:nvSpPr>
        <p:spPr>
          <a:xfrm>
            <a:off x="6793992" y="3438144"/>
            <a:ext cx="4572000" cy="228600"/>
          </a:xfrm>
          <a:prstGeom prst="rect">
            <a:avLst/>
          </a:prstGeom>
          <a:noFill/>
          <a:ln/>
        </p:spPr>
        <p:txBody>
          <a:bodyPr wrap="square" lIns="0" tIns="0" rIns="0" bIns="0" rtlCol="0" anchor="t"/>
          <a:lstStyle/>
          <a:p>
            <a:pPr indent="0" marL="0">
              <a:buNone/>
            </a:pPr>
            <a:r>
              <a:rPr lang="en-US" sz="1050" b="1" spc="200" kern="0" dirty="0">
                <a:solidFill>
                  <a:srgbClr val="F5A524"/>
                </a:solidFill>
                <a:latin typeface="Calibri" pitchFamily="34" charset="0"/>
                <a:ea typeface="Calibri" pitchFamily="34" charset="-122"/>
                <a:cs typeface="Calibri" pitchFamily="34" charset="-120"/>
              </a:rPr>
              <a:t>FEATURES</a:t>
            </a:r>
            <a:endParaRPr lang="en-US" sz="1050" dirty="0"/>
          </a:p>
        </p:txBody>
      </p:sp>
      <p:sp>
        <p:nvSpPr>
          <p:cNvPr id="33" name="Text 30"/>
          <p:cNvSpPr txBox="1"/>
          <p:nvPr/>
        </p:nvSpPr>
        <p:spPr>
          <a:xfrm>
            <a:off x="6793992" y="3685032"/>
            <a:ext cx="4617720" cy="603504"/>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Volatility rank now and in the last three quarters, its 4-quarter average, return rank, drawdown rank.</a:t>
            </a:r>
            <a:endParaRPr lang="en-US" sz="1250" dirty="0"/>
          </a:p>
        </p:txBody>
      </p:sp>
      <p:sp>
        <p:nvSpPr>
          <p:cNvPr id="34" name="Text 31"/>
          <p:cNvSpPr txBox="1"/>
          <p:nvPr/>
        </p:nvSpPr>
        <p:spPr>
          <a:xfrm>
            <a:off x="6793992" y="4334256"/>
            <a:ext cx="4572000" cy="228600"/>
          </a:xfrm>
          <a:prstGeom prst="rect">
            <a:avLst/>
          </a:prstGeom>
          <a:noFill/>
          <a:ln/>
        </p:spPr>
        <p:txBody>
          <a:bodyPr wrap="square" lIns="0" tIns="0" rIns="0" bIns="0" rtlCol="0" anchor="t"/>
          <a:lstStyle/>
          <a:p>
            <a:pPr indent="0" marL="0">
              <a:buNone/>
            </a:pPr>
            <a:r>
              <a:rPr lang="en-US" sz="1050" b="1" spc="200" kern="0" dirty="0">
                <a:solidFill>
                  <a:srgbClr val="F5A524"/>
                </a:solidFill>
                <a:latin typeface="Calibri" pitchFamily="34" charset="0"/>
                <a:ea typeface="Calibri" pitchFamily="34" charset="-122"/>
                <a:cs typeface="Calibri" pitchFamily="34" charset="-120"/>
              </a:rPr>
              <a:t>RESULT (930 PREDICTIONS)</a:t>
            </a:r>
            <a:endParaRPr lang="en-US" sz="1050" dirty="0"/>
          </a:p>
        </p:txBody>
      </p:sp>
      <p:sp>
        <p:nvSpPr>
          <p:cNvPr id="35" name="Text 32"/>
          <p:cNvSpPr txBox="1"/>
          <p:nvPr/>
        </p:nvSpPr>
        <p:spPr>
          <a:xfrm>
            <a:off x="6793992" y="4581144"/>
            <a:ext cx="4617720" cy="603504"/>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Logistic Regression 61.2%, Random Forest 60.1%, “same as this quarter” baseline 56.7%.</a:t>
            </a:r>
            <a:endParaRPr lang="en-US" sz="1250" dirty="0"/>
          </a:p>
        </p:txBody>
      </p:sp>
      <p:sp>
        <p:nvSpPr>
          <p:cNvPr id="36" name="Text 33"/>
          <p:cNvSpPr txBox="1"/>
          <p:nvPr/>
        </p:nvSpPr>
        <p:spPr>
          <a:xfrm>
            <a:off x="6793992" y="5230368"/>
            <a:ext cx="4572000" cy="228600"/>
          </a:xfrm>
          <a:prstGeom prst="rect">
            <a:avLst/>
          </a:prstGeom>
          <a:noFill/>
          <a:ln/>
        </p:spPr>
        <p:txBody>
          <a:bodyPr wrap="square" lIns="0" tIns="0" rIns="0" bIns="0" rtlCol="0" anchor="t"/>
          <a:lstStyle/>
          <a:p>
            <a:pPr indent="0" marL="0">
              <a:buNone/>
            </a:pPr>
            <a:r>
              <a:rPr lang="en-US" sz="1050" b="1" spc="200" kern="0" dirty="0">
                <a:solidFill>
                  <a:srgbClr val="F5A524"/>
                </a:solidFill>
                <a:latin typeface="Calibri" pitchFamily="34" charset="0"/>
                <a:ea typeface="Calibri" pitchFamily="34" charset="-122"/>
                <a:cs typeface="Calibri" pitchFamily="34" charset="-120"/>
              </a:rPr>
              <a:t>FORECAST FOR OCT–DEC 2026</a:t>
            </a:r>
            <a:endParaRPr lang="en-US" sz="1050" dirty="0"/>
          </a:p>
        </p:txBody>
      </p:sp>
      <p:sp>
        <p:nvSpPr>
          <p:cNvPr id="37" name="Text 34"/>
          <p:cNvSpPr txBox="1"/>
          <p:nvPr/>
        </p:nvSpPr>
        <p:spPr>
          <a:xfrm>
            <a:off x="6793992" y="5477256"/>
            <a:ext cx="4617720" cy="603504"/>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11 funds High, 8 Medium, 11 Low.</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300" kern="0" dirty="0">
                <a:solidFill>
                  <a:srgbClr val="0E9F6E"/>
                </a:solidFill>
                <a:latin typeface="Calibri" pitchFamily="34" charset="0"/>
                <a:ea typeface="Calibri" pitchFamily="34" charset="-122"/>
                <a:cs typeface="Calibri" pitchFamily="34" charset="-120"/>
              </a:rPr>
              <a:t>16  ·  SERVING LAYER</a:t>
            </a:r>
            <a:endParaRPr lang="en-US" sz="1200" dirty="0"/>
          </a:p>
        </p:txBody>
      </p:sp>
      <p:sp>
        <p:nvSpPr>
          <p:cNvPr id="3" name="Text 1"/>
          <p:cNvSpPr txBox="1"/>
          <p:nvPr/>
        </p:nvSpPr>
        <p:spPr>
          <a:xfrm>
            <a:off x="548640" y="676656"/>
            <a:ext cx="11064240" cy="685800"/>
          </a:xfrm>
          <a:prstGeom prst="rect">
            <a:avLst/>
          </a:prstGeom>
          <a:noFill/>
          <a:ln/>
        </p:spPr>
        <p:txBody>
          <a:bodyPr wrap="square" lIns="0" tIns="0" rIns="0" bIns="0" rtlCol="0" anchor="ctr"/>
          <a:lstStyle/>
          <a:p>
            <a:pPr indent="0" marL="0">
              <a:buNone/>
            </a:pPr>
            <a:r>
              <a:rPr lang="en-US" sz="3000" b="1" dirty="0">
                <a:solidFill>
                  <a:srgbClr val="0B1F2A"/>
                </a:solidFill>
                <a:latin typeface="Arial" pitchFamily="34" charset="0"/>
                <a:ea typeface="Arial" pitchFamily="34" charset="-122"/>
                <a:cs typeface="Arial" pitchFamily="34" charset="-120"/>
              </a:rPr>
              <a:t>Secured API from the data lake to Power BI</a:t>
            </a:r>
            <a:endParaRPr lang="en-US" sz="3000" dirty="0"/>
          </a:p>
        </p:txBody>
      </p:sp>
      <p:sp>
        <p:nvSpPr>
          <p:cNvPr id="4" name="Text 2"/>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B75"/>
                </a:solidFill>
                <a:latin typeface="Calibri" pitchFamily="34" charset="0"/>
                <a:ea typeface="Calibri" pitchFamily="34" charset="-122"/>
                <a:cs typeface="Calibri" pitchFamily="34" charset="-120"/>
              </a:rPr>
              <a:t>Big Data Architecture  |  Stock Market &amp; Mutual Fund Risk Analytics</a:t>
            </a:r>
            <a:endParaRPr lang="en-US" sz="900" dirty="0"/>
          </a:p>
        </p:txBody>
      </p:sp>
      <p:sp>
        <p:nvSpPr>
          <p:cNvPr id="5" name="Text 3"/>
          <p:cNvSpPr txBox="1"/>
          <p:nvPr/>
        </p:nvSpPr>
        <p:spPr>
          <a:xfrm>
            <a:off x="11183112" y="6473952"/>
            <a:ext cx="457200" cy="228600"/>
          </a:xfrm>
          <a:prstGeom prst="rect">
            <a:avLst/>
          </a:prstGeom>
          <a:noFill/>
          <a:ln/>
        </p:spPr>
        <p:txBody>
          <a:bodyPr wrap="square" lIns="0" tIns="0" rIns="0" bIns="0" rtlCol="0" anchor="t"/>
          <a:lstStyle/>
          <a:p>
            <a:pPr algn="r" indent="0" marL="0">
              <a:buNone/>
            </a:pPr>
            <a:r>
              <a:rPr lang="en-US" sz="900" dirty="0">
                <a:solidFill>
                  <a:srgbClr val="5B6B75"/>
                </a:solidFill>
                <a:latin typeface="Calibri" pitchFamily="34" charset="0"/>
                <a:ea typeface="Calibri" pitchFamily="34" charset="-122"/>
                <a:cs typeface="Calibri" pitchFamily="34" charset="-120"/>
              </a:rPr>
              <a:t>17</a:t>
            </a:r>
            <a:endParaRPr lang="en-US" sz="900" dirty="0"/>
          </a:p>
        </p:txBody>
      </p:sp>
      <p:sp>
        <p:nvSpPr>
          <p:cNvPr id="6" name="Shape 4"/>
          <p:cNvSpPr/>
          <p:nvPr/>
        </p:nvSpPr>
        <p:spPr>
          <a:xfrm>
            <a:off x="548640" y="1645920"/>
            <a:ext cx="5394960" cy="2971800"/>
          </a:xfrm>
          <a:prstGeom prst="roundRect">
            <a:avLst>
              <a:gd name="adj" fmla="val 3692"/>
            </a:avLst>
          </a:prstGeom>
          <a:solidFill>
            <a:srgbClr val="F2F6F8"/>
          </a:solidFill>
          <a:ln w="12700">
            <a:solidFill>
              <a:srgbClr val="F2F6F8"/>
            </a:solidFill>
            <a:prstDash val="solid"/>
          </a:ln>
        </p:spPr>
      </p:sp>
      <p:sp>
        <p:nvSpPr>
          <p:cNvPr id="7" name="Shape 5"/>
          <p:cNvSpPr/>
          <p:nvPr/>
        </p:nvSpPr>
        <p:spPr>
          <a:xfrm>
            <a:off x="777240" y="1810512"/>
            <a:ext cx="502920" cy="502920"/>
          </a:xfrm>
          <a:prstGeom prst="ellipse">
            <a:avLst/>
          </a:prstGeom>
          <a:solidFill>
            <a:srgbClr val="0E9F6E"/>
          </a:solidFill>
          <a:ln w="12700">
            <a:solidFill>
              <a:srgbClr val="0E9F6E"/>
            </a:solidFill>
            <a:prstDash val="solid"/>
          </a:ln>
        </p:spPr>
      </p:sp>
      <p:pic>
        <p:nvPicPr>
          <p:cNvPr id="8" name="Image 0" descr="preencoded.png">    </p:cNvPr>
          <p:cNvPicPr>
            <a:picLocks noChangeAspect="1"/>
          </p:cNvPicPr>
          <p:nvPr/>
        </p:nvPicPr>
        <p:blipFill>
          <a:blip r:embed="rId1"/>
          <a:stretch>
            <a:fillRect/>
          </a:stretch>
        </p:blipFill>
        <p:spPr>
          <a:xfrm>
            <a:off x="907999" y="1941271"/>
            <a:ext cx="241402" cy="241402"/>
          </a:xfrm>
          <a:prstGeom prst="rect">
            <a:avLst/>
          </a:prstGeom>
        </p:spPr>
      </p:pic>
      <p:sp>
        <p:nvSpPr>
          <p:cNvPr id="9" name="Text 6"/>
          <p:cNvSpPr txBox="1"/>
          <p:nvPr/>
        </p:nvSpPr>
        <p:spPr>
          <a:xfrm>
            <a:off x="1463040" y="1874520"/>
            <a:ext cx="4389120" cy="365760"/>
          </a:xfrm>
          <a:prstGeom prst="rect">
            <a:avLst/>
          </a:prstGeom>
          <a:noFill/>
          <a:ln/>
        </p:spPr>
        <p:txBody>
          <a:bodyPr wrap="square" lIns="0" tIns="0" rIns="0" bIns="0" rtlCol="0" anchor="ctr"/>
          <a:lstStyle/>
          <a:p>
            <a:pPr indent="0" marL="0">
              <a:buNone/>
            </a:pPr>
            <a:r>
              <a:rPr lang="en-US" sz="1500" b="1" dirty="0">
                <a:solidFill>
                  <a:srgbClr val="0B1F2A"/>
                </a:solidFill>
                <a:latin typeface="Calibri" pitchFamily="34" charset="0"/>
                <a:ea typeface="Calibri" pitchFamily="34" charset="-122"/>
                <a:cs typeface="Calibri" pitchFamily="34" charset="-120"/>
              </a:rPr>
              <a:t>FastAPI endpoints (serve the Gold tables)</a:t>
            </a:r>
            <a:endParaRPr lang="en-US" sz="1500" dirty="0"/>
          </a:p>
        </p:txBody>
      </p:sp>
      <p:sp>
        <p:nvSpPr>
          <p:cNvPr id="10" name="Text 7"/>
          <p:cNvSpPr txBox="1"/>
          <p:nvPr/>
        </p:nvSpPr>
        <p:spPr>
          <a:xfrm>
            <a:off x="822960" y="2450592"/>
            <a:ext cx="5029200" cy="2057400"/>
          </a:xfrm>
          <a:prstGeom prst="rect">
            <a:avLst/>
          </a:prstGeom>
          <a:noFill/>
          <a:ln/>
        </p:spPr>
        <p:txBody>
          <a:bodyPr wrap="square" lIns="0" tIns="0" rIns="0" bIns="0" rtlCol="0" anchor="t"/>
          <a:lstStyle/>
          <a:p>
            <a:pPr indent="0" marL="0">
              <a:spcAft>
                <a:spcPts val="300"/>
              </a:spcAft>
              <a:buNone/>
            </a:pPr>
            <a:r>
              <a:rPr lang="en-US" sz="1150" dirty="0">
                <a:solidFill>
                  <a:srgbClr val="0B1F2A"/>
                </a:solidFill>
                <a:latin typeface="Courier New" pitchFamily="34" charset="0"/>
                <a:ea typeface="Courier New" pitchFamily="34" charset="-122"/>
                <a:cs typeface="Courier New" pitchFamily="34" charset="-120"/>
              </a:rPr>
              <a:t>GET /funds        /funds/{code}/metrics</a:t>
            </a:r>
            <a:endParaRPr lang="en-US" sz="1150" dirty="0"/>
          </a:p>
          <a:p>
            <a:pPr indent="0" marL="0">
              <a:spcAft>
                <a:spcPts val="300"/>
              </a:spcAft>
              <a:buNone/>
            </a:pPr>
            <a:r>
              <a:rPr lang="en-US" sz="1150" dirty="0">
                <a:solidFill>
                  <a:srgbClr val="0B1F2A"/>
                </a:solidFill>
                <a:latin typeface="Courier New" pitchFamily="34" charset="0"/>
                <a:ea typeface="Courier New" pitchFamily="34" charset="-122"/>
                <a:cs typeface="Courier New" pitchFamily="34" charset="-120"/>
              </a:rPr>
              <a:t>GET /top-funds    /risk-scores</a:t>
            </a:r>
            <a:endParaRPr lang="en-US" sz="1150" dirty="0"/>
          </a:p>
          <a:p>
            <a:pPr indent="0" marL="0">
              <a:spcAft>
                <a:spcPts val="300"/>
              </a:spcAft>
              <a:buNone/>
            </a:pPr>
            <a:r>
              <a:rPr lang="en-US" sz="1150" dirty="0">
                <a:solidFill>
                  <a:srgbClr val="0B1F2A"/>
                </a:solidFill>
                <a:latin typeface="Courier New" pitchFamily="34" charset="0"/>
                <a:ea typeface="Courier New" pitchFamily="34" charset="-122"/>
                <a:cs typeface="Courier New" pitchFamily="34" charset="-120"/>
              </a:rPr>
              <a:t>GET /holding-period   /nav-monthly</a:t>
            </a:r>
            <a:endParaRPr lang="en-US" sz="1150" dirty="0"/>
          </a:p>
          <a:p>
            <a:pPr indent="0" marL="0">
              <a:spcAft>
                <a:spcPts val="300"/>
              </a:spcAft>
              <a:buNone/>
            </a:pPr>
            <a:r>
              <a:rPr lang="en-US" sz="1150" dirty="0">
                <a:solidFill>
                  <a:srgbClr val="0B1F2A"/>
                </a:solidFill>
                <a:latin typeface="Courier New" pitchFamily="34" charset="0"/>
                <a:ea typeface="Courier New" pitchFamily="34" charset="-122"/>
                <a:cs typeface="Courier New" pitchFamily="34" charset="-120"/>
              </a:rPr>
              <a:t>GET /models/comparison   /models/by-year</a:t>
            </a:r>
            <a:endParaRPr lang="en-US" sz="1150" dirty="0"/>
          </a:p>
          <a:p>
            <a:pPr indent="0" marL="0">
              <a:spcAft>
                <a:spcPts val="300"/>
              </a:spcAft>
              <a:buNone/>
            </a:pPr>
            <a:r>
              <a:rPr lang="en-US" sz="1150" dirty="0">
                <a:solidFill>
                  <a:srgbClr val="0B1F2A"/>
                </a:solidFill>
                <a:latin typeface="Courier New" pitchFamily="34" charset="0"/>
                <a:ea typeface="Courier New" pitchFamily="34" charset="-122"/>
                <a:cs typeface="Courier New" pitchFamily="34" charset="-120"/>
              </a:rPr>
              <a:t>GET /models/predictions</a:t>
            </a:r>
            <a:endParaRPr lang="en-US" sz="1150" dirty="0"/>
          </a:p>
          <a:p>
            <a:pPr indent="0" marL="0">
              <a:spcAft>
                <a:spcPts val="300"/>
              </a:spcAft>
              <a:buNone/>
            </a:pPr>
            <a:r>
              <a:rPr lang="en-US" sz="1150" dirty="0">
                <a:solidFill>
                  <a:srgbClr val="0B1F2A"/>
                </a:solidFill>
                <a:latin typeface="Courier New" pitchFamily="34" charset="0"/>
                <a:ea typeface="Courier New" pitchFamily="34" charset="-122"/>
                <a:cs typeface="Courier New" pitchFamily="34" charset="-120"/>
              </a:rPr>
              <a:t>GET /risk-model/comparison   /risk-prediction</a:t>
            </a:r>
            <a:endParaRPr lang="en-US" sz="1150" dirty="0"/>
          </a:p>
          <a:p>
            <a:pPr indent="0" marL="0">
              <a:spcAft>
                <a:spcPts val="300"/>
              </a:spcAft>
              <a:buNone/>
            </a:pPr>
            <a:r>
              <a:rPr lang="en-US" sz="1150" dirty="0">
                <a:solidFill>
                  <a:srgbClr val="0B1F2A"/>
                </a:solidFill>
                <a:latin typeface="Courier New" pitchFamily="34" charset="0"/>
                <a:ea typeface="Courier New" pitchFamily="34" charset="-122"/>
                <a:cs typeface="Courier New" pitchFamily="34" charset="-120"/>
              </a:rPr>
              <a:t>GET /stocks       /stocks/debt-history</a:t>
            </a:r>
            <a:endParaRPr lang="en-US" sz="1150" dirty="0"/>
          </a:p>
          <a:p>
            <a:pPr indent="0" marL="0">
              <a:spcAft>
                <a:spcPts val="300"/>
              </a:spcAft>
              <a:buNone/>
            </a:pPr>
            <a:r>
              <a:rPr lang="en-US" sz="1150" dirty="0">
                <a:solidFill>
                  <a:srgbClr val="0B1F2A"/>
                </a:solidFill>
                <a:latin typeface="Courier New" pitchFamily="34" charset="0"/>
                <a:ea typeface="Courier New" pitchFamily="34" charset="-122"/>
                <a:cs typeface="Courier New" pitchFamily="34" charset="-120"/>
              </a:rPr>
              <a:t>GET /indices      /indices/monthly</a:t>
            </a:r>
            <a:endParaRPr lang="en-US" sz="1150" dirty="0"/>
          </a:p>
        </p:txBody>
      </p:sp>
      <p:sp>
        <p:nvSpPr>
          <p:cNvPr id="11" name="Shape 8"/>
          <p:cNvSpPr/>
          <p:nvPr/>
        </p:nvSpPr>
        <p:spPr>
          <a:xfrm>
            <a:off x="548640" y="4754880"/>
            <a:ext cx="384048" cy="384048"/>
          </a:xfrm>
          <a:prstGeom prst="ellipse">
            <a:avLst/>
          </a:prstGeom>
          <a:solidFill>
            <a:srgbClr val="E6F5EE"/>
          </a:solidFill>
          <a:ln w="12700">
            <a:solidFill>
              <a:srgbClr val="E6F5EE"/>
            </a:solidFill>
            <a:prstDash val="solid"/>
          </a:ln>
        </p:spPr>
      </p:sp>
      <p:pic>
        <p:nvPicPr>
          <p:cNvPr id="12" name="Image 1" descr="preencoded.png">    </p:cNvPr>
          <p:cNvPicPr>
            <a:picLocks noChangeAspect="1"/>
          </p:cNvPicPr>
          <p:nvPr/>
        </p:nvPicPr>
        <p:blipFill>
          <a:blip r:embed="rId2"/>
          <a:stretch>
            <a:fillRect/>
          </a:stretch>
        </p:blipFill>
        <p:spPr>
          <a:xfrm>
            <a:off x="648492" y="4854732"/>
            <a:ext cx="184343" cy="184343"/>
          </a:xfrm>
          <a:prstGeom prst="rect">
            <a:avLst/>
          </a:prstGeom>
        </p:spPr>
      </p:pic>
      <p:sp>
        <p:nvSpPr>
          <p:cNvPr id="13" name="Text 9"/>
          <p:cNvSpPr txBox="1"/>
          <p:nvPr/>
        </p:nvSpPr>
        <p:spPr>
          <a:xfrm>
            <a:off x="1078992" y="4754880"/>
            <a:ext cx="4846320" cy="384048"/>
          </a:xfrm>
          <a:prstGeom prst="rect">
            <a:avLst/>
          </a:prstGeom>
          <a:noFill/>
          <a:ln/>
        </p:spPr>
        <p:txBody>
          <a:bodyPr wrap="square" lIns="0" tIns="0" rIns="0" bIns="0" rtlCol="0" anchor="ctr"/>
          <a:lstStyle/>
          <a:p>
            <a:pPr indent="0" marL="0">
              <a:buNone/>
            </a:pPr>
            <a:r>
              <a:rPr lang="en-US" sz="1250" dirty="0">
                <a:solidFill>
                  <a:srgbClr val="1B2B34"/>
                </a:solidFill>
                <a:latin typeface="Calibri" pitchFamily="34" charset="0"/>
                <a:ea typeface="Calibri" pitchFamily="34" charset="-122"/>
                <a:cs typeface="Calibri" pitchFamily="34" charset="-120"/>
              </a:rPr>
              <a:t>Every request carries an X-API-Key header; a wrong key gets 401.</a:t>
            </a:r>
            <a:endParaRPr lang="en-US" sz="1250" dirty="0"/>
          </a:p>
        </p:txBody>
      </p:sp>
      <p:sp>
        <p:nvSpPr>
          <p:cNvPr id="14" name="Shape 10"/>
          <p:cNvSpPr/>
          <p:nvPr/>
        </p:nvSpPr>
        <p:spPr>
          <a:xfrm>
            <a:off x="548640" y="5239512"/>
            <a:ext cx="384048" cy="384048"/>
          </a:xfrm>
          <a:prstGeom prst="ellipse">
            <a:avLst/>
          </a:prstGeom>
          <a:solidFill>
            <a:srgbClr val="E6F5EE"/>
          </a:solidFill>
          <a:ln w="12700">
            <a:solidFill>
              <a:srgbClr val="E6F5EE"/>
            </a:solidFill>
            <a:prstDash val="solid"/>
          </a:ln>
        </p:spPr>
      </p:sp>
      <p:pic>
        <p:nvPicPr>
          <p:cNvPr id="15" name="Image 2" descr="preencoded.png">    </p:cNvPr>
          <p:cNvPicPr>
            <a:picLocks noChangeAspect="1"/>
          </p:cNvPicPr>
          <p:nvPr/>
        </p:nvPicPr>
        <p:blipFill>
          <a:blip r:embed="rId3"/>
          <a:stretch>
            <a:fillRect/>
          </a:stretch>
        </p:blipFill>
        <p:spPr>
          <a:xfrm>
            <a:off x="648492" y="5339364"/>
            <a:ext cx="184343" cy="184343"/>
          </a:xfrm>
          <a:prstGeom prst="rect">
            <a:avLst/>
          </a:prstGeom>
        </p:spPr>
      </p:pic>
      <p:sp>
        <p:nvSpPr>
          <p:cNvPr id="16" name="Text 11"/>
          <p:cNvSpPr txBox="1"/>
          <p:nvPr/>
        </p:nvSpPr>
        <p:spPr>
          <a:xfrm>
            <a:off x="1078992" y="5239512"/>
            <a:ext cx="4846320" cy="384048"/>
          </a:xfrm>
          <a:prstGeom prst="rect">
            <a:avLst/>
          </a:prstGeom>
          <a:noFill/>
          <a:ln/>
        </p:spPr>
        <p:txBody>
          <a:bodyPr wrap="square" lIns="0" tIns="0" rIns="0" bIns="0" rtlCol="0" anchor="ctr"/>
          <a:lstStyle/>
          <a:p>
            <a:pPr indent="0" marL="0">
              <a:buNone/>
            </a:pPr>
            <a:r>
              <a:rPr lang="en-US" sz="1250" dirty="0">
                <a:solidFill>
                  <a:srgbClr val="1B2B34"/>
                </a:solidFill>
                <a:latin typeface="Calibri" pitchFamily="34" charset="0"/>
                <a:ea typeface="Calibri" pitchFamily="34" charset="-122"/>
                <a:cs typeface="Calibri" pitchFamily="34" charset="-120"/>
              </a:rPr>
              <a:t>The key is generated once and kept in a local file, not in the code.</a:t>
            </a:r>
            <a:endParaRPr lang="en-US" sz="1250" dirty="0"/>
          </a:p>
        </p:txBody>
      </p:sp>
      <p:sp>
        <p:nvSpPr>
          <p:cNvPr id="17" name="Shape 12"/>
          <p:cNvSpPr/>
          <p:nvPr/>
        </p:nvSpPr>
        <p:spPr>
          <a:xfrm>
            <a:off x="548640" y="5724144"/>
            <a:ext cx="384048" cy="384048"/>
          </a:xfrm>
          <a:prstGeom prst="ellipse">
            <a:avLst/>
          </a:prstGeom>
          <a:solidFill>
            <a:srgbClr val="E6F5EE"/>
          </a:solidFill>
          <a:ln w="12700">
            <a:solidFill>
              <a:srgbClr val="E6F5EE"/>
            </a:solidFill>
            <a:prstDash val="solid"/>
          </a:ln>
        </p:spPr>
      </p:sp>
      <p:pic>
        <p:nvPicPr>
          <p:cNvPr id="18" name="Image 3" descr="preencoded.png">    </p:cNvPr>
          <p:cNvPicPr>
            <a:picLocks noChangeAspect="1"/>
          </p:cNvPicPr>
          <p:nvPr/>
        </p:nvPicPr>
        <p:blipFill>
          <a:blip r:embed="rId4"/>
          <a:stretch>
            <a:fillRect/>
          </a:stretch>
        </p:blipFill>
        <p:spPr>
          <a:xfrm>
            <a:off x="648492" y="5823996"/>
            <a:ext cx="184343" cy="184343"/>
          </a:xfrm>
          <a:prstGeom prst="rect">
            <a:avLst/>
          </a:prstGeom>
        </p:spPr>
      </p:pic>
      <p:sp>
        <p:nvSpPr>
          <p:cNvPr id="19" name="Text 13"/>
          <p:cNvSpPr txBox="1"/>
          <p:nvPr/>
        </p:nvSpPr>
        <p:spPr>
          <a:xfrm>
            <a:off x="1078992" y="5724144"/>
            <a:ext cx="4846320" cy="384048"/>
          </a:xfrm>
          <a:prstGeom prst="rect">
            <a:avLst/>
          </a:prstGeom>
          <a:noFill/>
          <a:ln/>
        </p:spPr>
        <p:txBody>
          <a:bodyPr wrap="square" lIns="0" tIns="0" rIns="0" bIns="0" rtlCol="0" anchor="ctr"/>
          <a:lstStyle/>
          <a:p>
            <a:pPr indent="0" marL="0">
              <a:buNone/>
            </a:pPr>
            <a:r>
              <a:rPr lang="en-US" sz="1250" dirty="0">
                <a:solidFill>
                  <a:srgbClr val="1B2B34"/>
                </a:solidFill>
                <a:latin typeface="Calibri" pitchFamily="34" charset="0"/>
                <a:ea typeface="Calibri" pitchFamily="34" charset="-122"/>
                <a:cs typeface="Calibri" pitchFamily="34" charset="-120"/>
              </a:rPr>
              <a:t>The same API serves a website at localhost:8000; public hosting is next.</a:t>
            </a:r>
            <a:endParaRPr lang="en-US" sz="1250" dirty="0"/>
          </a:p>
        </p:txBody>
      </p:sp>
      <p:sp>
        <p:nvSpPr>
          <p:cNvPr id="20" name="Shape 14"/>
          <p:cNvSpPr/>
          <p:nvPr/>
        </p:nvSpPr>
        <p:spPr>
          <a:xfrm>
            <a:off x="6217920" y="1645920"/>
            <a:ext cx="5422392" cy="3611880"/>
          </a:xfrm>
          <a:prstGeom prst="roundRect">
            <a:avLst>
              <a:gd name="adj" fmla="val 3038"/>
            </a:avLst>
          </a:prstGeom>
          <a:solidFill>
            <a:srgbClr val="0B1F2A"/>
          </a:solidFill>
          <a:ln w="12700">
            <a:solidFill>
              <a:srgbClr val="0B1F2A"/>
            </a:solidFill>
            <a:prstDash val="solid"/>
          </a:ln>
          <a:effectLst>
            <a:outerShdw sx="100000" sy="100000" kx="0" ky="0" algn="bl" rotWithShape="0" blurRad="101600" dist="25400" dir="5400000">
              <a:srgbClr val="000000">
                <a:alpha val="10000"/>
              </a:srgbClr>
            </a:outerShdw>
          </a:effectLst>
        </p:spPr>
      </p:sp>
      <p:sp>
        <p:nvSpPr>
          <p:cNvPr id="21" name="Text 15"/>
          <p:cNvSpPr txBox="1"/>
          <p:nvPr/>
        </p:nvSpPr>
        <p:spPr>
          <a:xfrm>
            <a:off x="6492240" y="1828800"/>
            <a:ext cx="4937760" cy="320040"/>
          </a:xfrm>
          <a:prstGeom prst="rect">
            <a:avLst/>
          </a:prstGeom>
          <a:noFill/>
          <a:ln/>
        </p:spPr>
        <p:txBody>
          <a:bodyPr wrap="square" lIns="0" tIns="0" rIns="0" bIns="0" rtlCol="0" anchor="t"/>
          <a:lstStyle/>
          <a:p>
            <a:pPr indent="0" marL="0">
              <a:buNone/>
            </a:pPr>
            <a:r>
              <a:rPr lang="en-US" sz="1300" b="1" dirty="0">
                <a:solidFill>
                  <a:srgbClr val="F5A524"/>
                </a:solidFill>
                <a:latin typeface="Calibri" pitchFamily="34" charset="0"/>
                <a:ea typeface="Calibri" pitchFamily="34" charset="-122"/>
                <a:cs typeface="Calibri" pitchFamily="34" charset="-120"/>
              </a:rPr>
              <a:t>Power Query (M) connection used in Power BI</a:t>
            </a:r>
            <a:endParaRPr lang="en-US" sz="1300" dirty="0"/>
          </a:p>
        </p:txBody>
      </p:sp>
      <p:sp>
        <p:nvSpPr>
          <p:cNvPr id="22" name="Text 16"/>
          <p:cNvSpPr txBox="1"/>
          <p:nvPr/>
        </p:nvSpPr>
        <p:spPr>
          <a:xfrm>
            <a:off x="6492240" y="2286000"/>
            <a:ext cx="5029200" cy="2834640"/>
          </a:xfrm>
          <a:prstGeom prst="rect">
            <a:avLst/>
          </a:prstGeom>
          <a:noFill/>
          <a:ln/>
        </p:spPr>
        <p:txBody>
          <a:bodyPr wrap="square" lIns="0" tIns="0" rIns="0" bIns="0" rtlCol="0" anchor="t"/>
          <a:lstStyle/>
          <a:p>
            <a:pPr indent="0" marL="0">
              <a:buNone/>
            </a:pPr>
            <a:r>
              <a:rPr lang="en-US" sz="1150" dirty="0">
                <a:solidFill>
                  <a:srgbClr val="D7E6EC"/>
                </a:solidFill>
                <a:latin typeface="Courier New" pitchFamily="34" charset="0"/>
                <a:ea typeface="Courier New" pitchFamily="34" charset="-122"/>
                <a:cs typeface="Courier New" pitchFamily="34" charset="-120"/>
              </a:rPr>
              <a:t>let</a:t>
            </a:r>
            <a:endParaRPr lang="en-US" sz="1150" dirty="0"/>
          </a:p>
          <a:p>
            <a:pPr indent="0" marL="0">
              <a:buNone/>
            </a:pPr>
            <a:r>
              <a:rPr lang="en-US" sz="1150" dirty="0">
                <a:solidFill>
                  <a:srgbClr val="D7E6EC"/>
                </a:solidFill>
                <a:latin typeface="Courier New" pitchFamily="34" charset="0"/>
                <a:ea typeface="Courier New" pitchFamily="34" charset="-122"/>
                <a:cs typeface="Courier New" pitchFamily="34" charset="-120"/>
              </a:rPr>
              <a:t>  Source = Json.Document(</a:t>
            </a:r>
            <a:endParaRPr lang="en-US" sz="1150" dirty="0"/>
          </a:p>
          <a:p>
            <a:pPr indent="0" marL="0">
              <a:buNone/>
            </a:pPr>
            <a:r>
              <a:rPr lang="en-US" sz="1150" dirty="0">
                <a:solidFill>
                  <a:srgbClr val="D7E6EC"/>
                </a:solidFill>
                <a:latin typeface="Courier New" pitchFamily="34" charset="0"/>
                <a:ea typeface="Courier New" pitchFamily="34" charset="-122"/>
                <a:cs typeface="Courier New" pitchFamily="34" charset="-120"/>
              </a:rPr>
              <a:t>    Web.Contents("http://localhost:8000", [</a:t>
            </a:r>
            <a:endParaRPr lang="en-US" sz="1150" dirty="0"/>
          </a:p>
          <a:p>
            <a:pPr indent="0" marL="0">
              <a:buNone/>
            </a:pPr>
            <a:r>
              <a:rPr lang="en-US" sz="1150" dirty="0">
                <a:solidFill>
                  <a:srgbClr val="D7E6EC"/>
                </a:solidFill>
                <a:latin typeface="Courier New" pitchFamily="34" charset="0"/>
                <a:ea typeface="Courier New" pitchFamily="34" charset="-122"/>
                <a:cs typeface="Courier New" pitchFamily="34" charset="-120"/>
              </a:rPr>
              <a:t>      RelativePath = "risk-scores",</a:t>
            </a:r>
            <a:endParaRPr lang="en-US" sz="1150" dirty="0"/>
          </a:p>
          <a:p>
            <a:pPr indent="0" marL="0">
              <a:buNone/>
            </a:pPr>
            <a:r>
              <a:rPr lang="en-US" sz="1150" dirty="0">
                <a:solidFill>
                  <a:srgbClr val="D7E6EC"/>
                </a:solidFill>
                <a:latin typeface="Courier New" pitchFamily="34" charset="0"/>
                <a:ea typeface="Courier New" pitchFamily="34" charset="-122"/>
                <a:cs typeface="Courier New" pitchFamily="34" charset="-120"/>
              </a:rPr>
              <a:t>      Headers = [#"X-API-Key" = "********"]</a:t>
            </a:r>
            <a:endParaRPr lang="en-US" sz="1150" dirty="0"/>
          </a:p>
          <a:p>
            <a:pPr indent="0" marL="0">
              <a:buNone/>
            </a:pPr>
            <a:r>
              <a:rPr lang="en-US" sz="1150" dirty="0">
                <a:solidFill>
                  <a:srgbClr val="D7E6EC"/>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D7E6EC"/>
                </a:solidFill>
                <a:latin typeface="Courier New" pitchFamily="34" charset="0"/>
                <a:ea typeface="Courier New" pitchFamily="34" charset="-122"/>
                <a:cs typeface="Courier New" pitchFamily="34" charset="-120"/>
              </a:rPr>
              <a:t>  Result = Table.FromRecords(Source)</a:t>
            </a:r>
            <a:endParaRPr lang="en-US" sz="1150" dirty="0"/>
          </a:p>
          <a:p>
            <a:pPr indent="0" marL="0">
              <a:buNone/>
            </a:pPr>
            <a:r>
              <a:rPr lang="en-US" sz="1150" dirty="0">
                <a:solidFill>
                  <a:srgbClr val="D7E6EC"/>
                </a:solidFill>
                <a:latin typeface="Courier New" pitchFamily="34" charset="0"/>
                <a:ea typeface="Courier New" pitchFamily="34" charset="-122"/>
                <a:cs typeface="Courier New" pitchFamily="34" charset="-120"/>
              </a:rPr>
              <a:t>in</a:t>
            </a:r>
            <a:endParaRPr lang="en-US" sz="1150" dirty="0"/>
          </a:p>
          <a:p>
            <a:pPr indent="0" marL="0">
              <a:buNone/>
            </a:pPr>
            <a:r>
              <a:rPr lang="en-US" sz="1150" dirty="0">
                <a:solidFill>
                  <a:srgbClr val="D7E6EC"/>
                </a:solidFill>
                <a:latin typeface="Courier New" pitchFamily="34" charset="0"/>
                <a:ea typeface="Courier New" pitchFamily="34" charset="-122"/>
                <a:cs typeface="Courier New" pitchFamily="34" charset="-120"/>
              </a:rPr>
              <a:t>  Result</a:t>
            </a:r>
            <a:endParaRPr lang="en-US" sz="1150" dirty="0"/>
          </a:p>
        </p:txBody>
      </p:sp>
      <p:sp>
        <p:nvSpPr>
          <p:cNvPr id="23" name="Text 17"/>
          <p:cNvSpPr txBox="1"/>
          <p:nvPr/>
        </p:nvSpPr>
        <p:spPr>
          <a:xfrm>
            <a:off x="6217920" y="5440680"/>
            <a:ext cx="5422392" cy="731520"/>
          </a:xfrm>
          <a:prstGeom prst="rect">
            <a:avLst/>
          </a:prstGeom>
          <a:noFill/>
          <a:ln/>
        </p:spPr>
        <p:txBody>
          <a:bodyPr wrap="square" lIns="0" tIns="0" rIns="0" bIns="0" rtlCol="0" anchor="t"/>
          <a:lstStyle/>
          <a:p>
            <a:pPr indent="0" marL="0">
              <a:buNone/>
            </a:pPr>
            <a:r>
              <a:rPr lang="en-US" sz="1250" i="1" dirty="0">
                <a:solidFill>
                  <a:srgbClr val="1F6F8B"/>
                </a:solidFill>
                <a:latin typeface="Calibri" pitchFamily="34" charset="0"/>
                <a:ea typeface="Calibri" pitchFamily="34" charset="-122"/>
                <a:cs typeface="Calibri" pitchFamily="34" charset="-120"/>
              </a:rPr>
              <a:t>One query per table; only RelativePath changes. The key is masked here. Power BI reads the API, never HDFS directly.</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300" kern="0" dirty="0">
                <a:solidFill>
                  <a:srgbClr val="0E9F6E"/>
                </a:solidFill>
                <a:latin typeface="Calibri" pitchFamily="34" charset="0"/>
                <a:ea typeface="Calibri" pitchFamily="34" charset="-122"/>
                <a:cs typeface="Calibri" pitchFamily="34" charset="-120"/>
              </a:rPr>
              <a:t>17  ·  VISUALIZATION</a:t>
            </a:r>
            <a:endParaRPr lang="en-US" sz="1200" dirty="0"/>
          </a:p>
        </p:txBody>
      </p:sp>
      <p:sp>
        <p:nvSpPr>
          <p:cNvPr id="3" name="Text 1"/>
          <p:cNvSpPr txBox="1"/>
          <p:nvPr/>
        </p:nvSpPr>
        <p:spPr>
          <a:xfrm>
            <a:off x="548640" y="676656"/>
            <a:ext cx="11064240" cy="685800"/>
          </a:xfrm>
          <a:prstGeom prst="rect">
            <a:avLst/>
          </a:prstGeom>
          <a:noFill/>
          <a:ln/>
        </p:spPr>
        <p:txBody>
          <a:bodyPr wrap="square" lIns="0" tIns="0" rIns="0" bIns="0" rtlCol="0" anchor="ctr"/>
          <a:lstStyle/>
          <a:p>
            <a:pPr indent="0" marL="0">
              <a:buNone/>
            </a:pPr>
            <a:r>
              <a:rPr lang="en-US" sz="3000" b="1" dirty="0">
                <a:solidFill>
                  <a:srgbClr val="0B1F2A"/>
                </a:solidFill>
                <a:latin typeface="Arial" pitchFamily="34" charset="0"/>
                <a:ea typeface="Arial" pitchFamily="34" charset="-122"/>
                <a:cs typeface="Arial" pitchFamily="34" charset="-120"/>
              </a:rPr>
              <a:t>Power BI dashboard: four pages</a:t>
            </a:r>
            <a:endParaRPr lang="en-US" sz="3000" dirty="0"/>
          </a:p>
        </p:txBody>
      </p:sp>
      <p:sp>
        <p:nvSpPr>
          <p:cNvPr id="4" name="Text 2"/>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B75"/>
                </a:solidFill>
                <a:latin typeface="Calibri" pitchFamily="34" charset="0"/>
                <a:ea typeface="Calibri" pitchFamily="34" charset="-122"/>
                <a:cs typeface="Calibri" pitchFamily="34" charset="-120"/>
              </a:rPr>
              <a:t>Big Data Architecture  |  Stock Market &amp; Mutual Fund Risk Analytics</a:t>
            </a:r>
            <a:endParaRPr lang="en-US" sz="900" dirty="0"/>
          </a:p>
        </p:txBody>
      </p:sp>
      <p:sp>
        <p:nvSpPr>
          <p:cNvPr id="5" name="Text 3"/>
          <p:cNvSpPr txBox="1"/>
          <p:nvPr/>
        </p:nvSpPr>
        <p:spPr>
          <a:xfrm>
            <a:off x="11183112" y="6473952"/>
            <a:ext cx="457200" cy="228600"/>
          </a:xfrm>
          <a:prstGeom prst="rect">
            <a:avLst/>
          </a:prstGeom>
          <a:noFill/>
          <a:ln/>
        </p:spPr>
        <p:txBody>
          <a:bodyPr wrap="square" lIns="0" tIns="0" rIns="0" bIns="0" rtlCol="0" anchor="t"/>
          <a:lstStyle/>
          <a:p>
            <a:pPr algn="r" indent="0" marL="0">
              <a:buNone/>
            </a:pPr>
            <a:r>
              <a:rPr lang="en-US" sz="900" dirty="0">
                <a:solidFill>
                  <a:srgbClr val="5B6B75"/>
                </a:solidFill>
                <a:latin typeface="Calibri" pitchFamily="34" charset="0"/>
                <a:ea typeface="Calibri" pitchFamily="34" charset="-122"/>
                <a:cs typeface="Calibri" pitchFamily="34" charset="-120"/>
              </a:rPr>
              <a:t>18</a:t>
            </a:r>
            <a:endParaRPr lang="en-US" sz="900" dirty="0"/>
          </a:p>
        </p:txBody>
      </p:sp>
      <p:sp>
        <p:nvSpPr>
          <p:cNvPr id="6" name="Shape 4"/>
          <p:cNvSpPr/>
          <p:nvPr/>
        </p:nvSpPr>
        <p:spPr>
          <a:xfrm>
            <a:off x="548640" y="1645920"/>
            <a:ext cx="5212080" cy="4526280"/>
          </a:xfrm>
          <a:prstGeom prst="roundRect">
            <a:avLst>
              <a:gd name="adj" fmla="val 2424"/>
            </a:avLst>
          </a:prstGeom>
          <a:solidFill>
            <a:srgbClr val="F2F6F8"/>
          </a:solidFill>
          <a:ln w="12700">
            <a:solidFill>
              <a:srgbClr val="F2F6F8"/>
            </a:solidFill>
            <a:prstDash val="solid"/>
          </a:ln>
        </p:spPr>
      </p:sp>
      <p:sp>
        <p:nvSpPr>
          <p:cNvPr id="7" name="Text 5"/>
          <p:cNvSpPr txBox="1"/>
          <p:nvPr/>
        </p:nvSpPr>
        <p:spPr>
          <a:xfrm>
            <a:off x="777240" y="1783080"/>
            <a:ext cx="3657600" cy="256032"/>
          </a:xfrm>
          <a:prstGeom prst="rect">
            <a:avLst/>
          </a:prstGeom>
          <a:noFill/>
          <a:ln/>
        </p:spPr>
        <p:txBody>
          <a:bodyPr wrap="square" lIns="0" tIns="0" rIns="0" bIns="0" rtlCol="0" anchor="t"/>
          <a:lstStyle/>
          <a:p>
            <a:pPr indent="0" marL="0">
              <a:buNone/>
            </a:pPr>
            <a:r>
              <a:rPr lang="en-US" sz="1050" b="1" spc="200" kern="0" dirty="0">
                <a:solidFill>
                  <a:srgbClr val="5B6B75"/>
                </a:solidFill>
                <a:latin typeface="Calibri" pitchFamily="34" charset="0"/>
                <a:ea typeface="Calibri" pitchFamily="34" charset="-122"/>
                <a:cs typeface="Calibri" pitchFamily="34" charset="-120"/>
              </a:rPr>
              <a:t>HOME PAGE LAYOUT</a:t>
            </a:r>
            <a:endParaRPr lang="en-US" sz="1050" dirty="0"/>
          </a:p>
        </p:txBody>
      </p:sp>
      <p:sp>
        <p:nvSpPr>
          <p:cNvPr id="8" name="Shape 6"/>
          <p:cNvSpPr/>
          <p:nvPr/>
        </p:nvSpPr>
        <p:spPr>
          <a:xfrm>
            <a:off x="777240" y="2148840"/>
            <a:ext cx="2286000" cy="3840480"/>
          </a:xfrm>
          <a:prstGeom prst="roundRect">
            <a:avLst>
              <a:gd name="adj" fmla="val 2400"/>
            </a:avLst>
          </a:prstGeom>
          <a:solidFill>
            <a:srgbClr val="FFFFFF"/>
          </a:solidFill>
          <a:ln w="12700">
            <a:solidFill>
              <a:srgbClr val="D6E0E5"/>
            </a:solidFill>
            <a:prstDash val="solid"/>
          </a:ln>
        </p:spPr>
      </p:sp>
      <p:sp>
        <p:nvSpPr>
          <p:cNvPr id="9" name="Text 7"/>
          <p:cNvSpPr txBox="1"/>
          <p:nvPr/>
        </p:nvSpPr>
        <p:spPr>
          <a:xfrm>
            <a:off x="886968" y="2212848"/>
            <a:ext cx="2103120" cy="228600"/>
          </a:xfrm>
          <a:prstGeom prst="rect">
            <a:avLst/>
          </a:prstGeom>
          <a:noFill/>
          <a:ln/>
        </p:spPr>
        <p:txBody>
          <a:bodyPr wrap="square" lIns="0" tIns="0" rIns="0" bIns="0" rtlCol="0" anchor="t"/>
          <a:lstStyle/>
          <a:p>
            <a:pPr indent="0" marL="0">
              <a:buNone/>
            </a:pPr>
            <a:r>
              <a:rPr lang="en-US" sz="950" b="1" dirty="0">
                <a:solidFill>
                  <a:srgbClr val="5B6B75"/>
                </a:solidFill>
                <a:latin typeface="Calibri" pitchFamily="34" charset="0"/>
                <a:ea typeface="Calibri" pitchFamily="34" charset="-122"/>
                <a:cs typeface="Calibri" pitchFamily="34" charset="-120"/>
              </a:rPr>
              <a:t>Top funds by 10-yr CAGR</a:t>
            </a:r>
            <a:endParaRPr lang="en-US" sz="950" dirty="0"/>
          </a:p>
        </p:txBody>
      </p:sp>
      <p:sp>
        <p:nvSpPr>
          <p:cNvPr id="10" name="Shape 8"/>
          <p:cNvSpPr/>
          <p:nvPr/>
        </p:nvSpPr>
        <p:spPr>
          <a:xfrm>
            <a:off x="905256" y="2560320"/>
            <a:ext cx="1965960" cy="155448"/>
          </a:xfrm>
          <a:prstGeom prst="rect">
            <a:avLst/>
          </a:prstGeom>
          <a:solidFill>
            <a:srgbClr val="0E9F6E"/>
          </a:solidFill>
          <a:ln w="12700">
            <a:solidFill>
              <a:srgbClr val="0E9F6E"/>
            </a:solidFill>
            <a:prstDash val="solid"/>
          </a:ln>
        </p:spPr>
      </p:sp>
      <p:sp>
        <p:nvSpPr>
          <p:cNvPr id="11" name="Shape 9"/>
          <p:cNvSpPr/>
          <p:nvPr/>
        </p:nvSpPr>
        <p:spPr>
          <a:xfrm>
            <a:off x="905256" y="2816352"/>
            <a:ext cx="1828800" cy="155448"/>
          </a:xfrm>
          <a:prstGeom prst="rect">
            <a:avLst/>
          </a:prstGeom>
          <a:solidFill>
            <a:srgbClr val="0E9F6E">
              <a:alpha val="96000"/>
            </a:srgbClr>
          </a:solidFill>
          <a:ln w="12700">
            <a:solidFill>
              <a:srgbClr val="0E9F6E">
                <a:alpha val="96000"/>
              </a:srgbClr>
            </a:solidFill>
            <a:prstDash val="solid"/>
          </a:ln>
        </p:spPr>
      </p:sp>
      <p:sp>
        <p:nvSpPr>
          <p:cNvPr id="12" name="Shape 10"/>
          <p:cNvSpPr/>
          <p:nvPr/>
        </p:nvSpPr>
        <p:spPr>
          <a:xfrm>
            <a:off x="905256" y="3072384"/>
            <a:ext cx="1783080" cy="155448"/>
          </a:xfrm>
          <a:prstGeom prst="rect">
            <a:avLst/>
          </a:prstGeom>
          <a:solidFill>
            <a:srgbClr val="0E9F6E">
              <a:alpha val="92000"/>
            </a:srgbClr>
          </a:solidFill>
          <a:ln w="12700">
            <a:solidFill>
              <a:srgbClr val="0E9F6E">
                <a:alpha val="92000"/>
              </a:srgbClr>
            </a:solidFill>
            <a:prstDash val="solid"/>
          </a:ln>
        </p:spPr>
      </p:sp>
      <p:sp>
        <p:nvSpPr>
          <p:cNvPr id="13" name="Shape 11"/>
          <p:cNvSpPr/>
          <p:nvPr/>
        </p:nvSpPr>
        <p:spPr>
          <a:xfrm>
            <a:off x="905256" y="3328416"/>
            <a:ext cx="1764792" cy="155448"/>
          </a:xfrm>
          <a:prstGeom prst="rect">
            <a:avLst/>
          </a:prstGeom>
          <a:solidFill>
            <a:srgbClr val="0E9F6E">
              <a:alpha val="88000"/>
            </a:srgbClr>
          </a:solidFill>
          <a:ln w="12700">
            <a:solidFill>
              <a:srgbClr val="0E9F6E">
                <a:alpha val="88000"/>
              </a:srgbClr>
            </a:solidFill>
            <a:prstDash val="solid"/>
          </a:ln>
        </p:spPr>
      </p:sp>
      <p:sp>
        <p:nvSpPr>
          <p:cNvPr id="14" name="Shape 12"/>
          <p:cNvSpPr/>
          <p:nvPr/>
        </p:nvSpPr>
        <p:spPr>
          <a:xfrm>
            <a:off x="905256" y="3584448"/>
            <a:ext cx="1737360" cy="155448"/>
          </a:xfrm>
          <a:prstGeom prst="rect">
            <a:avLst/>
          </a:prstGeom>
          <a:solidFill>
            <a:srgbClr val="0E9F6E">
              <a:alpha val="84000"/>
            </a:srgbClr>
          </a:solidFill>
          <a:ln w="12700">
            <a:solidFill>
              <a:srgbClr val="0E9F6E">
                <a:alpha val="84000"/>
              </a:srgbClr>
            </a:solidFill>
            <a:prstDash val="solid"/>
          </a:ln>
        </p:spPr>
      </p:sp>
      <p:sp>
        <p:nvSpPr>
          <p:cNvPr id="15" name="Shape 13"/>
          <p:cNvSpPr/>
          <p:nvPr/>
        </p:nvSpPr>
        <p:spPr>
          <a:xfrm>
            <a:off x="905256" y="3840480"/>
            <a:ext cx="1719072" cy="155448"/>
          </a:xfrm>
          <a:prstGeom prst="rect">
            <a:avLst/>
          </a:prstGeom>
          <a:solidFill>
            <a:srgbClr val="0E9F6E">
              <a:alpha val="80000"/>
            </a:srgbClr>
          </a:solidFill>
          <a:ln w="12700">
            <a:solidFill>
              <a:srgbClr val="0E9F6E">
                <a:alpha val="80000"/>
              </a:srgbClr>
            </a:solidFill>
            <a:prstDash val="solid"/>
          </a:ln>
        </p:spPr>
      </p:sp>
      <p:sp>
        <p:nvSpPr>
          <p:cNvPr id="16" name="Shape 14"/>
          <p:cNvSpPr/>
          <p:nvPr/>
        </p:nvSpPr>
        <p:spPr>
          <a:xfrm>
            <a:off x="905256" y="4096512"/>
            <a:ext cx="1691640" cy="155448"/>
          </a:xfrm>
          <a:prstGeom prst="rect">
            <a:avLst/>
          </a:prstGeom>
          <a:solidFill>
            <a:srgbClr val="0E9F6E">
              <a:alpha val="76000"/>
            </a:srgbClr>
          </a:solidFill>
          <a:ln w="12700">
            <a:solidFill>
              <a:srgbClr val="0E9F6E">
                <a:alpha val="76000"/>
              </a:srgbClr>
            </a:solidFill>
            <a:prstDash val="solid"/>
          </a:ln>
        </p:spPr>
      </p:sp>
      <p:sp>
        <p:nvSpPr>
          <p:cNvPr id="17" name="Shape 15"/>
          <p:cNvSpPr/>
          <p:nvPr/>
        </p:nvSpPr>
        <p:spPr>
          <a:xfrm>
            <a:off x="905256" y="4352544"/>
            <a:ext cx="1645920" cy="155448"/>
          </a:xfrm>
          <a:prstGeom prst="rect">
            <a:avLst/>
          </a:prstGeom>
          <a:solidFill>
            <a:srgbClr val="0E9F6E">
              <a:alpha val="72000"/>
            </a:srgbClr>
          </a:solidFill>
          <a:ln w="12700">
            <a:solidFill>
              <a:srgbClr val="0E9F6E">
                <a:alpha val="72000"/>
              </a:srgbClr>
            </a:solidFill>
            <a:prstDash val="solid"/>
          </a:ln>
        </p:spPr>
      </p:sp>
      <p:sp>
        <p:nvSpPr>
          <p:cNvPr id="18" name="Shape 16"/>
          <p:cNvSpPr/>
          <p:nvPr/>
        </p:nvSpPr>
        <p:spPr>
          <a:xfrm>
            <a:off x="905256" y="4608576"/>
            <a:ext cx="1435608" cy="155448"/>
          </a:xfrm>
          <a:prstGeom prst="rect">
            <a:avLst/>
          </a:prstGeom>
          <a:solidFill>
            <a:srgbClr val="0E9F6E">
              <a:alpha val="68000"/>
            </a:srgbClr>
          </a:solidFill>
          <a:ln w="12700">
            <a:solidFill>
              <a:srgbClr val="0E9F6E">
                <a:alpha val="68000"/>
              </a:srgbClr>
            </a:solidFill>
            <a:prstDash val="solid"/>
          </a:ln>
        </p:spPr>
      </p:sp>
      <p:sp>
        <p:nvSpPr>
          <p:cNvPr id="19" name="Shape 17"/>
          <p:cNvSpPr/>
          <p:nvPr/>
        </p:nvSpPr>
        <p:spPr>
          <a:xfrm>
            <a:off x="905256" y="4864608"/>
            <a:ext cx="1426464" cy="155448"/>
          </a:xfrm>
          <a:prstGeom prst="rect">
            <a:avLst/>
          </a:prstGeom>
          <a:solidFill>
            <a:srgbClr val="0E9F6E">
              <a:alpha val="64000"/>
            </a:srgbClr>
          </a:solidFill>
          <a:ln w="12700">
            <a:solidFill>
              <a:srgbClr val="0E9F6E">
                <a:alpha val="64000"/>
              </a:srgbClr>
            </a:solidFill>
            <a:prstDash val="solid"/>
          </a:ln>
        </p:spPr>
      </p:sp>
      <p:sp>
        <p:nvSpPr>
          <p:cNvPr id="20" name="Shape 18"/>
          <p:cNvSpPr/>
          <p:nvPr/>
        </p:nvSpPr>
        <p:spPr>
          <a:xfrm>
            <a:off x="905256" y="5120640"/>
            <a:ext cx="1371600" cy="155448"/>
          </a:xfrm>
          <a:prstGeom prst="rect">
            <a:avLst/>
          </a:prstGeom>
          <a:solidFill>
            <a:srgbClr val="0E9F6E">
              <a:alpha val="60000"/>
            </a:srgbClr>
          </a:solidFill>
          <a:ln w="12700">
            <a:solidFill>
              <a:srgbClr val="0E9F6E">
                <a:alpha val="60000"/>
              </a:srgbClr>
            </a:solidFill>
            <a:prstDash val="solid"/>
          </a:ln>
        </p:spPr>
      </p:sp>
      <p:sp>
        <p:nvSpPr>
          <p:cNvPr id="21" name="Shape 19"/>
          <p:cNvSpPr/>
          <p:nvPr/>
        </p:nvSpPr>
        <p:spPr>
          <a:xfrm>
            <a:off x="905256" y="5376672"/>
            <a:ext cx="1325880" cy="155448"/>
          </a:xfrm>
          <a:prstGeom prst="rect">
            <a:avLst/>
          </a:prstGeom>
          <a:solidFill>
            <a:srgbClr val="0E9F6E">
              <a:alpha val="56000"/>
            </a:srgbClr>
          </a:solidFill>
          <a:ln w="12700">
            <a:solidFill>
              <a:srgbClr val="0E9F6E">
                <a:alpha val="56000"/>
              </a:srgbClr>
            </a:solidFill>
            <a:prstDash val="solid"/>
          </a:ln>
        </p:spPr>
      </p:sp>
      <p:sp>
        <p:nvSpPr>
          <p:cNvPr id="22" name="Shape 20"/>
          <p:cNvSpPr/>
          <p:nvPr/>
        </p:nvSpPr>
        <p:spPr>
          <a:xfrm>
            <a:off x="905256" y="5632704"/>
            <a:ext cx="1280160" cy="155448"/>
          </a:xfrm>
          <a:prstGeom prst="rect">
            <a:avLst/>
          </a:prstGeom>
          <a:solidFill>
            <a:srgbClr val="0E9F6E">
              <a:alpha val="55000"/>
            </a:srgbClr>
          </a:solidFill>
          <a:ln w="12700">
            <a:solidFill>
              <a:srgbClr val="0E9F6E">
                <a:alpha val="55000"/>
              </a:srgbClr>
            </a:solidFill>
            <a:prstDash val="solid"/>
          </a:ln>
        </p:spPr>
      </p:sp>
      <p:sp>
        <p:nvSpPr>
          <p:cNvPr id="23" name="Shape 21"/>
          <p:cNvSpPr/>
          <p:nvPr/>
        </p:nvSpPr>
        <p:spPr>
          <a:xfrm>
            <a:off x="3200400" y="2148840"/>
            <a:ext cx="1143000" cy="868680"/>
          </a:xfrm>
          <a:prstGeom prst="roundRect">
            <a:avLst>
              <a:gd name="adj" fmla="val 6316"/>
            </a:avLst>
          </a:prstGeom>
          <a:solidFill>
            <a:srgbClr val="FFFFFF"/>
          </a:solidFill>
          <a:ln w="12700">
            <a:solidFill>
              <a:srgbClr val="D6E0E5"/>
            </a:solidFill>
            <a:prstDash val="solid"/>
          </a:ln>
        </p:spPr>
      </p:sp>
      <p:sp>
        <p:nvSpPr>
          <p:cNvPr id="24" name="Text 22"/>
          <p:cNvSpPr txBox="1"/>
          <p:nvPr/>
        </p:nvSpPr>
        <p:spPr>
          <a:xfrm>
            <a:off x="3273552" y="2212848"/>
            <a:ext cx="1005840" cy="228600"/>
          </a:xfrm>
          <a:prstGeom prst="rect">
            <a:avLst/>
          </a:prstGeom>
          <a:noFill/>
          <a:ln/>
        </p:spPr>
        <p:txBody>
          <a:bodyPr wrap="square" lIns="0" tIns="0" rIns="0" bIns="0" rtlCol="0" anchor="t"/>
          <a:lstStyle/>
          <a:p>
            <a:pPr indent="0" marL="0">
              <a:buNone/>
            </a:pPr>
            <a:r>
              <a:rPr lang="en-US" sz="900" b="1" dirty="0">
                <a:solidFill>
                  <a:srgbClr val="5B6B75"/>
                </a:solidFill>
                <a:latin typeface="Calibri" pitchFamily="34" charset="0"/>
                <a:ea typeface="Calibri" pitchFamily="34" charset="-122"/>
                <a:cs typeface="Calibri" pitchFamily="34" charset="-120"/>
              </a:rPr>
              <a:t>₹1 lakh, 10 yrs</a:t>
            </a:r>
            <a:endParaRPr lang="en-US" sz="900" dirty="0"/>
          </a:p>
        </p:txBody>
      </p:sp>
      <p:sp>
        <p:nvSpPr>
          <p:cNvPr id="25" name="Text 23"/>
          <p:cNvSpPr txBox="1"/>
          <p:nvPr/>
        </p:nvSpPr>
        <p:spPr>
          <a:xfrm>
            <a:off x="3273552" y="2487168"/>
            <a:ext cx="1005840" cy="411480"/>
          </a:xfrm>
          <a:prstGeom prst="rect">
            <a:avLst/>
          </a:prstGeom>
          <a:noFill/>
          <a:ln/>
        </p:spPr>
        <p:txBody>
          <a:bodyPr wrap="square" lIns="0" tIns="0" rIns="0" bIns="0" rtlCol="0" anchor="t"/>
          <a:lstStyle/>
          <a:p>
            <a:pPr indent="0" marL="0">
              <a:buNone/>
            </a:pPr>
            <a:r>
              <a:rPr lang="en-US" sz="1800" b="1" dirty="0">
                <a:solidFill>
                  <a:srgbClr val="F5A524"/>
                </a:solidFill>
                <a:latin typeface="Arial" pitchFamily="34" charset="0"/>
                <a:ea typeface="Arial" pitchFamily="34" charset="-122"/>
                <a:cs typeface="Arial" pitchFamily="34" charset="-120"/>
              </a:rPr>
              <a:t>568K</a:t>
            </a:r>
            <a:endParaRPr lang="en-US" sz="1800" dirty="0"/>
          </a:p>
        </p:txBody>
      </p:sp>
      <p:sp>
        <p:nvSpPr>
          <p:cNvPr id="26" name="Shape 24"/>
          <p:cNvSpPr/>
          <p:nvPr/>
        </p:nvSpPr>
        <p:spPr>
          <a:xfrm>
            <a:off x="4434840" y="2148840"/>
            <a:ext cx="1097280" cy="868680"/>
          </a:xfrm>
          <a:prstGeom prst="roundRect">
            <a:avLst>
              <a:gd name="adj" fmla="val 6316"/>
            </a:avLst>
          </a:prstGeom>
          <a:solidFill>
            <a:srgbClr val="FFFFFF"/>
          </a:solidFill>
          <a:ln w="12700">
            <a:solidFill>
              <a:srgbClr val="D6E0E5"/>
            </a:solidFill>
            <a:prstDash val="solid"/>
          </a:ln>
        </p:spPr>
      </p:sp>
      <p:sp>
        <p:nvSpPr>
          <p:cNvPr id="27" name="Text 25"/>
          <p:cNvSpPr txBox="1"/>
          <p:nvPr/>
        </p:nvSpPr>
        <p:spPr>
          <a:xfrm>
            <a:off x="4507992" y="2212848"/>
            <a:ext cx="1005840" cy="228600"/>
          </a:xfrm>
          <a:prstGeom prst="rect">
            <a:avLst/>
          </a:prstGeom>
          <a:noFill/>
          <a:ln/>
        </p:spPr>
        <p:txBody>
          <a:bodyPr wrap="square" lIns="0" tIns="0" rIns="0" bIns="0" rtlCol="0" anchor="t"/>
          <a:lstStyle/>
          <a:p>
            <a:pPr indent="0" marL="0">
              <a:buNone/>
            </a:pPr>
            <a:r>
              <a:rPr lang="en-US" sz="900" b="1" dirty="0">
                <a:solidFill>
                  <a:srgbClr val="5B6B75"/>
                </a:solidFill>
                <a:latin typeface="Calibri" pitchFamily="34" charset="0"/>
                <a:ea typeface="Calibri" pitchFamily="34" charset="-122"/>
                <a:cs typeface="Calibri" pitchFamily="34" charset="-120"/>
              </a:rPr>
              <a:t>Category filter</a:t>
            </a:r>
            <a:endParaRPr lang="en-US" sz="900" dirty="0"/>
          </a:p>
        </p:txBody>
      </p:sp>
      <p:sp>
        <p:nvSpPr>
          <p:cNvPr id="28" name="Shape 26"/>
          <p:cNvSpPr/>
          <p:nvPr/>
        </p:nvSpPr>
        <p:spPr>
          <a:xfrm>
            <a:off x="4526280" y="2514600"/>
            <a:ext cx="91440" cy="91440"/>
          </a:xfrm>
          <a:prstGeom prst="rect">
            <a:avLst/>
          </a:prstGeom>
          <a:solidFill>
            <a:srgbClr val="FFFFFF"/>
          </a:solidFill>
          <a:ln w="9525">
            <a:solidFill>
              <a:srgbClr val="5B6B75"/>
            </a:solidFill>
            <a:prstDash val="solid"/>
          </a:ln>
        </p:spPr>
      </p:sp>
      <p:sp>
        <p:nvSpPr>
          <p:cNvPr id="29" name="Shape 27"/>
          <p:cNvSpPr/>
          <p:nvPr/>
        </p:nvSpPr>
        <p:spPr>
          <a:xfrm>
            <a:off x="4681728" y="2532888"/>
            <a:ext cx="548640" cy="54864"/>
          </a:xfrm>
          <a:prstGeom prst="rect">
            <a:avLst/>
          </a:prstGeom>
          <a:solidFill>
            <a:srgbClr val="D6E0E5"/>
          </a:solidFill>
          <a:ln w="12700">
            <a:solidFill>
              <a:srgbClr val="D6E0E5"/>
            </a:solidFill>
            <a:prstDash val="solid"/>
          </a:ln>
        </p:spPr>
      </p:sp>
      <p:sp>
        <p:nvSpPr>
          <p:cNvPr id="30" name="Shape 28"/>
          <p:cNvSpPr/>
          <p:nvPr/>
        </p:nvSpPr>
        <p:spPr>
          <a:xfrm>
            <a:off x="4526280" y="2670048"/>
            <a:ext cx="91440" cy="91440"/>
          </a:xfrm>
          <a:prstGeom prst="rect">
            <a:avLst/>
          </a:prstGeom>
          <a:solidFill>
            <a:srgbClr val="0E9F6E"/>
          </a:solidFill>
          <a:ln w="9525">
            <a:solidFill>
              <a:srgbClr val="5B6B75"/>
            </a:solidFill>
            <a:prstDash val="solid"/>
          </a:ln>
        </p:spPr>
      </p:sp>
      <p:sp>
        <p:nvSpPr>
          <p:cNvPr id="31" name="Shape 29"/>
          <p:cNvSpPr/>
          <p:nvPr/>
        </p:nvSpPr>
        <p:spPr>
          <a:xfrm>
            <a:off x="4681728" y="2688336"/>
            <a:ext cx="548640" cy="54864"/>
          </a:xfrm>
          <a:prstGeom prst="rect">
            <a:avLst/>
          </a:prstGeom>
          <a:solidFill>
            <a:srgbClr val="D6E0E5"/>
          </a:solidFill>
          <a:ln w="12700">
            <a:solidFill>
              <a:srgbClr val="D6E0E5"/>
            </a:solidFill>
            <a:prstDash val="solid"/>
          </a:ln>
        </p:spPr>
      </p:sp>
      <p:sp>
        <p:nvSpPr>
          <p:cNvPr id="32" name="Shape 30"/>
          <p:cNvSpPr/>
          <p:nvPr/>
        </p:nvSpPr>
        <p:spPr>
          <a:xfrm>
            <a:off x="4526280" y="2825496"/>
            <a:ext cx="91440" cy="91440"/>
          </a:xfrm>
          <a:prstGeom prst="rect">
            <a:avLst/>
          </a:prstGeom>
          <a:solidFill>
            <a:srgbClr val="FFFFFF"/>
          </a:solidFill>
          <a:ln w="9525">
            <a:solidFill>
              <a:srgbClr val="5B6B75"/>
            </a:solidFill>
            <a:prstDash val="solid"/>
          </a:ln>
        </p:spPr>
      </p:sp>
      <p:sp>
        <p:nvSpPr>
          <p:cNvPr id="33" name="Shape 31"/>
          <p:cNvSpPr/>
          <p:nvPr/>
        </p:nvSpPr>
        <p:spPr>
          <a:xfrm>
            <a:off x="4681728" y="2843784"/>
            <a:ext cx="548640" cy="54864"/>
          </a:xfrm>
          <a:prstGeom prst="rect">
            <a:avLst/>
          </a:prstGeom>
          <a:solidFill>
            <a:srgbClr val="D6E0E5"/>
          </a:solidFill>
          <a:ln w="12700">
            <a:solidFill>
              <a:srgbClr val="D6E0E5"/>
            </a:solidFill>
            <a:prstDash val="solid"/>
          </a:ln>
        </p:spPr>
      </p:sp>
      <p:sp>
        <p:nvSpPr>
          <p:cNvPr id="34" name="Shape 32"/>
          <p:cNvSpPr/>
          <p:nvPr/>
        </p:nvSpPr>
        <p:spPr>
          <a:xfrm>
            <a:off x="3200400" y="3154680"/>
            <a:ext cx="2331720" cy="2834640"/>
          </a:xfrm>
          <a:prstGeom prst="roundRect">
            <a:avLst>
              <a:gd name="adj" fmla="val 2353"/>
            </a:avLst>
          </a:prstGeom>
          <a:solidFill>
            <a:srgbClr val="FFFFFF"/>
          </a:solidFill>
          <a:ln w="12700">
            <a:solidFill>
              <a:srgbClr val="D6E0E5"/>
            </a:solidFill>
            <a:prstDash val="solid"/>
          </a:ln>
        </p:spPr>
      </p:sp>
      <p:sp>
        <p:nvSpPr>
          <p:cNvPr id="35" name="Text 33"/>
          <p:cNvSpPr txBox="1"/>
          <p:nvPr/>
        </p:nvSpPr>
        <p:spPr>
          <a:xfrm>
            <a:off x="3291840" y="3218688"/>
            <a:ext cx="2194560" cy="228600"/>
          </a:xfrm>
          <a:prstGeom prst="rect">
            <a:avLst/>
          </a:prstGeom>
          <a:noFill/>
          <a:ln/>
        </p:spPr>
        <p:txBody>
          <a:bodyPr wrap="square" lIns="0" tIns="0" rIns="0" bIns="0" rtlCol="0" anchor="t"/>
          <a:lstStyle/>
          <a:p>
            <a:pPr indent="0" marL="0">
              <a:buNone/>
            </a:pPr>
            <a:r>
              <a:rPr lang="en-US" sz="950" b="1" dirty="0">
                <a:solidFill>
                  <a:srgbClr val="5B6B75"/>
                </a:solidFill>
                <a:latin typeface="Calibri" pitchFamily="34" charset="0"/>
                <a:ea typeface="Calibri" pitchFamily="34" charset="-122"/>
                <a:cs typeface="Calibri" pitchFamily="34" charset="-120"/>
              </a:rPr>
              <a:t>Growth of ₹1 lakh, 2016–2026</a:t>
            </a:r>
            <a:endParaRPr lang="en-US" sz="950" dirty="0"/>
          </a:p>
        </p:txBody>
      </p:sp>
      <p:sp>
        <p:nvSpPr>
          <p:cNvPr id="36" name="Shape 34"/>
          <p:cNvSpPr/>
          <p:nvPr/>
        </p:nvSpPr>
        <p:spPr>
          <a:xfrm flipV="1">
            <a:off x="3337560" y="5469941"/>
            <a:ext cx="228600" cy="126187"/>
          </a:xfrm>
          <a:prstGeom prst="line">
            <a:avLst/>
          </a:prstGeom>
          <a:noFill/>
          <a:ln w="22225">
            <a:solidFill>
              <a:srgbClr val="0E9F6E"/>
            </a:solidFill>
            <a:prstDash val="solid"/>
          </a:ln>
        </p:spPr>
      </p:sp>
      <p:sp>
        <p:nvSpPr>
          <p:cNvPr id="37" name="Shape 35"/>
          <p:cNvSpPr/>
          <p:nvPr/>
        </p:nvSpPr>
        <p:spPr>
          <a:xfrm flipV="1">
            <a:off x="3566160" y="5385816"/>
            <a:ext cx="228600" cy="84125"/>
          </a:xfrm>
          <a:prstGeom prst="line">
            <a:avLst/>
          </a:prstGeom>
          <a:noFill/>
          <a:ln w="22225">
            <a:solidFill>
              <a:srgbClr val="0E9F6E"/>
            </a:solidFill>
            <a:prstDash val="solid"/>
          </a:ln>
        </p:spPr>
      </p:sp>
      <p:sp>
        <p:nvSpPr>
          <p:cNvPr id="38" name="Shape 36"/>
          <p:cNvSpPr/>
          <p:nvPr/>
        </p:nvSpPr>
        <p:spPr>
          <a:xfrm flipV="1">
            <a:off x="3794760" y="5343754"/>
            <a:ext cx="228600" cy="42062"/>
          </a:xfrm>
          <a:prstGeom prst="line">
            <a:avLst/>
          </a:prstGeom>
          <a:noFill/>
          <a:ln w="22225">
            <a:solidFill>
              <a:srgbClr val="0E9F6E"/>
            </a:solidFill>
            <a:prstDash val="solid"/>
          </a:ln>
        </p:spPr>
      </p:sp>
      <p:sp>
        <p:nvSpPr>
          <p:cNvPr id="39" name="Shape 37"/>
          <p:cNvSpPr/>
          <p:nvPr/>
        </p:nvSpPr>
        <p:spPr>
          <a:xfrm>
            <a:off x="4023360" y="5343754"/>
            <a:ext cx="228600" cy="168250"/>
          </a:xfrm>
          <a:prstGeom prst="line">
            <a:avLst/>
          </a:prstGeom>
          <a:noFill/>
          <a:ln w="22225">
            <a:solidFill>
              <a:srgbClr val="0E9F6E"/>
            </a:solidFill>
            <a:prstDash val="solid"/>
          </a:ln>
        </p:spPr>
      </p:sp>
      <p:sp>
        <p:nvSpPr>
          <p:cNvPr id="40" name="Shape 38"/>
          <p:cNvSpPr/>
          <p:nvPr/>
        </p:nvSpPr>
        <p:spPr>
          <a:xfrm flipV="1">
            <a:off x="4251960" y="5175504"/>
            <a:ext cx="228600" cy="336499"/>
          </a:xfrm>
          <a:prstGeom prst="line">
            <a:avLst/>
          </a:prstGeom>
          <a:noFill/>
          <a:ln w="22225">
            <a:solidFill>
              <a:srgbClr val="0E9F6E"/>
            </a:solidFill>
            <a:prstDash val="solid"/>
          </a:ln>
        </p:spPr>
      </p:sp>
      <p:sp>
        <p:nvSpPr>
          <p:cNvPr id="41" name="Shape 39"/>
          <p:cNvSpPr/>
          <p:nvPr/>
        </p:nvSpPr>
        <p:spPr>
          <a:xfrm flipV="1">
            <a:off x="4480560" y="4923130"/>
            <a:ext cx="228600" cy="252374"/>
          </a:xfrm>
          <a:prstGeom prst="line">
            <a:avLst/>
          </a:prstGeom>
          <a:noFill/>
          <a:ln w="22225">
            <a:solidFill>
              <a:srgbClr val="0E9F6E"/>
            </a:solidFill>
            <a:prstDash val="solid"/>
          </a:ln>
        </p:spPr>
      </p:sp>
      <p:sp>
        <p:nvSpPr>
          <p:cNvPr id="42" name="Shape 40"/>
          <p:cNvSpPr/>
          <p:nvPr/>
        </p:nvSpPr>
        <p:spPr>
          <a:xfrm flipV="1">
            <a:off x="4709160" y="4839005"/>
            <a:ext cx="228600" cy="84125"/>
          </a:xfrm>
          <a:prstGeom prst="line">
            <a:avLst/>
          </a:prstGeom>
          <a:noFill/>
          <a:ln w="22225">
            <a:solidFill>
              <a:srgbClr val="0E9F6E"/>
            </a:solidFill>
            <a:prstDash val="solid"/>
          </a:ln>
        </p:spPr>
      </p:sp>
      <p:sp>
        <p:nvSpPr>
          <p:cNvPr id="43" name="Shape 41"/>
          <p:cNvSpPr/>
          <p:nvPr/>
        </p:nvSpPr>
        <p:spPr>
          <a:xfrm flipV="1">
            <a:off x="4937760" y="4502506"/>
            <a:ext cx="228600" cy="336499"/>
          </a:xfrm>
          <a:prstGeom prst="line">
            <a:avLst/>
          </a:prstGeom>
          <a:noFill/>
          <a:ln w="22225">
            <a:solidFill>
              <a:srgbClr val="0E9F6E"/>
            </a:solidFill>
            <a:prstDash val="solid"/>
          </a:ln>
        </p:spPr>
      </p:sp>
      <p:sp>
        <p:nvSpPr>
          <p:cNvPr id="44" name="Shape 42"/>
          <p:cNvSpPr/>
          <p:nvPr/>
        </p:nvSpPr>
        <p:spPr>
          <a:xfrm flipV="1">
            <a:off x="5166360" y="3913632"/>
            <a:ext cx="228600" cy="588874"/>
          </a:xfrm>
          <a:prstGeom prst="line">
            <a:avLst/>
          </a:prstGeom>
          <a:noFill/>
          <a:ln w="22225">
            <a:solidFill>
              <a:srgbClr val="0E9F6E"/>
            </a:solidFill>
            <a:prstDash val="solid"/>
          </a:ln>
        </p:spPr>
      </p:sp>
      <p:sp>
        <p:nvSpPr>
          <p:cNvPr id="45" name="Shape 43"/>
          <p:cNvSpPr/>
          <p:nvPr/>
        </p:nvSpPr>
        <p:spPr>
          <a:xfrm flipV="1">
            <a:off x="3337560" y="5512003"/>
            <a:ext cx="228600" cy="84125"/>
          </a:xfrm>
          <a:prstGeom prst="line">
            <a:avLst/>
          </a:prstGeom>
          <a:noFill/>
          <a:ln w="22225">
            <a:solidFill>
              <a:srgbClr val="1F6F8B"/>
            </a:solidFill>
            <a:prstDash val="solid"/>
          </a:ln>
        </p:spPr>
      </p:sp>
      <p:sp>
        <p:nvSpPr>
          <p:cNvPr id="46" name="Shape 44"/>
          <p:cNvSpPr/>
          <p:nvPr/>
        </p:nvSpPr>
        <p:spPr>
          <a:xfrm flipV="1">
            <a:off x="3566160" y="5448910"/>
            <a:ext cx="228600" cy="63094"/>
          </a:xfrm>
          <a:prstGeom prst="line">
            <a:avLst/>
          </a:prstGeom>
          <a:noFill/>
          <a:ln w="22225">
            <a:solidFill>
              <a:srgbClr val="1F6F8B"/>
            </a:solidFill>
            <a:prstDash val="solid"/>
          </a:ln>
        </p:spPr>
      </p:sp>
      <p:sp>
        <p:nvSpPr>
          <p:cNvPr id="47" name="Shape 45"/>
          <p:cNvSpPr/>
          <p:nvPr/>
        </p:nvSpPr>
        <p:spPr>
          <a:xfrm flipV="1">
            <a:off x="3794760" y="5406847"/>
            <a:ext cx="228600" cy="42062"/>
          </a:xfrm>
          <a:prstGeom prst="line">
            <a:avLst/>
          </a:prstGeom>
          <a:noFill/>
          <a:ln w="22225">
            <a:solidFill>
              <a:srgbClr val="1F6F8B"/>
            </a:solidFill>
            <a:prstDash val="solid"/>
          </a:ln>
        </p:spPr>
      </p:sp>
      <p:sp>
        <p:nvSpPr>
          <p:cNvPr id="48" name="Shape 46"/>
          <p:cNvSpPr/>
          <p:nvPr/>
        </p:nvSpPr>
        <p:spPr>
          <a:xfrm>
            <a:off x="4023360" y="5406847"/>
            <a:ext cx="228600" cy="147218"/>
          </a:xfrm>
          <a:prstGeom prst="line">
            <a:avLst/>
          </a:prstGeom>
          <a:noFill/>
          <a:ln w="22225">
            <a:solidFill>
              <a:srgbClr val="1F6F8B"/>
            </a:solidFill>
            <a:prstDash val="solid"/>
          </a:ln>
        </p:spPr>
      </p:sp>
      <p:sp>
        <p:nvSpPr>
          <p:cNvPr id="49" name="Shape 47"/>
          <p:cNvSpPr/>
          <p:nvPr/>
        </p:nvSpPr>
        <p:spPr>
          <a:xfrm flipV="1">
            <a:off x="4251960" y="5301691"/>
            <a:ext cx="228600" cy="252374"/>
          </a:xfrm>
          <a:prstGeom prst="line">
            <a:avLst/>
          </a:prstGeom>
          <a:noFill/>
          <a:ln w="22225">
            <a:solidFill>
              <a:srgbClr val="1F6F8B"/>
            </a:solidFill>
            <a:prstDash val="solid"/>
          </a:ln>
        </p:spPr>
      </p:sp>
      <p:sp>
        <p:nvSpPr>
          <p:cNvPr id="50" name="Shape 48"/>
          <p:cNvSpPr/>
          <p:nvPr/>
        </p:nvSpPr>
        <p:spPr>
          <a:xfrm flipV="1">
            <a:off x="4480560" y="5133442"/>
            <a:ext cx="228600" cy="168250"/>
          </a:xfrm>
          <a:prstGeom prst="line">
            <a:avLst/>
          </a:prstGeom>
          <a:noFill/>
          <a:ln w="22225">
            <a:solidFill>
              <a:srgbClr val="1F6F8B"/>
            </a:solidFill>
            <a:prstDash val="solid"/>
          </a:ln>
        </p:spPr>
      </p:sp>
      <p:sp>
        <p:nvSpPr>
          <p:cNvPr id="51" name="Shape 49"/>
          <p:cNvSpPr/>
          <p:nvPr/>
        </p:nvSpPr>
        <p:spPr>
          <a:xfrm flipV="1">
            <a:off x="4709160" y="5091379"/>
            <a:ext cx="228600" cy="42062"/>
          </a:xfrm>
          <a:prstGeom prst="line">
            <a:avLst/>
          </a:prstGeom>
          <a:noFill/>
          <a:ln w="22225">
            <a:solidFill>
              <a:srgbClr val="1F6F8B"/>
            </a:solidFill>
            <a:prstDash val="solid"/>
          </a:ln>
        </p:spPr>
      </p:sp>
      <p:sp>
        <p:nvSpPr>
          <p:cNvPr id="52" name="Shape 50"/>
          <p:cNvSpPr/>
          <p:nvPr/>
        </p:nvSpPr>
        <p:spPr>
          <a:xfrm flipV="1">
            <a:off x="4937760" y="4881067"/>
            <a:ext cx="228600" cy="210312"/>
          </a:xfrm>
          <a:prstGeom prst="line">
            <a:avLst/>
          </a:prstGeom>
          <a:noFill/>
          <a:ln w="22225">
            <a:solidFill>
              <a:srgbClr val="1F6F8B"/>
            </a:solidFill>
            <a:prstDash val="solid"/>
          </a:ln>
        </p:spPr>
      </p:sp>
      <p:sp>
        <p:nvSpPr>
          <p:cNvPr id="53" name="Shape 51"/>
          <p:cNvSpPr/>
          <p:nvPr/>
        </p:nvSpPr>
        <p:spPr>
          <a:xfrm flipV="1">
            <a:off x="5166360" y="4712818"/>
            <a:ext cx="228600" cy="168250"/>
          </a:xfrm>
          <a:prstGeom prst="line">
            <a:avLst/>
          </a:prstGeom>
          <a:noFill/>
          <a:ln w="22225">
            <a:solidFill>
              <a:srgbClr val="1F6F8B"/>
            </a:solidFill>
            <a:prstDash val="solid"/>
          </a:ln>
        </p:spPr>
      </p:sp>
      <p:sp>
        <p:nvSpPr>
          <p:cNvPr id="54" name="Shape 52"/>
          <p:cNvSpPr/>
          <p:nvPr/>
        </p:nvSpPr>
        <p:spPr>
          <a:xfrm flipV="1">
            <a:off x="3337560" y="5533034"/>
            <a:ext cx="228600" cy="63094"/>
          </a:xfrm>
          <a:prstGeom prst="line">
            <a:avLst/>
          </a:prstGeom>
          <a:noFill/>
          <a:ln w="22225">
            <a:solidFill>
              <a:srgbClr val="F5A524"/>
            </a:solidFill>
            <a:prstDash val="solid"/>
          </a:ln>
        </p:spPr>
      </p:sp>
      <p:sp>
        <p:nvSpPr>
          <p:cNvPr id="55" name="Shape 53"/>
          <p:cNvSpPr/>
          <p:nvPr/>
        </p:nvSpPr>
        <p:spPr>
          <a:xfrm flipV="1">
            <a:off x="3566160" y="5490972"/>
            <a:ext cx="228600" cy="42062"/>
          </a:xfrm>
          <a:prstGeom prst="line">
            <a:avLst/>
          </a:prstGeom>
          <a:noFill/>
          <a:ln w="22225">
            <a:solidFill>
              <a:srgbClr val="F5A524"/>
            </a:solidFill>
            <a:prstDash val="solid"/>
          </a:ln>
        </p:spPr>
      </p:sp>
      <p:sp>
        <p:nvSpPr>
          <p:cNvPr id="56" name="Shape 54"/>
          <p:cNvSpPr/>
          <p:nvPr/>
        </p:nvSpPr>
        <p:spPr>
          <a:xfrm flipV="1">
            <a:off x="3794760" y="5448910"/>
            <a:ext cx="228600" cy="42062"/>
          </a:xfrm>
          <a:prstGeom prst="line">
            <a:avLst/>
          </a:prstGeom>
          <a:noFill/>
          <a:ln w="22225">
            <a:solidFill>
              <a:srgbClr val="F5A524"/>
            </a:solidFill>
            <a:prstDash val="solid"/>
          </a:ln>
        </p:spPr>
      </p:sp>
      <p:sp>
        <p:nvSpPr>
          <p:cNvPr id="57" name="Shape 55"/>
          <p:cNvSpPr/>
          <p:nvPr/>
        </p:nvSpPr>
        <p:spPr>
          <a:xfrm>
            <a:off x="4023360" y="5448910"/>
            <a:ext cx="228600" cy="126187"/>
          </a:xfrm>
          <a:prstGeom prst="line">
            <a:avLst/>
          </a:prstGeom>
          <a:noFill/>
          <a:ln w="22225">
            <a:solidFill>
              <a:srgbClr val="F5A524"/>
            </a:solidFill>
            <a:prstDash val="solid"/>
          </a:ln>
        </p:spPr>
      </p:sp>
      <p:sp>
        <p:nvSpPr>
          <p:cNvPr id="58" name="Shape 56"/>
          <p:cNvSpPr/>
          <p:nvPr/>
        </p:nvSpPr>
        <p:spPr>
          <a:xfrm flipV="1">
            <a:off x="4251960" y="5385816"/>
            <a:ext cx="228600" cy="189281"/>
          </a:xfrm>
          <a:prstGeom prst="line">
            <a:avLst/>
          </a:prstGeom>
          <a:noFill/>
          <a:ln w="22225">
            <a:solidFill>
              <a:srgbClr val="F5A524"/>
            </a:solidFill>
            <a:prstDash val="solid"/>
          </a:ln>
        </p:spPr>
      </p:sp>
      <p:sp>
        <p:nvSpPr>
          <p:cNvPr id="59" name="Shape 57"/>
          <p:cNvSpPr/>
          <p:nvPr/>
        </p:nvSpPr>
        <p:spPr>
          <a:xfrm flipV="1">
            <a:off x="4480560" y="5259629"/>
            <a:ext cx="228600" cy="126187"/>
          </a:xfrm>
          <a:prstGeom prst="line">
            <a:avLst/>
          </a:prstGeom>
          <a:noFill/>
          <a:ln w="22225">
            <a:solidFill>
              <a:srgbClr val="F5A524"/>
            </a:solidFill>
            <a:prstDash val="solid"/>
          </a:ln>
        </p:spPr>
      </p:sp>
      <p:sp>
        <p:nvSpPr>
          <p:cNvPr id="60" name="Shape 58"/>
          <p:cNvSpPr/>
          <p:nvPr/>
        </p:nvSpPr>
        <p:spPr>
          <a:xfrm flipV="1">
            <a:off x="4709160" y="5238598"/>
            <a:ext cx="228600" cy="21031"/>
          </a:xfrm>
          <a:prstGeom prst="line">
            <a:avLst/>
          </a:prstGeom>
          <a:noFill/>
          <a:ln w="22225">
            <a:solidFill>
              <a:srgbClr val="F5A524"/>
            </a:solidFill>
            <a:prstDash val="solid"/>
          </a:ln>
        </p:spPr>
      </p:sp>
      <p:sp>
        <p:nvSpPr>
          <p:cNvPr id="61" name="Shape 59"/>
          <p:cNvSpPr/>
          <p:nvPr/>
        </p:nvSpPr>
        <p:spPr>
          <a:xfrm flipV="1">
            <a:off x="4937760" y="5091379"/>
            <a:ext cx="228600" cy="147218"/>
          </a:xfrm>
          <a:prstGeom prst="line">
            <a:avLst/>
          </a:prstGeom>
          <a:noFill/>
          <a:ln w="22225">
            <a:solidFill>
              <a:srgbClr val="F5A524"/>
            </a:solidFill>
            <a:prstDash val="solid"/>
          </a:ln>
        </p:spPr>
      </p:sp>
      <p:sp>
        <p:nvSpPr>
          <p:cNvPr id="62" name="Shape 60"/>
          <p:cNvSpPr/>
          <p:nvPr/>
        </p:nvSpPr>
        <p:spPr>
          <a:xfrm flipV="1">
            <a:off x="5166360" y="5007254"/>
            <a:ext cx="228600" cy="84125"/>
          </a:xfrm>
          <a:prstGeom prst="line">
            <a:avLst/>
          </a:prstGeom>
          <a:noFill/>
          <a:ln w="22225">
            <a:solidFill>
              <a:srgbClr val="F5A524"/>
            </a:solidFill>
            <a:prstDash val="solid"/>
          </a:ln>
        </p:spPr>
      </p:sp>
      <p:sp>
        <p:nvSpPr>
          <p:cNvPr id="63" name="Shape 61"/>
          <p:cNvSpPr/>
          <p:nvPr/>
        </p:nvSpPr>
        <p:spPr>
          <a:xfrm>
            <a:off x="6080760" y="1737360"/>
            <a:ext cx="502920" cy="502920"/>
          </a:xfrm>
          <a:prstGeom prst="ellipse">
            <a:avLst/>
          </a:prstGeom>
          <a:solidFill>
            <a:srgbClr val="F5A524"/>
          </a:solidFill>
          <a:ln w="12700">
            <a:solidFill>
              <a:srgbClr val="F5A524"/>
            </a:solidFill>
            <a:prstDash val="solid"/>
          </a:ln>
        </p:spPr>
      </p:sp>
      <p:sp>
        <p:nvSpPr>
          <p:cNvPr id="64" name="Text 62"/>
          <p:cNvSpPr txBox="1"/>
          <p:nvPr/>
        </p:nvSpPr>
        <p:spPr>
          <a:xfrm>
            <a:off x="6080760" y="1737360"/>
            <a:ext cx="502920" cy="502920"/>
          </a:xfrm>
          <a:prstGeom prst="rect">
            <a:avLst/>
          </a:prstGeom>
          <a:noFill/>
          <a:ln/>
        </p:spPr>
        <p:txBody>
          <a:bodyPr wrap="square" lIns="0" tIns="0" rIns="0" bIns="0" rtlCol="0" anchor="ctr"/>
          <a:lstStyle/>
          <a:p>
            <a:pPr algn="ctr" indent="0" marL="0">
              <a:buNone/>
            </a:pPr>
            <a:r>
              <a:rPr lang="en-US" sz="1500" b="1" dirty="0">
                <a:solidFill>
                  <a:srgbClr val="0B1F2A"/>
                </a:solidFill>
                <a:latin typeface="Calibri" pitchFamily="34" charset="0"/>
                <a:ea typeface="Calibri" pitchFamily="34" charset="-122"/>
                <a:cs typeface="Calibri" pitchFamily="34" charset="-120"/>
              </a:rPr>
              <a:t>1</a:t>
            </a:r>
            <a:endParaRPr lang="en-US" sz="1500" dirty="0"/>
          </a:p>
        </p:txBody>
      </p:sp>
      <p:sp>
        <p:nvSpPr>
          <p:cNvPr id="65" name="Text 63"/>
          <p:cNvSpPr txBox="1"/>
          <p:nvPr/>
        </p:nvSpPr>
        <p:spPr>
          <a:xfrm>
            <a:off x="6766560" y="1700784"/>
            <a:ext cx="4846320" cy="329184"/>
          </a:xfrm>
          <a:prstGeom prst="rect">
            <a:avLst/>
          </a:prstGeom>
          <a:noFill/>
          <a:ln/>
        </p:spPr>
        <p:txBody>
          <a:bodyPr wrap="square" lIns="0" tIns="0" rIns="0" bIns="0" rtlCol="0" anchor="t"/>
          <a:lstStyle/>
          <a:p>
            <a:pPr indent="0" marL="0">
              <a:buNone/>
            </a:pPr>
            <a:r>
              <a:rPr lang="en-US" sz="1600" b="1" dirty="0">
                <a:solidFill>
                  <a:srgbClr val="0B1F2A"/>
                </a:solidFill>
                <a:latin typeface="Calibri" pitchFamily="34" charset="0"/>
                <a:ea typeface="Calibri" pitchFamily="34" charset="-122"/>
                <a:cs typeface="Calibri" pitchFamily="34" charset="-120"/>
              </a:rPr>
              <a:t>Home</a:t>
            </a:r>
            <a:endParaRPr lang="en-US" sz="1600" dirty="0"/>
          </a:p>
        </p:txBody>
      </p:sp>
      <p:sp>
        <p:nvSpPr>
          <p:cNvPr id="66" name="Text 64"/>
          <p:cNvSpPr txBox="1"/>
          <p:nvPr/>
        </p:nvSpPr>
        <p:spPr>
          <a:xfrm>
            <a:off x="6766560" y="2048256"/>
            <a:ext cx="4846320" cy="640080"/>
          </a:xfrm>
          <a:prstGeom prst="rect">
            <a:avLst/>
          </a:prstGeom>
          <a:noFill/>
          <a:ln/>
        </p:spPr>
        <p:txBody>
          <a:bodyPr wrap="square" lIns="0" tIns="0" rIns="0" bIns="0" rtlCol="0" anchor="t"/>
          <a:lstStyle/>
          <a:p>
            <a:pPr indent="0" marL="0">
              <a:buNone/>
            </a:pPr>
            <a:r>
              <a:rPr lang="en-US" sz="1250" dirty="0">
                <a:solidFill>
                  <a:srgbClr val="5B6B75"/>
                </a:solidFill>
                <a:latin typeface="Calibri" pitchFamily="34" charset="0"/>
                <a:ea typeface="Calibri" pitchFamily="34" charset="-122"/>
                <a:cs typeface="Calibri" pitchFamily="34" charset="-120"/>
              </a:rPr>
              <a:t>Top funds by 10-year CAGR, value of ₹1 lakh, growth of ₹1 lakh over time, category filter.</a:t>
            </a:r>
            <a:endParaRPr lang="en-US" sz="1250" dirty="0"/>
          </a:p>
        </p:txBody>
      </p:sp>
      <p:sp>
        <p:nvSpPr>
          <p:cNvPr id="67" name="Shape 65"/>
          <p:cNvSpPr/>
          <p:nvPr/>
        </p:nvSpPr>
        <p:spPr>
          <a:xfrm>
            <a:off x="6080760" y="2852928"/>
            <a:ext cx="502920" cy="502920"/>
          </a:xfrm>
          <a:prstGeom prst="ellipse">
            <a:avLst/>
          </a:prstGeom>
          <a:solidFill>
            <a:srgbClr val="0E9F6E"/>
          </a:solidFill>
          <a:ln w="12700">
            <a:solidFill>
              <a:srgbClr val="0E9F6E"/>
            </a:solidFill>
            <a:prstDash val="solid"/>
          </a:ln>
        </p:spPr>
      </p:sp>
      <p:sp>
        <p:nvSpPr>
          <p:cNvPr id="68" name="Text 66"/>
          <p:cNvSpPr txBox="1"/>
          <p:nvPr/>
        </p:nvSpPr>
        <p:spPr>
          <a:xfrm>
            <a:off x="6080760" y="2852928"/>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9" name="Text 67"/>
          <p:cNvSpPr txBox="1"/>
          <p:nvPr/>
        </p:nvSpPr>
        <p:spPr>
          <a:xfrm>
            <a:off x="6766560" y="2816352"/>
            <a:ext cx="4846320" cy="329184"/>
          </a:xfrm>
          <a:prstGeom prst="rect">
            <a:avLst/>
          </a:prstGeom>
          <a:noFill/>
          <a:ln/>
        </p:spPr>
        <p:txBody>
          <a:bodyPr wrap="square" lIns="0" tIns="0" rIns="0" bIns="0" rtlCol="0" anchor="t"/>
          <a:lstStyle/>
          <a:p>
            <a:pPr indent="0" marL="0">
              <a:buNone/>
            </a:pPr>
            <a:r>
              <a:rPr lang="en-US" sz="1600" b="1" dirty="0">
                <a:solidFill>
                  <a:srgbClr val="0B1F2A"/>
                </a:solidFill>
                <a:latin typeface="Calibri" pitchFamily="34" charset="0"/>
                <a:ea typeface="Calibri" pitchFamily="34" charset="-122"/>
                <a:cs typeface="Calibri" pitchFamily="34" charset="-120"/>
              </a:rPr>
              <a:t>Risk</a:t>
            </a:r>
            <a:endParaRPr lang="en-US" sz="1600" dirty="0"/>
          </a:p>
        </p:txBody>
      </p:sp>
      <p:sp>
        <p:nvSpPr>
          <p:cNvPr id="70" name="Text 68"/>
          <p:cNvSpPr txBox="1"/>
          <p:nvPr/>
        </p:nvSpPr>
        <p:spPr>
          <a:xfrm>
            <a:off x="6766560" y="3163824"/>
            <a:ext cx="4846320" cy="640080"/>
          </a:xfrm>
          <a:prstGeom prst="rect">
            <a:avLst/>
          </a:prstGeom>
          <a:noFill/>
          <a:ln/>
        </p:spPr>
        <p:txBody>
          <a:bodyPr wrap="square" lIns="0" tIns="0" rIns="0" bIns="0" rtlCol="0" anchor="t"/>
          <a:lstStyle/>
          <a:p>
            <a:pPr indent="0" marL="0">
              <a:buNone/>
            </a:pPr>
            <a:r>
              <a:rPr lang="en-US" sz="1250" dirty="0">
                <a:solidFill>
                  <a:srgbClr val="5B6B75"/>
                </a:solidFill>
                <a:latin typeface="Calibri" pitchFamily="34" charset="0"/>
                <a:ea typeface="Calibri" pitchFamily="34" charset="-122"/>
                <a:cs typeface="Calibri" pitchFamily="34" charset="-120"/>
              </a:rPr>
              <a:t>Risk-versus-return scatter, risk score per fund coloured by band, table of volatility, drawdown, beta and Sharpe.</a:t>
            </a:r>
            <a:endParaRPr lang="en-US" sz="1250" dirty="0"/>
          </a:p>
        </p:txBody>
      </p:sp>
      <p:sp>
        <p:nvSpPr>
          <p:cNvPr id="71" name="Shape 69"/>
          <p:cNvSpPr/>
          <p:nvPr/>
        </p:nvSpPr>
        <p:spPr>
          <a:xfrm>
            <a:off x="6080760" y="3968496"/>
            <a:ext cx="502920" cy="502920"/>
          </a:xfrm>
          <a:prstGeom prst="ellipse">
            <a:avLst/>
          </a:prstGeom>
          <a:solidFill>
            <a:srgbClr val="0E9F6E"/>
          </a:solidFill>
          <a:ln w="12700">
            <a:solidFill>
              <a:srgbClr val="0E9F6E"/>
            </a:solidFill>
            <a:prstDash val="solid"/>
          </a:ln>
        </p:spPr>
      </p:sp>
      <p:sp>
        <p:nvSpPr>
          <p:cNvPr id="72" name="Text 70"/>
          <p:cNvSpPr txBox="1"/>
          <p:nvPr/>
        </p:nvSpPr>
        <p:spPr>
          <a:xfrm>
            <a:off x="6080760" y="3968496"/>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73" name="Text 71"/>
          <p:cNvSpPr txBox="1"/>
          <p:nvPr/>
        </p:nvSpPr>
        <p:spPr>
          <a:xfrm>
            <a:off x="6766560" y="3931920"/>
            <a:ext cx="4846320" cy="329184"/>
          </a:xfrm>
          <a:prstGeom prst="rect">
            <a:avLst/>
          </a:prstGeom>
          <a:noFill/>
          <a:ln/>
        </p:spPr>
        <p:txBody>
          <a:bodyPr wrap="square" lIns="0" tIns="0" rIns="0" bIns="0" rtlCol="0" anchor="t"/>
          <a:lstStyle/>
          <a:p>
            <a:pPr indent="0" marL="0">
              <a:buNone/>
            </a:pPr>
            <a:r>
              <a:rPr lang="en-US" sz="1600" b="1" dirty="0">
                <a:solidFill>
                  <a:srgbClr val="0B1F2A"/>
                </a:solidFill>
                <a:latin typeface="Calibri" pitchFamily="34" charset="0"/>
                <a:ea typeface="Calibri" pitchFamily="34" charset="-122"/>
                <a:cs typeface="Calibri" pitchFamily="34" charset="-120"/>
              </a:rPr>
              <a:t>Holding Period</a:t>
            </a:r>
            <a:endParaRPr lang="en-US" sz="1600" dirty="0"/>
          </a:p>
        </p:txBody>
      </p:sp>
      <p:sp>
        <p:nvSpPr>
          <p:cNvPr id="74" name="Text 72"/>
          <p:cNvSpPr txBox="1"/>
          <p:nvPr/>
        </p:nvSpPr>
        <p:spPr>
          <a:xfrm>
            <a:off x="6766560" y="4279392"/>
            <a:ext cx="4846320" cy="640080"/>
          </a:xfrm>
          <a:prstGeom prst="rect">
            <a:avLst/>
          </a:prstGeom>
          <a:noFill/>
          <a:ln/>
        </p:spPr>
        <p:txBody>
          <a:bodyPr wrap="square" lIns="0" tIns="0" rIns="0" bIns="0" rtlCol="0" anchor="t"/>
          <a:lstStyle/>
          <a:p>
            <a:pPr indent="0" marL="0">
              <a:buNone/>
            </a:pPr>
            <a:r>
              <a:rPr lang="en-US" sz="1250" dirty="0">
                <a:solidFill>
                  <a:srgbClr val="5B6B75"/>
                </a:solidFill>
                <a:latin typeface="Calibri" pitchFamily="34" charset="0"/>
                <a:ea typeface="Calibri" pitchFamily="34" charset="-122"/>
                <a:cs typeface="Calibri" pitchFamily="34" charset="-120"/>
              </a:rPr>
              <a:t>Chance of gain by years held, return range (10th, median, 90th percentile), fund picker.</a:t>
            </a:r>
            <a:endParaRPr lang="en-US" sz="1250" dirty="0"/>
          </a:p>
        </p:txBody>
      </p:sp>
      <p:sp>
        <p:nvSpPr>
          <p:cNvPr id="75" name="Shape 73"/>
          <p:cNvSpPr/>
          <p:nvPr/>
        </p:nvSpPr>
        <p:spPr>
          <a:xfrm>
            <a:off x="6080760" y="5084064"/>
            <a:ext cx="502920" cy="502920"/>
          </a:xfrm>
          <a:prstGeom prst="ellipse">
            <a:avLst/>
          </a:prstGeom>
          <a:solidFill>
            <a:srgbClr val="0E9F6E"/>
          </a:solidFill>
          <a:ln w="12700">
            <a:solidFill>
              <a:srgbClr val="0E9F6E"/>
            </a:solidFill>
            <a:prstDash val="solid"/>
          </a:ln>
        </p:spPr>
      </p:sp>
      <p:sp>
        <p:nvSpPr>
          <p:cNvPr id="76" name="Text 74"/>
          <p:cNvSpPr txBox="1"/>
          <p:nvPr/>
        </p:nvSpPr>
        <p:spPr>
          <a:xfrm>
            <a:off x="6080760" y="5084064"/>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77" name="Text 75"/>
          <p:cNvSpPr txBox="1"/>
          <p:nvPr/>
        </p:nvSpPr>
        <p:spPr>
          <a:xfrm>
            <a:off x="6766560" y="5047488"/>
            <a:ext cx="4846320" cy="329184"/>
          </a:xfrm>
          <a:prstGeom prst="rect">
            <a:avLst/>
          </a:prstGeom>
          <a:noFill/>
          <a:ln/>
        </p:spPr>
        <p:txBody>
          <a:bodyPr wrap="square" lIns="0" tIns="0" rIns="0" bIns="0" rtlCol="0" anchor="t"/>
          <a:lstStyle/>
          <a:p>
            <a:pPr indent="0" marL="0">
              <a:buNone/>
            </a:pPr>
            <a:r>
              <a:rPr lang="en-US" sz="1600" b="1" dirty="0">
                <a:solidFill>
                  <a:srgbClr val="0B1F2A"/>
                </a:solidFill>
                <a:latin typeface="Calibri" pitchFamily="34" charset="0"/>
                <a:ea typeface="Calibri" pitchFamily="34" charset="-122"/>
                <a:cs typeface="Calibri" pitchFamily="34" charset="-120"/>
              </a:rPr>
              <a:t>Models</a:t>
            </a:r>
            <a:endParaRPr lang="en-US" sz="1600" dirty="0"/>
          </a:p>
        </p:txBody>
      </p:sp>
      <p:sp>
        <p:nvSpPr>
          <p:cNvPr id="78" name="Text 76"/>
          <p:cNvSpPr txBox="1"/>
          <p:nvPr/>
        </p:nvSpPr>
        <p:spPr>
          <a:xfrm>
            <a:off x="6766560" y="5394960"/>
            <a:ext cx="4846320" cy="640080"/>
          </a:xfrm>
          <a:prstGeom prst="rect">
            <a:avLst/>
          </a:prstGeom>
          <a:noFill/>
          <a:ln/>
        </p:spPr>
        <p:txBody>
          <a:bodyPr wrap="square" lIns="0" tIns="0" rIns="0" bIns="0" rtlCol="0" anchor="t"/>
          <a:lstStyle/>
          <a:p>
            <a:pPr indent="0" marL="0">
              <a:buNone/>
            </a:pPr>
            <a:r>
              <a:rPr lang="en-US" sz="1250" dirty="0">
                <a:solidFill>
                  <a:srgbClr val="5B6B75"/>
                </a:solidFill>
                <a:latin typeface="Calibri" pitchFamily="34" charset="0"/>
                <a:ea typeface="Calibri" pitchFamily="34" charset="-122"/>
                <a:cs typeface="Calibri" pitchFamily="34" charset="-120"/>
              </a:rPr>
              <a:t>Forecast error and direction accuracy by model, error by year, risk-model accuracy, next quarter's predicted bands.</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300" kern="0" dirty="0">
                <a:solidFill>
                  <a:srgbClr val="0E9F6E"/>
                </a:solidFill>
                <a:latin typeface="Calibri" pitchFamily="34" charset="0"/>
                <a:ea typeface="Calibri" pitchFamily="34" charset="-122"/>
                <a:cs typeface="Calibri" pitchFamily="34" charset="-120"/>
              </a:rPr>
              <a:t>18  ·  TECHNOLOGY</a:t>
            </a:r>
            <a:endParaRPr lang="en-US" sz="1200" dirty="0"/>
          </a:p>
        </p:txBody>
      </p:sp>
      <p:sp>
        <p:nvSpPr>
          <p:cNvPr id="3" name="Text 1"/>
          <p:cNvSpPr txBox="1"/>
          <p:nvPr/>
        </p:nvSpPr>
        <p:spPr>
          <a:xfrm>
            <a:off x="548640" y="676656"/>
            <a:ext cx="11064240" cy="685800"/>
          </a:xfrm>
          <a:prstGeom prst="rect">
            <a:avLst/>
          </a:prstGeom>
          <a:noFill/>
          <a:ln/>
        </p:spPr>
        <p:txBody>
          <a:bodyPr wrap="square" lIns="0" tIns="0" rIns="0" bIns="0" rtlCol="0" anchor="ctr"/>
          <a:lstStyle/>
          <a:p>
            <a:pPr indent="0" marL="0">
              <a:buNone/>
            </a:pPr>
            <a:r>
              <a:rPr lang="en-US" sz="3000" b="1" dirty="0">
                <a:solidFill>
                  <a:srgbClr val="0B1F2A"/>
                </a:solidFill>
                <a:latin typeface="Arial" pitchFamily="34" charset="0"/>
                <a:ea typeface="Arial" pitchFamily="34" charset="-122"/>
                <a:cs typeface="Arial" pitchFamily="34" charset="-120"/>
              </a:rPr>
              <a:t>Technology stack</a:t>
            </a:r>
            <a:endParaRPr lang="en-US" sz="3000" dirty="0"/>
          </a:p>
        </p:txBody>
      </p:sp>
      <p:sp>
        <p:nvSpPr>
          <p:cNvPr id="4" name="Text 2"/>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B75"/>
                </a:solidFill>
                <a:latin typeface="Calibri" pitchFamily="34" charset="0"/>
                <a:ea typeface="Calibri" pitchFamily="34" charset="-122"/>
                <a:cs typeface="Calibri" pitchFamily="34" charset="-120"/>
              </a:rPr>
              <a:t>Big Data Architecture  |  Stock Market &amp; Mutual Fund Risk Analytics</a:t>
            </a:r>
            <a:endParaRPr lang="en-US" sz="900" dirty="0"/>
          </a:p>
        </p:txBody>
      </p:sp>
      <p:sp>
        <p:nvSpPr>
          <p:cNvPr id="5" name="Text 3"/>
          <p:cNvSpPr txBox="1"/>
          <p:nvPr/>
        </p:nvSpPr>
        <p:spPr>
          <a:xfrm>
            <a:off x="11183112" y="6473952"/>
            <a:ext cx="457200" cy="228600"/>
          </a:xfrm>
          <a:prstGeom prst="rect">
            <a:avLst/>
          </a:prstGeom>
          <a:noFill/>
          <a:ln/>
        </p:spPr>
        <p:txBody>
          <a:bodyPr wrap="square" lIns="0" tIns="0" rIns="0" bIns="0" rtlCol="0" anchor="t"/>
          <a:lstStyle/>
          <a:p>
            <a:pPr algn="r" indent="0" marL="0">
              <a:buNone/>
            </a:pPr>
            <a:r>
              <a:rPr lang="en-US" sz="900" dirty="0">
                <a:solidFill>
                  <a:srgbClr val="5B6B75"/>
                </a:solidFill>
                <a:latin typeface="Calibri" pitchFamily="34" charset="0"/>
                <a:ea typeface="Calibri" pitchFamily="34" charset="-122"/>
                <a:cs typeface="Calibri" pitchFamily="34" charset="-120"/>
              </a:rPr>
              <a:t>19</a:t>
            </a:r>
            <a:endParaRPr lang="en-US" sz="900" dirty="0"/>
          </a:p>
        </p:txBody>
      </p:sp>
      <p:sp>
        <p:nvSpPr>
          <p:cNvPr id="6" name="Shape 4"/>
          <p:cNvSpPr/>
          <p:nvPr/>
        </p:nvSpPr>
        <p:spPr>
          <a:xfrm>
            <a:off x="548640" y="1691640"/>
            <a:ext cx="2651760" cy="2057400"/>
          </a:xfrm>
          <a:prstGeom prst="roundRect">
            <a:avLst>
              <a:gd name="adj" fmla="val 5333"/>
            </a:avLst>
          </a:prstGeom>
          <a:solidFill>
            <a:srgbClr val="F2F6F8"/>
          </a:solidFill>
          <a:ln w="12700">
            <a:solidFill>
              <a:srgbClr val="F2F6F8"/>
            </a:solidFill>
            <a:prstDash val="solid"/>
          </a:ln>
        </p:spPr>
      </p:sp>
      <p:sp>
        <p:nvSpPr>
          <p:cNvPr id="7" name="Shape 5"/>
          <p:cNvSpPr/>
          <p:nvPr/>
        </p:nvSpPr>
        <p:spPr>
          <a:xfrm>
            <a:off x="804672" y="1947672"/>
            <a:ext cx="548640" cy="548640"/>
          </a:xfrm>
          <a:prstGeom prst="ellipse">
            <a:avLst/>
          </a:prstGeom>
          <a:solidFill>
            <a:srgbClr val="0E9F6E"/>
          </a:solidFill>
          <a:ln w="12700">
            <a:solidFill>
              <a:srgbClr val="0E9F6E"/>
            </a:solidFill>
            <a:prstDash val="solid"/>
          </a:ln>
        </p:spPr>
      </p:sp>
      <p:pic>
        <p:nvPicPr>
          <p:cNvPr id="8" name="Image 0" descr="preencoded.png">    </p:cNvPr>
          <p:cNvPicPr>
            <a:picLocks noChangeAspect="1"/>
          </p:cNvPicPr>
          <p:nvPr/>
        </p:nvPicPr>
        <p:blipFill>
          <a:blip r:embed="rId1"/>
          <a:stretch>
            <a:fillRect/>
          </a:stretch>
        </p:blipFill>
        <p:spPr>
          <a:xfrm>
            <a:off x="947318" y="2090318"/>
            <a:ext cx="263347" cy="263347"/>
          </a:xfrm>
          <a:prstGeom prst="rect">
            <a:avLst/>
          </a:prstGeom>
        </p:spPr>
      </p:pic>
      <p:sp>
        <p:nvSpPr>
          <p:cNvPr id="9" name="Text 6"/>
          <p:cNvSpPr txBox="1"/>
          <p:nvPr/>
        </p:nvSpPr>
        <p:spPr>
          <a:xfrm>
            <a:off x="804672" y="2606040"/>
            <a:ext cx="2194560" cy="256032"/>
          </a:xfrm>
          <a:prstGeom prst="rect">
            <a:avLst/>
          </a:prstGeom>
          <a:noFill/>
          <a:ln/>
        </p:spPr>
        <p:txBody>
          <a:bodyPr wrap="square" lIns="0" tIns="0" rIns="0" bIns="0" rtlCol="0" anchor="t"/>
          <a:lstStyle/>
          <a:p>
            <a:pPr indent="0" marL="0">
              <a:buNone/>
            </a:pPr>
            <a:r>
              <a:rPr lang="en-US" sz="1050" b="1" spc="200" kern="0" dirty="0">
                <a:solidFill>
                  <a:srgbClr val="0E9F6E"/>
                </a:solidFill>
                <a:latin typeface="Calibri" pitchFamily="34" charset="0"/>
                <a:ea typeface="Calibri" pitchFamily="34" charset="-122"/>
                <a:cs typeface="Calibri" pitchFamily="34" charset="-120"/>
              </a:rPr>
              <a:t>INGESTION</a:t>
            </a:r>
            <a:endParaRPr lang="en-US" sz="1050" dirty="0"/>
          </a:p>
        </p:txBody>
      </p:sp>
      <p:sp>
        <p:nvSpPr>
          <p:cNvPr id="10" name="Text 7"/>
          <p:cNvSpPr txBox="1"/>
          <p:nvPr/>
        </p:nvSpPr>
        <p:spPr>
          <a:xfrm>
            <a:off x="804672" y="2880360"/>
            <a:ext cx="2194560" cy="777240"/>
          </a:xfrm>
          <a:prstGeom prst="rect">
            <a:avLst/>
          </a:prstGeom>
          <a:noFill/>
          <a:ln/>
        </p:spPr>
        <p:txBody>
          <a:bodyPr wrap="square" lIns="0" tIns="0" rIns="0" bIns="0" rtlCol="0" anchor="t"/>
          <a:lstStyle/>
          <a:p>
            <a:pPr indent="0" marL="0">
              <a:buNone/>
            </a:pPr>
            <a:r>
              <a:rPr lang="en-US" sz="1450" b="1" dirty="0">
                <a:solidFill>
                  <a:srgbClr val="0B1F2A"/>
                </a:solidFill>
                <a:latin typeface="Calibri" pitchFamily="34" charset="0"/>
                <a:ea typeface="Calibri" pitchFamily="34" charset="-122"/>
                <a:cs typeface="Calibri" pitchFamily="34" charset="-120"/>
              </a:rPr>
              <a:t>Python, requests, zstandard, yfinance</a:t>
            </a:r>
            <a:endParaRPr lang="en-US" sz="1450" dirty="0"/>
          </a:p>
        </p:txBody>
      </p:sp>
      <p:sp>
        <p:nvSpPr>
          <p:cNvPr id="11" name="Shape 8"/>
          <p:cNvSpPr/>
          <p:nvPr/>
        </p:nvSpPr>
        <p:spPr>
          <a:xfrm>
            <a:off x="3364992" y="1691640"/>
            <a:ext cx="2651760" cy="2057400"/>
          </a:xfrm>
          <a:prstGeom prst="roundRect">
            <a:avLst>
              <a:gd name="adj" fmla="val 5333"/>
            </a:avLst>
          </a:prstGeom>
          <a:solidFill>
            <a:srgbClr val="F2F6F8"/>
          </a:solidFill>
          <a:ln w="12700">
            <a:solidFill>
              <a:srgbClr val="F2F6F8"/>
            </a:solidFill>
            <a:prstDash val="solid"/>
          </a:ln>
        </p:spPr>
      </p:sp>
      <p:sp>
        <p:nvSpPr>
          <p:cNvPr id="12" name="Shape 9"/>
          <p:cNvSpPr/>
          <p:nvPr/>
        </p:nvSpPr>
        <p:spPr>
          <a:xfrm>
            <a:off x="3621024" y="1947672"/>
            <a:ext cx="548640" cy="548640"/>
          </a:xfrm>
          <a:prstGeom prst="ellipse">
            <a:avLst/>
          </a:prstGeom>
          <a:solidFill>
            <a:srgbClr val="0B1F2A"/>
          </a:solidFill>
          <a:ln w="12700">
            <a:solidFill>
              <a:srgbClr val="0B1F2A"/>
            </a:solidFill>
            <a:prstDash val="solid"/>
          </a:ln>
        </p:spPr>
      </p:sp>
      <p:pic>
        <p:nvPicPr>
          <p:cNvPr id="13" name="Image 1" descr="preencoded.png">    </p:cNvPr>
          <p:cNvPicPr>
            <a:picLocks noChangeAspect="1"/>
          </p:cNvPicPr>
          <p:nvPr/>
        </p:nvPicPr>
        <p:blipFill>
          <a:blip r:embed="rId2"/>
          <a:stretch>
            <a:fillRect/>
          </a:stretch>
        </p:blipFill>
        <p:spPr>
          <a:xfrm>
            <a:off x="3763670" y="2090318"/>
            <a:ext cx="263347" cy="263347"/>
          </a:xfrm>
          <a:prstGeom prst="rect">
            <a:avLst/>
          </a:prstGeom>
        </p:spPr>
      </p:pic>
      <p:sp>
        <p:nvSpPr>
          <p:cNvPr id="14" name="Text 10"/>
          <p:cNvSpPr txBox="1"/>
          <p:nvPr/>
        </p:nvSpPr>
        <p:spPr>
          <a:xfrm>
            <a:off x="3621024" y="2606040"/>
            <a:ext cx="2194560" cy="256032"/>
          </a:xfrm>
          <a:prstGeom prst="rect">
            <a:avLst/>
          </a:prstGeom>
          <a:noFill/>
          <a:ln/>
        </p:spPr>
        <p:txBody>
          <a:bodyPr wrap="square" lIns="0" tIns="0" rIns="0" bIns="0" rtlCol="0" anchor="t"/>
          <a:lstStyle/>
          <a:p>
            <a:pPr indent="0" marL="0">
              <a:buNone/>
            </a:pPr>
            <a:r>
              <a:rPr lang="en-US" sz="1050" b="1" spc="200" kern="0" dirty="0">
                <a:solidFill>
                  <a:srgbClr val="0E9F6E"/>
                </a:solidFill>
                <a:latin typeface="Calibri" pitchFamily="34" charset="0"/>
                <a:ea typeface="Calibri" pitchFamily="34" charset="-122"/>
                <a:cs typeface="Calibri" pitchFamily="34" charset="-120"/>
              </a:rPr>
              <a:t>STORAGE</a:t>
            </a:r>
            <a:endParaRPr lang="en-US" sz="1050" dirty="0"/>
          </a:p>
        </p:txBody>
      </p:sp>
      <p:sp>
        <p:nvSpPr>
          <p:cNvPr id="15" name="Text 11"/>
          <p:cNvSpPr txBox="1"/>
          <p:nvPr/>
        </p:nvSpPr>
        <p:spPr>
          <a:xfrm>
            <a:off x="3621024" y="2880360"/>
            <a:ext cx="2194560" cy="777240"/>
          </a:xfrm>
          <a:prstGeom prst="rect">
            <a:avLst/>
          </a:prstGeom>
          <a:noFill/>
          <a:ln/>
        </p:spPr>
        <p:txBody>
          <a:bodyPr wrap="square" lIns="0" tIns="0" rIns="0" bIns="0" rtlCol="0" anchor="t"/>
          <a:lstStyle/>
          <a:p>
            <a:pPr indent="0" marL="0">
              <a:buNone/>
            </a:pPr>
            <a:r>
              <a:rPr lang="en-US" sz="1450" b="1" dirty="0">
                <a:solidFill>
                  <a:srgbClr val="0B1F2A"/>
                </a:solidFill>
                <a:latin typeface="Calibri" pitchFamily="34" charset="0"/>
                <a:ea typeface="Calibri" pitchFamily="34" charset="-122"/>
                <a:cs typeface="Calibri" pitchFamily="34" charset="-120"/>
              </a:rPr>
              <a:t>HDFS on Hadoop 3.4.3, Apache Parquet</a:t>
            </a:r>
            <a:endParaRPr lang="en-US" sz="1450" dirty="0"/>
          </a:p>
        </p:txBody>
      </p:sp>
      <p:sp>
        <p:nvSpPr>
          <p:cNvPr id="16" name="Shape 12"/>
          <p:cNvSpPr/>
          <p:nvPr/>
        </p:nvSpPr>
        <p:spPr>
          <a:xfrm>
            <a:off x="6181344" y="1691640"/>
            <a:ext cx="2651760" cy="2057400"/>
          </a:xfrm>
          <a:prstGeom prst="roundRect">
            <a:avLst>
              <a:gd name="adj" fmla="val 5333"/>
            </a:avLst>
          </a:prstGeom>
          <a:solidFill>
            <a:srgbClr val="F2F6F8"/>
          </a:solidFill>
          <a:ln w="12700">
            <a:solidFill>
              <a:srgbClr val="F2F6F8"/>
            </a:solidFill>
            <a:prstDash val="solid"/>
          </a:ln>
        </p:spPr>
      </p:sp>
      <p:sp>
        <p:nvSpPr>
          <p:cNvPr id="17" name="Shape 13"/>
          <p:cNvSpPr/>
          <p:nvPr/>
        </p:nvSpPr>
        <p:spPr>
          <a:xfrm>
            <a:off x="6437376" y="1947672"/>
            <a:ext cx="548640" cy="548640"/>
          </a:xfrm>
          <a:prstGeom prst="ellipse">
            <a:avLst/>
          </a:prstGeom>
          <a:solidFill>
            <a:srgbClr val="0B1F2A"/>
          </a:solidFill>
          <a:ln w="12700">
            <a:solidFill>
              <a:srgbClr val="0B1F2A"/>
            </a:solidFill>
            <a:prstDash val="solid"/>
          </a:ln>
        </p:spPr>
      </p:sp>
      <p:pic>
        <p:nvPicPr>
          <p:cNvPr id="18" name="Image 2" descr="preencoded.png">    </p:cNvPr>
          <p:cNvPicPr>
            <a:picLocks noChangeAspect="1"/>
          </p:cNvPicPr>
          <p:nvPr/>
        </p:nvPicPr>
        <p:blipFill>
          <a:blip r:embed="rId3"/>
          <a:stretch>
            <a:fillRect/>
          </a:stretch>
        </p:blipFill>
        <p:spPr>
          <a:xfrm>
            <a:off x="6580022" y="2090318"/>
            <a:ext cx="263347" cy="263347"/>
          </a:xfrm>
          <a:prstGeom prst="rect">
            <a:avLst/>
          </a:prstGeom>
        </p:spPr>
      </p:pic>
      <p:sp>
        <p:nvSpPr>
          <p:cNvPr id="19" name="Text 14"/>
          <p:cNvSpPr txBox="1"/>
          <p:nvPr/>
        </p:nvSpPr>
        <p:spPr>
          <a:xfrm>
            <a:off x="6437376" y="2606040"/>
            <a:ext cx="2194560" cy="256032"/>
          </a:xfrm>
          <a:prstGeom prst="rect">
            <a:avLst/>
          </a:prstGeom>
          <a:noFill/>
          <a:ln/>
        </p:spPr>
        <p:txBody>
          <a:bodyPr wrap="square" lIns="0" tIns="0" rIns="0" bIns="0" rtlCol="0" anchor="t"/>
          <a:lstStyle/>
          <a:p>
            <a:pPr indent="0" marL="0">
              <a:buNone/>
            </a:pPr>
            <a:r>
              <a:rPr lang="en-US" sz="1050" b="1" spc="200" kern="0" dirty="0">
                <a:solidFill>
                  <a:srgbClr val="0E9F6E"/>
                </a:solidFill>
                <a:latin typeface="Calibri" pitchFamily="34" charset="0"/>
                <a:ea typeface="Calibri" pitchFamily="34" charset="-122"/>
                <a:cs typeface="Calibri" pitchFamily="34" charset="-120"/>
              </a:rPr>
              <a:t>PROCESSING</a:t>
            </a:r>
            <a:endParaRPr lang="en-US" sz="1050" dirty="0"/>
          </a:p>
        </p:txBody>
      </p:sp>
      <p:sp>
        <p:nvSpPr>
          <p:cNvPr id="20" name="Text 15"/>
          <p:cNvSpPr txBox="1"/>
          <p:nvPr/>
        </p:nvSpPr>
        <p:spPr>
          <a:xfrm>
            <a:off x="6437376" y="2880360"/>
            <a:ext cx="2194560" cy="777240"/>
          </a:xfrm>
          <a:prstGeom prst="rect">
            <a:avLst/>
          </a:prstGeom>
          <a:noFill/>
          <a:ln/>
        </p:spPr>
        <p:txBody>
          <a:bodyPr wrap="square" lIns="0" tIns="0" rIns="0" bIns="0" rtlCol="0" anchor="t"/>
          <a:lstStyle/>
          <a:p>
            <a:pPr indent="0" marL="0">
              <a:buNone/>
            </a:pPr>
            <a:r>
              <a:rPr lang="en-US" sz="1450" b="1" dirty="0">
                <a:solidFill>
                  <a:srgbClr val="0B1F2A"/>
                </a:solidFill>
                <a:latin typeface="Calibri" pitchFamily="34" charset="0"/>
                <a:ea typeface="Calibri" pitchFamily="34" charset="-122"/>
                <a:cs typeface="Calibri" pitchFamily="34" charset="-120"/>
              </a:rPr>
              <a:t>Apache Spark 3.5.9 (PySpark)</a:t>
            </a:r>
            <a:endParaRPr lang="en-US" sz="1450" dirty="0"/>
          </a:p>
        </p:txBody>
      </p:sp>
      <p:sp>
        <p:nvSpPr>
          <p:cNvPr id="21" name="Shape 16"/>
          <p:cNvSpPr/>
          <p:nvPr/>
        </p:nvSpPr>
        <p:spPr>
          <a:xfrm>
            <a:off x="8997696" y="1691640"/>
            <a:ext cx="2651760" cy="2057400"/>
          </a:xfrm>
          <a:prstGeom prst="roundRect">
            <a:avLst>
              <a:gd name="adj" fmla="val 5333"/>
            </a:avLst>
          </a:prstGeom>
          <a:solidFill>
            <a:srgbClr val="F2F6F8"/>
          </a:solidFill>
          <a:ln w="12700">
            <a:solidFill>
              <a:srgbClr val="F2F6F8"/>
            </a:solidFill>
            <a:prstDash val="solid"/>
          </a:ln>
        </p:spPr>
      </p:sp>
      <p:sp>
        <p:nvSpPr>
          <p:cNvPr id="22" name="Shape 17"/>
          <p:cNvSpPr/>
          <p:nvPr/>
        </p:nvSpPr>
        <p:spPr>
          <a:xfrm>
            <a:off x="9253728" y="1947672"/>
            <a:ext cx="548640" cy="548640"/>
          </a:xfrm>
          <a:prstGeom prst="ellipse">
            <a:avLst/>
          </a:prstGeom>
          <a:solidFill>
            <a:srgbClr val="0E9F6E"/>
          </a:solidFill>
          <a:ln w="12700">
            <a:solidFill>
              <a:srgbClr val="0E9F6E"/>
            </a:solidFill>
            <a:prstDash val="solid"/>
          </a:ln>
        </p:spPr>
      </p:sp>
      <p:pic>
        <p:nvPicPr>
          <p:cNvPr id="23" name="Image 3" descr="preencoded.png">    </p:cNvPr>
          <p:cNvPicPr>
            <a:picLocks noChangeAspect="1"/>
          </p:cNvPicPr>
          <p:nvPr/>
        </p:nvPicPr>
        <p:blipFill>
          <a:blip r:embed="rId4"/>
          <a:stretch>
            <a:fillRect/>
          </a:stretch>
        </p:blipFill>
        <p:spPr>
          <a:xfrm>
            <a:off x="9396374" y="2090318"/>
            <a:ext cx="263347" cy="263347"/>
          </a:xfrm>
          <a:prstGeom prst="rect">
            <a:avLst/>
          </a:prstGeom>
        </p:spPr>
      </p:pic>
      <p:sp>
        <p:nvSpPr>
          <p:cNvPr id="24" name="Text 18"/>
          <p:cNvSpPr txBox="1"/>
          <p:nvPr/>
        </p:nvSpPr>
        <p:spPr>
          <a:xfrm>
            <a:off x="9253728" y="2606040"/>
            <a:ext cx="2194560" cy="256032"/>
          </a:xfrm>
          <a:prstGeom prst="rect">
            <a:avLst/>
          </a:prstGeom>
          <a:noFill/>
          <a:ln/>
        </p:spPr>
        <p:txBody>
          <a:bodyPr wrap="square" lIns="0" tIns="0" rIns="0" bIns="0" rtlCol="0" anchor="t"/>
          <a:lstStyle/>
          <a:p>
            <a:pPr indent="0" marL="0">
              <a:buNone/>
            </a:pPr>
            <a:r>
              <a:rPr lang="en-US" sz="1050" b="1" spc="200" kern="0" dirty="0">
                <a:solidFill>
                  <a:srgbClr val="0E9F6E"/>
                </a:solidFill>
                <a:latin typeface="Calibri" pitchFamily="34" charset="0"/>
                <a:ea typeface="Calibri" pitchFamily="34" charset="-122"/>
                <a:cs typeface="Calibri" pitchFamily="34" charset="-120"/>
              </a:rPr>
              <a:t>MACHINE LEARNING</a:t>
            </a:r>
            <a:endParaRPr lang="en-US" sz="1050" dirty="0"/>
          </a:p>
        </p:txBody>
      </p:sp>
      <p:sp>
        <p:nvSpPr>
          <p:cNvPr id="25" name="Text 19"/>
          <p:cNvSpPr txBox="1"/>
          <p:nvPr/>
        </p:nvSpPr>
        <p:spPr>
          <a:xfrm>
            <a:off x="9253728" y="2880360"/>
            <a:ext cx="2194560" cy="777240"/>
          </a:xfrm>
          <a:prstGeom prst="rect">
            <a:avLst/>
          </a:prstGeom>
          <a:noFill/>
          <a:ln/>
        </p:spPr>
        <p:txBody>
          <a:bodyPr wrap="square" lIns="0" tIns="0" rIns="0" bIns="0" rtlCol="0" anchor="t"/>
          <a:lstStyle/>
          <a:p>
            <a:pPr indent="0" marL="0">
              <a:buNone/>
            </a:pPr>
            <a:r>
              <a:rPr lang="en-US" sz="1450" b="1" dirty="0">
                <a:solidFill>
                  <a:srgbClr val="0B1F2A"/>
                </a:solidFill>
                <a:latin typeface="Calibri" pitchFamily="34" charset="0"/>
                <a:ea typeface="Calibri" pitchFamily="34" charset="-122"/>
                <a:cs typeface="Calibri" pitchFamily="34" charset="-120"/>
              </a:rPr>
              <a:t>Spark MLlib, statsmodels (ARIMA)</a:t>
            </a:r>
            <a:endParaRPr lang="en-US" sz="1450" dirty="0"/>
          </a:p>
        </p:txBody>
      </p:sp>
      <p:sp>
        <p:nvSpPr>
          <p:cNvPr id="26" name="Shape 20"/>
          <p:cNvSpPr/>
          <p:nvPr/>
        </p:nvSpPr>
        <p:spPr>
          <a:xfrm>
            <a:off x="548640" y="3977640"/>
            <a:ext cx="2651760" cy="2057400"/>
          </a:xfrm>
          <a:prstGeom prst="roundRect">
            <a:avLst>
              <a:gd name="adj" fmla="val 5333"/>
            </a:avLst>
          </a:prstGeom>
          <a:solidFill>
            <a:srgbClr val="F2F6F8"/>
          </a:solidFill>
          <a:ln w="12700">
            <a:solidFill>
              <a:srgbClr val="F2F6F8"/>
            </a:solidFill>
            <a:prstDash val="solid"/>
          </a:ln>
        </p:spPr>
      </p:sp>
      <p:sp>
        <p:nvSpPr>
          <p:cNvPr id="27" name="Shape 21"/>
          <p:cNvSpPr/>
          <p:nvPr/>
        </p:nvSpPr>
        <p:spPr>
          <a:xfrm>
            <a:off x="804672" y="4233672"/>
            <a:ext cx="548640" cy="548640"/>
          </a:xfrm>
          <a:prstGeom prst="ellipse">
            <a:avLst/>
          </a:prstGeom>
          <a:solidFill>
            <a:srgbClr val="0E9F6E"/>
          </a:solidFill>
          <a:ln w="12700">
            <a:solidFill>
              <a:srgbClr val="0E9F6E"/>
            </a:solidFill>
            <a:prstDash val="solid"/>
          </a:ln>
        </p:spPr>
      </p:sp>
      <p:pic>
        <p:nvPicPr>
          <p:cNvPr id="28" name="Image 4" descr="preencoded.png">    </p:cNvPr>
          <p:cNvPicPr>
            <a:picLocks noChangeAspect="1"/>
          </p:cNvPicPr>
          <p:nvPr/>
        </p:nvPicPr>
        <p:blipFill>
          <a:blip r:embed="rId5"/>
          <a:stretch>
            <a:fillRect/>
          </a:stretch>
        </p:blipFill>
        <p:spPr>
          <a:xfrm>
            <a:off x="947318" y="4376318"/>
            <a:ext cx="263347" cy="263347"/>
          </a:xfrm>
          <a:prstGeom prst="rect">
            <a:avLst/>
          </a:prstGeom>
        </p:spPr>
      </p:pic>
      <p:sp>
        <p:nvSpPr>
          <p:cNvPr id="29" name="Text 22"/>
          <p:cNvSpPr txBox="1"/>
          <p:nvPr/>
        </p:nvSpPr>
        <p:spPr>
          <a:xfrm>
            <a:off x="804672" y="4892040"/>
            <a:ext cx="2194560" cy="256032"/>
          </a:xfrm>
          <a:prstGeom prst="rect">
            <a:avLst/>
          </a:prstGeom>
          <a:noFill/>
          <a:ln/>
        </p:spPr>
        <p:txBody>
          <a:bodyPr wrap="square" lIns="0" tIns="0" rIns="0" bIns="0" rtlCol="0" anchor="t"/>
          <a:lstStyle/>
          <a:p>
            <a:pPr indent="0" marL="0">
              <a:buNone/>
            </a:pPr>
            <a:r>
              <a:rPr lang="en-US" sz="1050" b="1" spc="200" kern="0" dirty="0">
                <a:solidFill>
                  <a:srgbClr val="0E9F6E"/>
                </a:solidFill>
                <a:latin typeface="Calibri" pitchFamily="34" charset="0"/>
                <a:ea typeface="Calibri" pitchFamily="34" charset="-122"/>
                <a:cs typeface="Calibri" pitchFamily="34" charset="-120"/>
              </a:rPr>
              <a:t>SERVING AND WEBSITE</a:t>
            </a:r>
            <a:endParaRPr lang="en-US" sz="1050" dirty="0"/>
          </a:p>
        </p:txBody>
      </p:sp>
      <p:sp>
        <p:nvSpPr>
          <p:cNvPr id="30" name="Text 23"/>
          <p:cNvSpPr txBox="1"/>
          <p:nvPr/>
        </p:nvSpPr>
        <p:spPr>
          <a:xfrm>
            <a:off x="804672" y="5166360"/>
            <a:ext cx="2194560" cy="777240"/>
          </a:xfrm>
          <a:prstGeom prst="rect">
            <a:avLst/>
          </a:prstGeom>
          <a:noFill/>
          <a:ln/>
        </p:spPr>
        <p:txBody>
          <a:bodyPr wrap="square" lIns="0" tIns="0" rIns="0" bIns="0" rtlCol="0" anchor="t"/>
          <a:lstStyle/>
          <a:p>
            <a:pPr indent="0" marL="0">
              <a:buNone/>
            </a:pPr>
            <a:r>
              <a:rPr lang="en-US" sz="1450" b="1" dirty="0">
                <a:solidFill>
                  <a:srgbClr val="0B1F2A"/>
                </a:solidFill>
                <a:latin typeface="Calibri" pitchFamily="34" charset="0"/>
                <a:ea typeface="Calibri" pitchFamily="34" charset="-122"/>
                <a:cs typeface="Calibri" pitchFamily="34" charset="-120"/>
              </a:rPr>
              <a:t>FastAPI, Uvicorn, HTML, Chart.js</a:t>
            </a:r>
            <a:endParaRPr lang="en-US" sz="1450" dirty="0"/>
          </a:p>
        </p:txBody>
      </p:sp>
      <p:sp>
        <p:nvSpPr>
          <p:cNvPr id="31" name="Shape 24"/>
          <p:cNvSpPr/>
          <p:nvPr/>
        </p:nvSpPr>
        <p:spPr>
          <a:xfrm>
            <a:off x="3364992" y="3977640"/>
            <a:ext cx="2651760" cy="2057400"/>
          </a:xfrm>
          <a:prstGeom prst="roundRect">
            <a:avLst>
              <a:gd name="adj" fmla="val 5333"/>
            </a:avLst>
          </a:prstGeom>
          <a:solidFill>
            <a:srgbClr val="F2F6F8"/>
          </a:solidFill>
          <a:ln w="12700">
            <a:solidFill>
              <a:srgbClr val="F2F6F8"/>
            </a:solidFill>
            <a:prstDash val="solid"/>
          </a:ln>
        </p:spPr>
      </p:sp>
      <p:sp>
        <p:nvSpPr>
          <p:cNvPr id="32" name="Shape 25"/>
          <p:cNvSpPr/>
          <p:nvPr/>
        </p:nvSpPr>
        <p:spPr>
          <a:xfrm>
            <a:off x="3621024" y="4233672"/>
            <a:ext cx="548640" cy="548640"/>
          </a:xfrm>
          <a:prstGeom prst="ellipse">
            <a:avLst/>
          </a:prstGeom>
          <a:solidFill>
            <a:srgbClr val="0E9F6E"/>
          </a:solidFill>
          <a:ln w="12700">
            <a:solidFill>
              <a:srgbClr val="0E9F6E"/>
            </a:solidFill>
            <a:prstDash val="solid"/>
          </a:ln>
        </p:spPr>
      </p:sp>
      <p:pic>
        <p:nvPicPr>
          <p:cNvPr id="33" name="Image 5" descr="preencoded.png">    </p:cNvPr>
          <p:cNvPicPr>
            <a:picLocks noChangeAspect="1"/>
          </p:cNvPicPr>
          <p:nvPr/>
        </p:nvPicPr>
        <p:blipFill>
          <a:blip r:embed="rId6"/>
          <a:stretch>
            <a:fillRect/>
          </a:stretch>
        </p:blipFill>
        <p:spPr>
          <a:xfrm>
            <a:off x="3763670" y="4376318"/>
            <a:ext cx="263347" cy="263347"/>
          </a:xfrm>
          <a:prstGeom prst="rect">
            <a:avLst/>
          </a:prstGeom>
        </p:spPr>
      </p:pic>
      <p:sp>
        <p:nvSpPr>
          <p:cNvPr id="34" name="Text 26"/>
          <p:cNvSpPr txBox="1"/>
          <p:nvPr/>
        </p:nvSpPr>
        <p:spPr>
          <a:xfrm>
            <a:off x="3621024" y="4892040"/>
            <a:ext cx="2194560" cy="256032"/>
          </a:xfrm>
          <a:prstGeom prst="rect">
            <a:avLst/>
          </a:prstGeom>
          <a:noFill/>
          <a:ln/>
        </p:spPr>
        <p:txBody>
          <a:bodyPr wrap="square" lIns="0" tIns="0" rIns="0" bIns="0" rtlCol="0" anchor="t"/>
          <a:lstStyle/>
          <a:p>
            <a:pPr indent="0" marL="0">
              <a:buNone/>
            </a:pPr>
            <a:r>
              <a:rPr lang="en-US" sz="1050" b="1" spc="200" kern="0" dirty="0">
                <a:solidFill>
                  <a:srgbClr val="0E9F6E"/>
                </a:solidFill>
                <a:latin typeface="Calibri" pitchFamily="34" charset="0"/>
                <a:ea typeface="Calibri" pitchFamily="34" charset="-122"/>
                <a:cs typeface="Calibri" pitchFamily="34" charset="-120"/>
              </a:rPr>
              <a:t>VISUALIZATION</a:t>
            </a:r>
            <a:endParaRPr lang="en-US" sz="1050" dirty="0"/>
          </a:p>
        </p:txBody>
      </p:sp>
      <p:sp>
        <p:nvSpPr>
          <p:cNvPr id="35" name="Text 27"/>
          <p:cNvSpPr txBox="1"/>
          <p:nvPr/>
        </p:nvSpPr>
        <p:spPr>
          <a:xfrm>
            <a:off x="3621024" y="5166360"/>
            <a:ext cx="2194560" cy="777240"/>
          </a:xfrm>
          <a:prstGeom prst="rect">
            <a:avLst/>
          </a:prstGeom>
          <a:noFill/>
          <a:ln/>
        </p:spPr>
        <p:txBody>
          <a:bodyPr wrap="square" lIns="0" tIns="0" rIns="0" bIns="0" rtlCol="0" anchor="t"/>
          <a:lstStyle/>
          <a:p>
            <a:pPr indent="0" marL="0">
              <a:buNone/>
            </a:pPr>
            <a:r>
              <a:rPr lang="en-US" sz="1450" b="1" dirty="0">
                <a:solidFill>
                  <a:srgbClr val="0B1F2A"/>
                </a:solidFill>
                <a:latin typeface="Calibri" pitchFamily="34" charset="0"/>
                <a:ea typeface="Calibri" pitchFamily="34" charset="-122"/>
                <a:cs typeface="Calibri" pitchFamily="34" charset="-120"/>
              </a:rPr>
              <a:t>Power BI Desktop, Power Query M</a:t>
            </a:r>
            <a:endParaRPr lang="en-US" sz="1450" dirty="0"/>
          </a:p>
        </p:txBody>
      </p:sp>
      <p:sp>
        <p:nvSpPr>
          <p:cNvPr id="36" name="Shape 28"/>
          <p:cNvSpPr/>
          <p:nvPr/>
        </p:nvSpPr>
        <p:spPr>
          <a:xfrm>
            <a:off x="6181344" y="3977640"/>
            <a:ext cx="2651760" cy="2057400"/>
          </a:xfrm>
          <a:prstGeom prst="roundRect">
            <a:avLst>
              <a:gd name="adj" fmla="val 5333"/>
            </a:avLst>
          </a:prstGeom>
          <a:solidFill>
            <a:srgbClr val="F2F6F8"/>
          </a:solidFill>
          <a:ln w="12700">
            <a:solidFill>
              <a:srgbClr val="F2F6F8"/>
            </a:solidFill>
            <a:prstDash val="solid"/>
          </a:ln>
        </p:spPr>
      </p:sp>
      <p:sp>
        <p:nvSpPr>
          <p:cNvPr id="37" name="Shape 29"/>
          <p:cNvSpPr/>
          <p:nvPr/>
        </p:nvSpPr>
        <p:spPr>
          <a:xfrm>
            <a:off x="6437376" y="4233672"/>
            <a:ext cx="548640" cy="548640"/>
          </a:xfrm>
          <a:prstGeom prst="ellipse">
            <a:avLst/>
          </a:prstGeom>
          <a:solidFill>
            <a:srgbClr val="0E9F6E"/>
          </a:solidFill>
          <a:ln w="12700">
            <a:solidFill>
              <a:srgbClr val="0E9F6E"/>
            </a:solidFill>
            <a:prstDash val="solid"/>
          </a:ln>
        </p:spPr>
      </p:sp>
      <p:pic>
        <p:nvPicPr>
          <p:cNvPr id="38" name="Image 6" descr="preencoded.png">    </p:cNvPr>
          <p:cNvPicPr>
            <a:picLocks noChangeAspect="1"/>
          </p:cNvPicPr>
          <p:nvPr/>
        </p:nvPicPr>
        <p:blipFill>
          <a:blip r:embed="rId7"/>
          <a:stretch>
            <a:fillRect/>
          </a:stretch>
        </p:blipFill>
        <p:spPr>
          <a:xfrm>
            <a:off x="6580022" y="4376318"/>
            <a:ext cx="263347" cy="263347"/>
          </a:xfrm>
          <a:prstGeom prst="rect">
            <a:avLst/>
          </a:prstGeom>
        </p:spPr>
      </p:pic>
      <p:sp>
        <p:nvSpPr>
          <p:cNvPr id="39" name="Text 30"/>
          <p:cNvSpPr txBox="1"/>
          <p:nvPr/>
        </p:nvSpPr>
        <p:spPr>
          <a:xfrm>
            <a:off x="6437376" y="4892040"/>
            <a:ext cx="2194560" cy="256032"/>
          </a:xfrm>
          <a:prstGeom prst="rect">
            <a:avLst/>
          </a:prstGeom>
          <a:noFill/>
          <a:ln/>
        </p:spPr>
        <p:txBody>
          <a:bodyPr wrap="square" lIns="0" tIns="0" rIns="0" bIns="0" rtlCol="0" anchor="t"/>
          <a:lstStyle/>
          <a:p>
            <a:pPr indent="0" marL="0">
              <a:buNone/>
            </a:pPr>
            <a:r>
              <a:rPr lang="en-US" sz="1050" b="1" spc="200" kern="0" dirty="0">
                <a:solidFill>
                  <a:srgbClr val="0E9F6E"/>
                </a:solidFill>
                <a:latin typeface="Calibri" pitchFamily="34" charset="0"/>
                <a:ea typeface="Calibri" pitchFamily="34" charset="-122"/>
                <a:cs typeface="Calibri" pitchFamily="34" charset="-120"/>
              </a:rPr>
              <a:t>ENVIRONMENT</a:t>
            </a:r>
            <a:endParaRPr lang="en-US" sz="1050" dirty="0"/>
          </a:p>
        </p:txBody>
      </p:sp>
      <p:sp>
        <p:nvSpPr>
          <p:cNvPr id="40" name="Text 31"/>
          <p:cNvSpPr txBox="1"/>
          <p:nvPr/>
        </p:nvSpPr>
        <p:spPr>
          <a:xfrm>
            <a:off x="6437376" y="5166360"/>
            <a:ext cx="2194560" cy="777240"/>
          </a:xfrm>
          <a:prstGeom prst="rect">
            <a:avLst/>
          </a:prstGeom>
          <a:noFill/>
          <a:ln/>
        </p:spPr>
        <p:txBody>
          <a:bodyPr wrap="square" lIns="0" tIns="0" rIns="0" bIns="0" rtlCol="0" anchor="t"/>
          <a:lstStyle/>
          <a:p>
            <a:pPr indent="0" marL="0">
              <a:buNone/>
            </a:pPr>
            <a:r>
              <a:rPr lang="en-US" sz="1450" b="1" dirty="0">
                <a:solidFill>
                  <a:srgbClr val="0B1F2A"/>
                </a:solidFill>
                <a:latin typeface="Calibri" pitchFamily="34" charset="0"/>
                <a:ea typeface="Calibri" pitchFamily="34" charset="-122"/>
                <a:cs typeface="Calibri" pitchFamily="34" charset="-120"/>
              </a:rPr>
              <a:t>WSL Ubuntu, Java 11, Python 3.12</a:t>
            </a:r>
            <a:endParaRPr lang="en-US" sz="1450" dirty="0"/>
          </a:p>
        </p:txBody>
      </p:sp>
      <p:sp>
        <p:nvSpPr>
          <p:cNvPr id="41" name="Shape 32"/>
          <p:cNvSpPr/>
          <p:nvPr/>
        </p:nvSpPr>
        <p:spPr>
          <a:xfrm>
            <a:off x="8997696" y="3977640"/>
            <a:ext cx="2651760" cy="2057400"/>
          </a:xfrm>
          <a:prstGeom prst="roundRect">
            <a:avLst>
              <a:gd name="adj" fmla="val 5333"/>
            </a:avLst>
          </a:prstGeom>
          <a:solidFill>
            <a:srgbClr val="F2F6F8"/>
          </a:solidFill>
          <a:ln w="12700">
            <a:solidFill>
              <a:srgbClr val="F2F6F8"/>
            </a:solidFill>
            <a:prstDash val="solid"/>
          </a:ln>
        </p:spPr>
      </p:sp>
      <p:sp>
        <p:nvSpPr>
          <p:cNvPr id="42" name="Shape 33"/>
          <p:cNvSpPr/>
          <p:nvPr/>
        </p:nvSpPr>
        <p:spPr>
          <a:xfrm>
            <a:off x="9253728" y="4233672"/>
            <a:ext cx="548640" cy="548640"/>
          </a:xfrm>
          <a:prstGeom prst="ellipse">
            <a:avLst/>
          </a:prstGeom>
          <a:solidFill>
            <a:srgbClr val="0E9F6E"/>
          </a:solidFill>
          <a:ln w="12700">
            <a:solidFill>
              <a:srgbClr val="0E9F6E"/>
            </a:solidFill>
            <a:prstDash val="solid"/>
          </a:ln>
        </p:spPr>
      </p:sp>
      <p:pic>
        <p:nvPicPr>
          <p:cNvPr id="43" name="Image 7" descr="preencoded.png">    </p:cNvPr>
          <p:cNvPicPr>
            <a:picLocks noChangeAspect="1"/>
          </p:cNvPicPr>
          <p:nvPr/>
        </p:nvPicPr>
        <p:blipFill>
          <a:blip r:embed="rId8"/>
          <a:stretch>
            <a:fillRect/>
          </a:stretch>
        </p:blipFill>
        <p:spPr>
          <a:xfrm>
            <a:off x="9396374" y="4376318"/>
            <a:ext cx="263347" cy="263347"/>
          </a:xfrm>
          <a:prstGeom prst="rect">
            <a:avLst/>
          </a:prstGeom>
        </p:spPr>
      </p:pic>
      <p:sp>
        <p:nvSpPr>
          <p:cNvPr id="44" name="Text 34"/>
          <p:cNvSpPr txBox="1"/>
          <p:nvPr/>
        </p:nvSpPr>
        <p:spPr>
          <a:xfrm>
            <a:off x="9253728" y="4892040"/>
            <a:ext cx="2194560" cy="256032"/>
          </a:xfrm>
          <a:prstGeom prst="rect">
            <a:avLst/>
          </a:prstGeom>
          <a:noFill/>
          <a:ln/>
        </p:spPr>
        <p:txBody>
          <a:bodyPr wrap="square" lIns="0" tIns="0" rIns="0" bIns="0" rtlCol="0" anchor="t"/>
          <a:lstStyle/>
          <a:p>
            <a:pPr indent="0" marL="0">
              <a:buNone/>
            </a:pPr>
            <a:r>
              <a:rPr lang="en-US" sz="1050" b="1" spc="200" kern="0" dirty="0">
                <a:solidFill>
                  <a:srgbClr val="0E9F6E"/>
                </a:solidFill>
                <a:latin typeface="Calibri" pitchFamily="34" charset="0"/>
                <a:ea typeface="Calibri" pitchFamily="34" charset="-122"/>
                <a:cs typeface="Calibri" pitchFamily="34" charset="-120"/>
              </a:rPr>
              <a:t>DEVELOPMENT</a:t>
            </a:r>
            <a:endParaRPr lang="en-US" sz="1050" dirty="0"/>
          </a:p>
        </p:txBody>
      </p:sp>
      <p:sp>
        <p:nvSpPr>
          <p:cNvPr id="45" name="Text 35"/>
          <p:cNvSpPr txBox="1"/>
          <p:nvPr/>
        </p:nvSpPr>
        <p:spPr>
          <a:xfrm>
            <a:off x="9253728" y="5166360"/>
            <a:ext cx="2194560" cy="777240"/>
          </a:xfrm>
          <a:prstGeom prst="rect">
            <a:avLst/>
          </a:prstGeom>
          <a:noFill/>
          <a:ln/>
        </p:spPr>
        <p:txBody>
          <a:bodyPr wrap="square" lIns="0" tIns="0" rIns="0" bIns="0" rtlCol="0" anchor="t"/>
          <a:lstStyle/>
          <a:p>
            <a:pPr indent="0" marL="0">
              <a:buNone/>
            </a:pPr>
            <a:r>
              <a:rPr lang="en-US" sz="1450" b="1" dirty="0">
                <a:solidFill>
                  <a:srgbClr val="0B1F2A"/>
                </a:solidFill>
                <a:latin typeface="Calibri" pitchFamily="34" charset="0"/>
                <a:ea typeface="Calibri" pitchFamily="34" charset="-122"/>
                <a:cs typeface="Calibri" pitchFamily="34" charset="-120"/>
              </a:rPr>
              <a:t>VS Code with the WSL extension</a:t>
            </a:r>
            <a:endParaRPr lang="en-US" sz="14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300" kern="0" dirty="0">
                <a:solidFill>
                  <a:srgbClr val="0E9F6E"/>
                </a:solidFill>
                <a:latin typeface="Calibri" pitchFamily="34" charset="0"/>
                <a:ea typeface="Calibri" pitchFamily="34" charset="-122"/>
                <a:cs typeface="Calibri" pitchFamily="34" charset="-120"/>
              </a:rPr>
              <a:t>19  ·  TEAM</a:t>
            </a:r>
            <a:endParaRPr lang="en-US" sz="1200" dirty="0"/>
          </a:p>
        </p:txBody>
      </p:sp>
      <p:sp>
        <p:nvSpPr>
          <p:cNvPr id="3" name="Text 1"/>
          <p:cNvSpPr txBox="1"/>
          <p:nvPr/>
        </p:nvSpPr>
        <p:spPr>
          <a:xfrm>
            <a:off x="548640" y="676656"/>
            <a:ext cx="11064240" cy="685800"/>
          </a:xfrm>
          <a:prstGeom prst="rect">
            <a:avLst/>
          </a:prstGeom>
          <a:noFill/>
          <a:ln/>
        </p:spPr>
        <p:txBody>
          <a:bodyPr wrap="square" lIns="0" tIns="0" rIns="0" bIns="0" rtlCol="0" anchor="ctr"/>
          <a:lstStyle/>
          <a:p>
            <a:pPr indent="0" marL="0">
              <a:buNone/>
            </a:pPr>
            <a:r>
              <a:rPr lang="en-US" sz="3000" b="1" dirty="0">
                <a:solidFill>
                  <a:srgbClr val="0B1F2A"/>
                </a:solidFill>
                <a:latin typeface="Arial" pitchFamily="34" charset="0"/>
                <a:ea typeface="Arial" pitchFamily="34" charset="-122"/>
                <a:cs typeface="Arial" pitchFamily="34" charset="-120"/>
              </a:rPr>
              <a:t>Team and responsibilities</a:t>
            </a:r>
            <a:endParaRPr lang="en-US" sz="3000" dirty="0"/>
          </a:p>
        </p:txBody>
      </p:sp>
      <p:sp>
        <p:nvSpPr>
          <p:cNvPr id="4" name="Text 2"/>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B75"/>
                </a:solidFill>
                <a:latin typeface="Calibri" pitchFamily="34" charset="0"/>
                <a:ea typeface="Calibri" pitchFamily="34" charset="-122"/>
                <a:cs typeface="Calibri" pitchFamily="34" charset="-120"/>
              </a:rPr>
              <a:t>Big Data Architecture  |  Stock Market &amp; Mutual Fund Risk Analytics</a:t>
            </a:r>
            <a:endParaRPr lang="en-US" sz="900" dirty="0"/>
          </a:p>
        </p:txBody>
      </p:sp>
      <p:sp>
        <p:nvSpPr>
          <p:cNvPr id="5" name="Text 3"/>
          <p:cNvSpPr txBox="1"/>
          <p:nvPr/>
        </p:nvSpPr>
        <p:spPr>
          <a:xfrm>
            <a:off x="11183112" y="6473952"/>
            <a:ext cx="457200" cy="228600"/>
          </a:xfrm>
          <a:prstGeom prst="rect">
            <a:avLst/>
          </a:prstGeom>
          <a:noFill/>
          <a:ln/>
        </p:spPr>
        <p:txBody>
          <a:bodyPr wrap="square" lIns="0" tIns="0" rIns="0" bIns="0" rtlCol="0" anchor="t"/>
          <a:lstStyle/>
          <a:p>
            <a:pPr algn="r" indent="0" marL="0">
              <a:buNone/>
            </a:pPr>
            <a:r>
              <a:rPr lang="en-US" sz="900" dirty="0">
                <a:solidFill>
                  <a:srgbClr val="5B6B75"/>
                </a:solidFill>
                <a:latin typeface="Calibri" pitchFamily="34" charset="0"/>
                <a:ea typeface="Calibri" pitchFamily="34" charset="-122"/>
                <a:cs typeface="Calibri" pitchFamily="34" charset="-120"/>
              </a:rPr>
              <a:t>20</a:t>
            </a:r>
            <a:endParaRPr lang="en-US" sz="900" dirty="0"/>
          </a:p>
        </p:txBody>
      </p:sp>
      <p:sp>
        <p:nvSpPr>
          <p:cNvPr id="6" name="Shape 4"/>
          <p:cNvSpPr/>
          <p:nvPr/>
        </p:nvSpPr>
        <p:spPr>
          <a:xfrm>
            <a:off x="548640" y="1645920"/>
            <a:ext cx="3520440" cy="3931920"/>
          </a:xfrm>
          <a:prstGeom prst="roundRect">
            <a:avLst>
              <a:gd name="adj" fmla="val 3117"/>
            </a:avLst>
          </a:prstGeom>
          <a:solidFill>
            <a:srgbClr val="F2F6F8"/>
          </a:solidFill>
          <a:ln w="12700">
            <a:solidFill>
              <a:srgbClr val="F2F6F8"/>
            </a:solidFill>
            <a:prstDash val="solid"/>
          </a:ln>
        </p:spPr>
      </p:sp>
      <p:sp>
        <p:nvSpPr>
          <p:cNvPr id="7" name="Shape 5"/>
          <p:cNvSpPr/>
          <p:nvPr/>
        </p:nvSpPr>
        <p:spPr>
          <a:xfrm>
            <a:off x="822960" y="1920240"/>
            <a:ext cx="868680" cy="868680"/>
          </a:xfrm>
          <a:prstGeom prst="ellipse">
            <a:avLst/>
          </a:prstGeom>
          <a:solidFill>
            <a:srgbClr val="0B1F2A"/>
          </a:solidFill>
          <a:ln w="12700">
            <a:solidFill>
              <a:srgbClr val="FFFFFF"/>
            </a:solidFill>
            <a:prstDash val="solid"/>
          </a:ln>
        </p:spPr>
      </p:sp>
      <p:sp>
        <p:nvSpPr>
          <p:cNvPr id="8" name="Text 6"/>
          <p:cNvSpPr txBox="1"/>
          <p:nvPr/>
        </p:nvSpPr>
        <p:spPr>
          <a:xfrm>
            <a:off x="822960" y="1920240"/>
            <a:ext cx="868680" cy="8686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SH</a:t>
            </a:r>
            <a:endParaRPr lang="en-US" sz="2200" dirty="0"/>
          </a:p>
        </p:txBody>
      </p:sp>
      <p:sp>
        <p:nvSpPr>
          <p:cNvPr id="9" name="Text 7"/>
          <p:cNvSpPr txBox="1"/>
          <p:nvPr/>
        </p:nvSpPr>
        <p:spPr>
          <a:xfrm>
            <a:off x="822960" y="2971800"/>
            <a:ext cx="3017520" cy="411480"/>
          </a:xfrm>
          <a:prstGeom prst="rect">
            <a:avLst/>
          </a:prstGeom>
          <a:noFill/>
          <a:ln/>
        </p:spPr>
        <p:txBody>
          <a:bodyPr wrap="square" lIns="0" tIns="0" rIns="0" bIns="0" rtlCol="0" anchor="t"/>
          <a:lstStyle/>
          <a:p>
            <a:pPr indent="0" marL="0">
              <a:buNone/>
            </a:pPr>
            <a:r>
              <a:rPr lang="en-US" sz="1900" b="1" dirty="0">
                <a:solidFill>
                  <a:srgbClr val="0B1F2A"/>
                </a:solidFill>
                <a:latin typeface="Arial" pitchFamily="34" charset="0"/>
                <a:ea typeface="Arial" pitchFamily="34" charset="-122"/>
                <a:cs typeface="Arial" pitchFamily="34" charset="-120"/>
              </a:rPr>
              <a:t>Suseendar Hari Krishnan</a:t>
            </a:r>
            <a:endParaRPr lang="en-US" sz="1900" dirty="0"/>
          </a:p>
        </p:txBody>
      </p:sp>
      <p:sp>
        <p:nvSpPr>
          <p:cNvPr id="10" name="Text 8"/>
          <p:cNvSpPr txBox="1"/>
          <p:nvPr/>
        </p:nvSpPr>
        <p:spPr>
          <a:xfrm>
            <a:off x="822960" y="3401568"/>
            <a:ext cx="3017520" cy="320040"/>
          </a:xfrm>
          <a:prstGeom prst="rect">
            <a:avLst/>
          </a:prstGeom>
          <a:noFill/>
          <a:ln/>
        </p:spPr>
        <p:txBody>
          <a:bodyPr wrap="square" lIns="0" tIns="0" rIns="0" bIns="0" rtlCol="0" anchor="t"/>
          <a:lstStyle/>
          <a:p>
            <a:pPr indent="0" marL="0">
              <a:buNone/>
            </a:pPr>
            <a:r>
              <a:rPr lang="en-US" sz="1350" b="1" dirty="0">
                <a:solidFill>
                  <a:srgbClr val="0E9F6E"/>
                </a:solidFill>
                <a:latin typeface="Calibri" pitchFamily="34" charset="0"/>
                <a:ea typeface="Calibri" pitchFamily="34" charset="-122"/>
                <a:cs typeface="Calibri" pitchFamily="34" charset="-120"/>
              </a:rPr>
              <a:t>Data Architecture &amp; Engineering</a:t>
            </a:r>
            <a:endParaRPr lang="en-US" sz="1350" dirty="0"/>
          </a:p>
        </p:txBody>
      </p:sp>
      <p:sp>
        <p:nvSpPr>
          <p:cNvPr id="11" name="Text 9"/>
          <p:cNvSpPr txBox="1"/>
          <p:nvPr/>
        </p:nvSpPr>
        <p:spPr>
          <a:xfrm>
            <a:off x="822960" y="3886200"/>
            <a:ext cx="3017520" cy="15544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B2B34"/>
                </a:solidFill>
                <a:latin typeface="Calibri" pitchFamily="34" charset="0"/>
                <a:ea typeface="Calibri" pitchFamily="34" charset="-122"/>
                <a:cs typeface="Calibri" pitchFamily="34" charset="-120"/>
              </a:rPr>
              <a:t>Overall architecture design</a:t>
            </a:r>
            <a:endParaRPr lang="en-US" sz="1350" dirty="0"/>
          </a:p>
          <a:p>
            <a:pPr marL="342900" indent="-342900">
              <a:spcAft>
                <a:spcPts val="600"/>
              </a:spcAft>
              <a:buSzPct val="100000"/>
              <a:buChar char="•"/>
            </a:pPr>
            <a:r>
              <a:rPr lang="en-US" sz="1350" dirty="0">
                <a:solidFill>
                  <a:srgbClr val="1B2B34"/>
                </a:solidFill>
                <a:latin typeface="Calibri" pitchFamily="34" charset="0"/>
                <a:ea typeface="Calibri" pitchFamily="34" charset="-122"/>
                <a:cs typeface="Calibri" pitchFamily="34" charset="-120"/>
              </a:rPr>
              <a:t>Data download and Hadoop setup</a:t>
            </a:r>
            <a:endParaRPr lang="en-US" sz="1350" dirty="0"/>
          </a:p>
          <a:p>
            <a:pPr marL="342900" indent="-342900">
              <a:spcAft>
                <a:spcPts val="600"/>
              </a:spcAft>
              <a:buSzPct val="100000"/>
              <a:buChar char="•"/>
            </a:pPr>
            <a:r>
              <a:rPr lang="en-US" sz="1350" dirty="0">
                <a:solidFill>
                  <a:srgbClr val="1B2B34"/>
                </a:solidFill>
                <a:latin typeface="Calibri" pitchFamily="34" charset="0"/>
                <a:ea typeface="Calibri" pitchFamily="34" charset="-122"/>
                <a:cs typeface="Calibri" pitchFamily="34" charset="-120"/>
              </a:rPr>
              <a:t>Spark pipeline and Medallion data lake</a:t>
            </a:r>
            <a:endParaRPr lang="en-US" sz="1350" dirty="0"/>
          </a:p>
        </p:txBody>
      </p:sp>
      <p:sp>
        <p:nvSpPr>
          <p:cNvPr id="12" name="Shape 10"/>
          <p:cNvSpPr/>
          <p:nvPr/>
        </p:nvSpPr>
        <p:spPr>
          <a:xfrm>
            <a:off x="4334256" y="1645920"/>
            <a:ext cx="3520440" cy="3931920"/>
          </a:xfrm>
          <a:prstGeom prst="roundRect">
            <a:avLst>
              <a:gd name="adj" fmla="val 3117"/>
            </a:avLst>
          </a:prstGeom>
          <a:solidFill>
            <a:srgbClr val="F2F6F8"/>
          </a:solidFill>
          <a:ln w="12700">
            <a:solidFill>
              <a:srgbClr val="F2F6F8"/>
            </a:solidFill>
            <a:prstDash val="solid"/>
          </a:ln>
        </p:spPr>
      </p:sp>
      <p:sp>
        <p:nvSpPr>
          <p:cNvPr id="13" name="Shape 11"/>
          <p:cNvSpPr/>
          <p:nvPr/>
        </p:nvSpPr>
        <p:spPr>
          <a:xfrm>
            <a:off x="4608576" y="1920240"/>
            <a:ext cx="868680" cy="868680"/>
          </a:xfrm>
          <a:prstGeom prst="ellipse">
            <a:avLst/>
          </a:prstGeom>
          <a:solidFill>
            <a:srgbClr val="0E9F6E"/>
          </a:solidFill>
          <a:ln w="12700">
            <a:solidFill>
              <a:srgbClr val="FFFFFF"/>
            </a:solidFill>
            <a:prstDash val="solid"/>
          </a:ln>
        </p:spPr>
      </p:sp>
      <p:sp>
        <p:nvSpPr>
          <p:cNvPr id="14" name="Text 12"/>
          <p:cNvSpPr txBox="1"/>
          <p:nvPr/>
        </p:nvSpPr>
        <p:spPr>
          <a:xfrm>
            <a:off x="4608576" y="1920240"/>
            <a:ext cx="868680" cy="8686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L</a:t>
            </a:r>
            <a:endParaRPr lang="en-US" sz="2200" dirty="0"/>
          </a:p>
        </p:txBody>
      </p:sp>
      <p:sp>
        <p:nvSpPr>
          <p:cNvPr id="15" name="Text 13"/>
          <p:cNvSpPr txBox="1"/>
          <p:nvPr/>
        </p:nvSpPr>
        <p:spPr>
          <a:xfrm>
            <a:off x="4608576" y="2971800"/>
            <a:ext cx="3017520" cy="411480"/>
          </a:xfrm>
          <a:prstGeom prst="rect">
            <a:avLst/>
          </a:prstGeom>
          <a:noFill/>
          <a:ln/>
        </p:spPr>
        <p:txBody>
          <a:bodyPr wrap="square" lIns="0" tIns="0" rIns="0" bIns="0" rtlCol="0" anchor="t"/>
          <a:lstStyle/>
          <a:p>
            <a:pPr indent="0" marL="0">
              <a:buNone/>
            </a:pPr>
            <a:r>
              <a:rPr lang="en-US" sz="1900" b="1" dirty="0">
                <a:solidFill>
                  <a:srgbClr val="0B1F2A"/>
                </a:solidFill>
                <a:latin typeface="Arial" pitchFamily="34" charset="0"/>
                <a:ea typeface="Arial" pitchFamily="34" charset="-122"/>
                <a:cs typeface="Arial" pitchFamily="34" charset="-120"/>
              </a:rPr>
              <a:t>Lakshan</a:t>
            </a:r>
            <a:endParaRPr lang="en-US" sz="1900" dirty="0"/>
          </a:p>
        </p:txBody>
      </p:sp>
      <p:sp>
        <p:nvSpPr>
          <p:cNvPr id="16" name="Text 14"/>
          <p:cNvSpPr txBox="1"/>
          <p:nvPr/>
        </p:nvSpPr>
        <p:spPr>
          <a:xfrm>
            <a:off x="4608576" y="3401568"/>
            <a:ext cx="3017520" cy="320040"/>
          </a:xfrm>
          <a:prstGeom prst="rect">
            <a:avLst/>
          </a:prstGeom>
          <a:noFill/>
          <a:ln/>
        </p:spPr>
        <p:txBody>
          <a:bodyPr wrap="square" lIns="0" tIns="0" rIns="0" bIns="0" rtlCol="0" anchor="t"/>
          <a:lstStyle/>
          <a:p>
            <a:pPr indent="0" marL="0">
              <a:buNone/>
            </a:pPr>
            <a:r>
              <a:rPr lang="en-US" sz="1350" b="1" dirty="0">
                <a:solidFill>
                  <a:srgbClr val="0E9F6E"/>
                </a:solidFill>
                <a:latin typeface="Calibri" pitchFamily="34" charset="0"/>
                <a:ea typeface="Calibri" pitchFamily="34" charset="-122"/>
                <a:cs typeface="Calibri" pitchFamily="34" charset="-120"/>
              </a:rPr>
              <a:t>Analytics &amp; Machine Learning</a:t>
            </a:r>
            <a:endParaRPr lang="en-US" sz="1350" dirty="0"/>
          </a:p>
        </p:txBody>
      </p:sp>
      <p:sp>
        <p:nvSpPr>
          <p:cNvPr id="17" name="Text 15"/>
          <p:cNvSpPr txBox="1"/>
          <p:nvPr/>
        </p:nvSpPr>
        <p:spPr>
          <a:xfrm>
            <a:off x="4608576" y="3886200"/>
            <a:ext cx="3017520" cy="15544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B2B34"/>
                </a:solidFill>
                <a:latin typeface="Calibri" pitchFamily="34" charset="0"/>
                <a:ea typeface="Calibri" pitchFamily="34" charset="-122"/>
                <a:cs typeface="Calibri" pitchFamily="34" charset="-120"/>
              </a:rPr>
              <a:t>Return and risk metrics</a:t>
            </a:r>
            <a:endParaRPr lang="en-US" sz="1350" dirty="0"/>
          </a:p>
          <a:p>
            <a:pPr marL="342900" indent="-342900">
              <a:spcAft>
                <a:spcPts val="600"/>
              </a:spcAft>
              <a:buSzPct val="100000"/>
              <a:buChar char="•"/>
            </a:pPr>
            <a:r>
              <a:rPr lang="en-US" sz="1350" dirty="0">
                <a:solidFill>
                  <a:srgbClr val="1B2B34"/>
                </a:solidFill>
                <a:latin typeface="Calibri" pitchFamily="34" charset="0"/>
                <a:ea typeface="Calibri" pitchFamily="34" charset="-122"/>
                <a:cs typeface="Calibri" pitchFamily="34" charset="-120"/>
              </a:rPr>
              <a:t>Risk score and holding-period analysis</a:t>
            </a:r>
            <a:endParaRPr lang="en-US" sz="1350" dirty="0"/>
          </a:p>
          <a:p>
            <a:pPr marL="342900" indent="-342900">
              <a:spcAft>
                <a:spcPts val="600"/>
              </a:spcAft>
              <a:buSzPct val="100000"/>
              <a:buChar char="•"/>
            </a:pPr>
            <a:r>
              <a:rPr lang="en-US" sz="1350" dirty="0">
                <a:solidFill>
                  <a:srgbClr val="1B2B34"/>
                </a:solidFill>
                <a:latin typeface="Calibri" pitchFamily="34" charset="0"/>
                <a:ea typeface="Calibri" pitchFamily="34" charset="-122"/>
                <a:cs typeface="Calibri" pitchFamily="34" charset="-120"/>
              </a:rPr>
              <a:t>Forecasting models and validation</a:t>
            </a:r>
            <a:endParaRPr lang="en-US" sz="1350" dirty="0"/>
          </a:p>
        </p:txBody>
      </p:sp>
      <p:sp>
        <p:nvSpPr>
          <p:cNvPr id="18" name="Shape 16"/>
          <p:cNvSpPr/>
          <p:nvPr/>
        </p:nvSpPr>
        <p:spPr>
          <a:xfrm>
            <a:off x="8119872" y="1645920"/>
            <a:ext cx="3520440" cy="3931920"/>
          </a:xfrm>
          <a:prstGeom prst="roundRect">
            <a:avLst>
              <a:gd name="adj" fmla="val 3117"/>
            </a:avLst>
          </a:prstGeom>
          <a:solidFill>
            <a:srgbClr val="F2F6F8"/>
          </a:solidFill>
          <a:ln w="12700">
            <a:solidFill>
              <a:srgbClr val="F2F6F8"/>
            </a:solidFill>
            <a:prstDash val="solid"/>
          </a:ln>
        </p:spPr>
      </p:sp>
      <p:sp>
        <p:nvSpPr>
          <p:cNvPr id="19" name="Shape 17"/>
          <p:cNvSpPr/>
          <p:nvPr/>
        </p:nvSpPr>
        <p:spPr>
          <a:xfrm>
            <a:off x="8394192" y="1920240"/>
            <a:ext cx="868680" cy="868680"/>
          </a:xfrm>
          <a:prstGeom prst="ellipse">
            <a:avLst/>
          </a:prstGeom>
          <a:solidFill>
            <a:srgbClr val="1F6F8B"/>
          </a:solidFill>
          <a:ln w="12700">
            <a:solidFill>
              <a:srgbClr val="FFFFFF"/>
            </a:solidFill>
            <a:prstDash val="solid"/>
          </a:ln>
        </p:spPr>
      </p:sp>
      <p:sp>
        <p:nvSpPr>
          <p:cNvPr id="20" name="Text 18"/>
          <p:cNvSpPr txBox="1"/>
          <p:nvPr/>
        </p:nvSpPr>
        <p:spPr>
          <a:xfrm>
            <a:off x="8394192" y="1920240"/>
            <a:ext cx="868680" cy="8686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V</a:t>
            </a:r>
            <a:endParaRPr lang="en-US" sz="2200" dirty="0"/>
          </a:p>
        </p:txBody>
      </p:sp>
      <p:sp>
        <p:nvSpPr>
          <p:cNvPr id="21" name="Text 19"/>
          <p:cNvSpPr txBox="1"/>
          <p:nvPr/>
        </p:nvSpPr>
        <p:spPr>
          <a:xfrm>
            <a:off x="8394192" y="2971800"/>
            <a:ext cx="3017520" cy="411480"/>
          </a:xfrm>
          <a:prstGeom prst="rect">
            <a:avLst/>
          </a:prstGeom>
          <a:noFill/>
          <a:ln/>
        </p:spPr>
        <p:txBody>
          <a:bodyPr wrap="square" lIns="0" tIns="0" rIns="0" bIns="0" rtlCol="0" anchor="t"/>
          <a:lstStyle/>
          <a:p>
            <a:pPr indent="0" marL="0">
              <a:buNone/>
            </a:pPr>
            <a:r>
              <a:rPr lang="en-US" sz="1900" b="1" dirty="0">
                <a:solidFill>
                  <a:srgbClr val="0B1F2A"/>
                </a:solidFill>
                <a:latin typeface="Arial" pitchFamily="34" charset="0"/>
                <a:ea typeface="Arial" pitchFamily="34" charset="-122"/>
                <a:cs typeface="Arial" pitchFamily="34" charset="-120"/>
              </a:rPr>
              <a:t>Viswesh</a:t>
            </a:r>
            <a:endParaRPr lang="en-US" sz="1900" dirty="0"/>
          </a:p>
        </p:txBody>
      </p:sp>
      <p:sp>
        <p:nvSpPr>
          <p:cNvPr id="22" name="Text 20"/>
          <p:cNvSpPr txBox="1"/>
          <p:nvPr/>
        </p:nvSpPr>
        <p:spPr>
          <a:xfrm>
            <a:off x="8394192" y="3401568"/>
            <a:ext cx="3017520" cy="320040"/>
          </a:xfrm>
          <a:prstGeom prst="rect">
            <a:avLst/>
          </a:prstGeom>
          <a:noFill/>
          <a:ln/>
        </p:spPr>
        <p:txBody>
          <a:bodyPr wrap="square" lIns="0" tIns="0" rIns="0" bIns="0" rtlCol="0" anchor="t"/>
          <a:lstStyle/>
          <a:p>
            <a:pPr indent="0" marL="0">
              <a:buNone/>
            </a:pPr>
            <a:r>
              <a:rPr lang="en-US" sz="1350" b="1" dirty="0">
                <a:solidFill>
                  <a:srgbClr val="0E9F6E"/>
                </a:solidFill>
                <a:latin typeface="Calibri" pitchFamily="34" charset="0"/>
                <a:ea typeface="Calibri" pitchFamily="34" charset="-122"/>
                <a:cs typeface="Calibri" pitchFamily="34" charset="-120"/>
              </a:rPr>
              <a:t>API &amp; Visualization</a:t>
            </a:r>
            <a:endParaRPr lang="en-US" sz="1350" dirty="0"/>
          </a:p>
        </p:txBody>
      </p:sp>
      <p:sp>
        <p:nvSpPr>
          <p:cNvPr id="23" name="Text 21"/>
          <p:cNvSpPr txBox="1"/>
          <p:nvPr/>
        </p:nvSpPr>
        <p:spPr>
          <a:xfrm>
            <a:off x="8394192" y="3886200"/>
            <a:ext cx="3017520" cy="15544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B2B34"/>
                </a:solidFill>
                <a:latin typeface="Calibri" pitchFamily="34" charset="0"/>
                <a:ea typeface="Calibri" pitchFamily="34" charset="-122"/>
                <a:cs typeface="Calibri" pitchFamily="34" charset="-120"/>
              </a:rPr>
              <a:t>FastAPI service with API-key security</a:t>
            </a:r>
            <a:endParaRPr lang="en-US" sz="1350" dirty="0"/>
          </a:p>
          <a:p>
            <a:pPr marL="342900" indent="-342900">
              <a:spcAft>
                <a:spcPts val="600"/>
              </a:spcAft>
              <a:buSzPct val="100000"/>
              <a:buChar char="•"/>
            </a:pPr>
            <a:r>
              <a:rPr lang="en-US" sz="1350" dirty="0">
                <a:solidFill>
                  <a:srgbClr val="1B2B34"/>
                </a:solidFill>
                <a:latin typeface="Calibri" pitchFamily="34" charset="0"/>
                <a:ea typeface="Calibri" pitchFamily="34" charset="-122"/>
                <a:cs typeface="Calibri" pitchFamily="34" charset="-120"/>
              </a:rPr>
              <a:t>Power BI data connection</a:t>
            </a:r>
            <a:endParaRPr lang="en-US" sz="1350" dirty="0"/>
          </a:p>
          <a:p>
            <a:pPr marL="342900" indent="-342900">
              <a:spcAft>
                <a:spcPts val="600"/>
              </a:spcAft>
              <a:buSzPct val="100000"/>
              <a:buChar char="•"/>
            </a:pPr>
            <a:r>
              <a:rPr lang="en-US" sz="1350" dirty="0">
                <a:solidFill>
                  <a:srgbClr val="1B2B34"/>
                </a:solidFill>
                <a:latin typeface="Calibri" pitchFamily="34" charset="0"/>
                <a:ea typeface="Calibri" pitchFamily="34" charset="-122"/>
                <a:cs typeface="Calibri" pitchFamily="34" charset="-120"/>
              </a:rPr>
              <a:t>Dashboard pages and report</a:t>
            </a:r>
            <a:endParaRPr lang="en-US" sz="1350" dirty="0"/>
          </a:p>
        </p:txBody>
      </p:sp>
      <p:sp>
        <p:nvSpPr>
          <p:cNvPr id="24" name="Shape 22"/>
          <p:cNvSpPr/>
          <p:nvPr/>
        </p:nvSpPr>
        <p:spPr>
          <a:xfrm>
            <a:off x="548640" y="5760720"/>
            <a:ext cx="384048" cy="384048"/>
          </a:xfrm>
          <a:prstGeom prst="ellipse">
            <a:avLst/>
          </a:prstGeom>
          <a:solidFill>
            <a:srgbClr val="E6F5EE"/>
          </a:solidFill>
          <a:ln w="12700">
            <a:solidFill>
              <a:srgbClr val="E6F5EE"/>
            </a:solidFill>
            <a:prstDash val="solid"/>
          </a:ln>
        </p:spPr>
      </p:sp>
      <p:pic>
        <p:nvPicPr>
          <p:cNvPr id="25" name="Image 0" descr="preencoded.png">    </p:cNvPr>
          <p:cNvPicPr>
            <a:picLocks noChangeAspect="1"/>
          </p:cNvPicPr>
          <p:nvPr/>
        </p:nvPicPr>
        <p:blipFill>
          <a:blip r:embed="rId1"/>
          <a:stretch>
            <a:fillRect/>
          </a:stretch>
        </p:blipFill>
        <p:spPr>
          <a:xfrm>
            <a:off x="648492" y="5860572"/>
            <a:ext cx="184343" cy="184343"/>
          </a:xfrm>
          <a:prstGeom prst="rect">
            <a:avLst/>
          </a:prstGeom>
        </p:spPr>
      </p:pic>
      <p:sp>
        <p:nvSpPr>
          <p:cNvPr id="26" name="Text 23"/>
          <p:cNvSpPr txBox="1"/>
          <p:nvPr/>
        </p:nvSpPr>
        <p:spPr>
          <a:xfrm>
            <a:off x="1051560" y="5760720"/>
            <a:ext cx="10058400" cy="384048"/>
          </a:xfrm>
          <a:prstGeom prst="rect">
            <a:avLst/>
          </a:prstGeom>
          <a:noFill/>
          <a:ln/>
        </p:spPr>
        <p:txBody>
          <a:bodyPr wrap="square" lIns="0" tIns="0" rIns="0" bIns="0" rtlCol="0" anchor="ctr"/>
          <a:lstStyle/>
          <a:p>
            <a:pPr indent="0" marL="0">
              <a:buNone/>
            </a:pPr>
            <a:r>
              <a:rPr lang="en-US" sz="1300" dirty="0">
                <a:solidFill>
                  <a:srgbClr val="5B6B75"/>
                </a:solidFill>
                <a:latin typeface="Calibri" pitchFamily="34" charset="0"/>
                <a:ea typeface="Calibri" pitchFamily="34" charset="-122"/>
                <a:cs typeface="Calibri" pitchFamily="34" charset="-120"/>
              </a:rPr>
              <a:t>Shared by all: documentation, testing and the final presentation.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300" kern="0" dirty="0">
                <a:solidFill>
                  <a:srgbClr val="0E9F6E"/>
                </a:solidFill>
                <a:latin typeface="Calibri" pitchFamily="34" charset="0"/>
                <a:ea typeface="Calibri" pitchFamily="34" charset="-122"/>
                <a:cs typeface="Calibri" pitchFamily="34" charset="-120"/>
              </a:rPr>
              <a:t>20  ·  CHALLENGES</a:t>
            </a:r>
            <a:endParaRPr lang="en-US" sz="1200" dirty="0"/>
          </a:p>
        </p:txBody>
      </p:sp>
      <p:sp>
        <p:nvSpPr>
          <p:cNvPr id="3" name="Text 1"/>
          <p:cNvSpPr txBox="1"/>
          <p:nvPr/>
        </p:nvSpPr>
        <p:spPr>
          <a:xfrm>
            <a:off x="548640" y="676656"/>
            <a:ext cx="11064240" cy="685800"/>
          </a:xfrm>
          <a:prstGeom prst="rect">
            <a:avLst/>
          </a:prstGeom>
          <a:noFill/>
          <a:ln/>
        </p:spPr>
        <p:txBody>
          <a:bodyPr wrap="square" lIns="0" tIns="0" rIns="0" bIns="0" rtlCol="0" anchor="ctr"/>
          <a:lstStyle/>
          <a:p>
            <a:pPr indent="0" marL="0">
              <a:buNone/>
            </a:pPr>
            <a:r>
              <a:rPr lang="en-US" sz="3000" b="1" dirty="0">
                <a:solidFill>
                  <a:srgbClr val="0B1F2A"/>
                </a:solidFill>
                <a:latin typeface="Arial" pitchFamily="34" charset="0"/>
                <a:ea typeface="Arial" pitchFamily="34" charset="-122"/>
                <a:cs typeface="Arial" pitchFamily="34" charset="-120"/>
              </a:rPr>
              <a:t>Challenges we hit and how we handled them</a:t>
            </a:r>
            <a:endParaRPr lang="en-US" sz="3000" dirty="0"/>
          </a:p>
        </p:txBody>
      </p:sp>
      <p:sp>
        <p:nvSpPr>
          <p:cNvPr id="4" name="Text 2"/>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B75"/>
                </a:solidFill>
                <a:latin typeface="Calibri" pitchFamily="34" charset="0"/>
                <a:ea typeface="Calibri" pitchFamily="34" charset="-122"/>
                <a:cs typeface="Calibri" pitchFamily="34" charset="-120"/>
              </a:rPr>
              <a:t>Big Data Architecture  |  Stock Market &amp; Mutual Fund Risk Analytics</a:t>
            </a:r>
            <a:endParaRPr lang="en-US" sz="900" dirty="0"/>
          </a:p>
        </p:txBody>
      </p:sp>
      <p:sp>
        <p:nvSpPr>
          <p:cNvPr id="5" name="Text 3"/>
          <p:cNvSpPr txBox="1"/>
          <p:nvPr/>
        </p:nvSpPr>
        <p:spPr>
          <a:xfrm>
            <a:off x="11183112" y="6473952"/>
            <a:ext cx="457200" cy="228600"/>
          </a:xfrm>
          <a:prstGeom prst="rect">
            <a:avLst/>
          </a:prstGeom>
          <a:noFill/>
          <a:ln/>
        </p:spPr>
        <p:txBody>
          <a:bodyPr wrap="square" lIns="0" tIns="0" rIns="0" bIns="0" rtlCol="0" anchor="t"/>
          <a:lstStyle/>
          <a:p>
            <a:pPr algn="r" indent="0" marL="0">
              <a:buNone/>
            </a:pPr>
            <a:r>
              <a:rPr lang="en-US" sz="900" dirty="0">
                <a:solidFill>
                  <a:srgbClr val="5B6B75"/>
                </a:solidFill>
                <a:latin typeface="Calibri" pitchFamily="34" charset="0"/>
                <a:ea typeface="Calibri" pitchFamily="34" charset="-122"/>
                <a:cs typeface="Calibri" pitchFamily="34" charset="-120"/>
              </a:rPr>
              <a:t>21</a:t>
            </a:r>
            <a:endParaRPr lang="en-US" sz="900" dirty="0"/>
          </a:p>
        </p:txBody>
      </p:sp>
      <p:sp>
        <p:nvSpPr>
          <p:cNvPr id="6" name="Text 4"/>
          <p:cNvSpPr txBox="1"/>
          <p:nvPr/>
        </p:nvSpPr>
        <p:spPr>
          <a:xfrm>
            <a:off x="548640" y="1645920"/>
            <a:ext cx="4572000" cy="256032"/>
          </a:xfrm>
          <a:prstGeom prst="rect">
            <a:avLst/>
          </a:prstGeom>
          <a:noFill/>
          <a:ln/>
        </p:spPr>
        <p:txBody>
          <a:bodyPr wrap="square" lIns="0" tIns="0" rIns="0" bIns="0" rtlCol="0" anchor="t"/>
          <a:lstStyle/>
          <a:p>
            <a:pPr indent="0" marL="0">
              <a:buNone/>
            </a:pPr>
            <a:r>
              <a:rPr lang="en-US" sz="1050" b="1" spc="200" kern="0" dirty="0">
                <a:solidFill>
                  <a:srgbClr val="5B6B75"/>
                </a:solidFill>
                <a:latin typeface="Calibri" pitchFamily="34" charset="0"/>
                <a:ea typeface="Calibri" pitchFamily="34" charset="-122"/>
                <a:cs typeface="Calibri" pitchFamily="34" charset="-120"/>
              </a:rPr>
              <a:t>CHALLENGE</a:t>
            </a:r>
            <a:endParaRPr lang="en-US" sz="1050" dirty="0"/>
          </a:p>
        </p:txBody>
      </p:sp>
      <p:sp>
        <p:nvSpPr>
          <p:cNvPr id="7" name="Text 5"/>
          <p:cNvSpPr txBox="1"/>
          <p:nvPr/>
        </p:nvSpPr>
        <p:spPr>
          <a:xfrm>
            <a:off x="6675120" y="1645920"/>
            <a:ext cx="4572000" cy="256032"/>
          </a:xfrm>
          <a:prstGeom prst="rect">
            <a:avLst/>
          </a:prstGeom>
          <a:noFill/>
          <a:ln/>
        </p:spPr>
        <p:txBody>
          <a:bodyPr wrap="square" lIns="0" tIns="0" rIns="0" bIns="0" rtlCol="0" anchor="t"/>
          <a:lstStyle/>
          <a:p>
            <a:pPr indent="0" marL="0">
              <a:buNone/>
            </a:pPr>
            <a:r>
              <a:rPr lang="en-US" sz="1050" b="1" spc="200" kern="0" dirty="0">
                <a:solidFill>
                  <a:srgbClr val="5B6B75"/>
                </a:solidFill>
                <a:latin typeface="Calibri" pitchFamily="34" charset="0"/>
                <a:ea typeface="Calibri" pitchFamily="34" charset="-122"/>
                <a:cs typeface="Calibri" pitchFamily="34" charset="-120"/>
              </a:rPr>
              <a:t>WHAT WE DID</a:t>
            </a:r>
            <a:endParaRPr lang="en-US" sz="1050" dirty="0"/>
          </a:p>
        </p:txBody>
      </p:sp>
      <p:sp>
        <p:nvSpPr>
          <p:cNvPr id="8" name="Shape 6"/>
          <p:cNvSpPr/>
          <p:nvPr/>
        </p:nvSpPr>
        <p:spPr>
          <a:xfrm>
            <a:off x="548640" y="2011680"/>
            <a:ext cx="5394960" cy="713232"/>
          </a:xfrm>
          <a:prstGeom prst="roundRect">
            <a:avLst>
              <a:gd name="adj" fmla="val 15385"/>
            </a:avLst>
          </a:prstGeom>
          <a:solidFill>
            <a:srgbClr val="FDF1F1"/>
          </a:solidFill>
          <a:ln w="12700">
            <a:solidFill>
              <a:srgbClr val="FDF1F1"/>
            </a:solidFill>
            <a:prstDash val="solid"/>
          </a:ln>
        </p:spPr>
      </p:sp>
      <p:sp>
        <p:nvSpPr>
          <p:cNvPr id="9" name="Text 7"/>
          <p:cNvSpPr txBox="1"/>
          <p:nvPr/>
        </p:nvSpPr>
        <p:spPr>
          <a:xfrm>
            <a:off x="777240" y="2011680"/>
            <a:ext cx="5029200" cy="713232"/>
          </a:xfrm>
          <a:prstGeom prst="rect">
            <a:avLst/>
          </a:prstGeom>
          <a:noFill/>
          <a:ln/>
        </p:spPr>
        <p:txBody>
          <a:bodyPr wrap="square" lIns="0" tIns="0" rIns="0" bIns="0" rtlCol="0" anchor="ctr"/>
          <a:lstStyle/>
          <a:p>
            <a:pPr indent="0" marL="0">
              <a:buNone/>
            </a:pPr>
            <a:r>
              <a:rPr lang="en-US" sz="1300" b="1" dirty="0">
                <a:solidFill>
                  <a:srgbClr val="E5484D"/>
                </a:solidFill>
                <a:latin typeface="Calibri" pitchFamily="34" charset="0"/>
                <a:ea typeface="Calibri" pitchFamily="34" charset="-122"/>
                <a:cs typeface="Calibri" pitchFamily="34" charset="-120"/>
              </a:rPr>
              <a:t>Dividend plans   </a:t>
            </a:r>
            <a:pPr indent="0" marL="0">
              <a:buNone/>
            </a:pPr>
            <a:r>
              <a:rPr lang="en-US" sz="1300" dirty="0">
                <a:solidFill>
                  <a:srgbClr val="1B2B34"/>
                </a:solidFill>
                <a:latin typeface="Calibri" pitchFamily="34" charset="0"/>
                <a:ea typeface="Calibri" pitchFamily="34" charset="-122"/>
                <a:cs typeface="Calibri" pitchFamily="34" charset="-120"/>
              </a:rPr>
              <a:t>NAV drops on every payout and looks like a loss.</a:t>
            </a:r>
            <a:endParaRPr lang="en-US" sz="1300" dirty="0"/>
          </a:p>
        </p:txBody>
      </p:sp>
      <p:pic>
        <p:nvPicPr>
          <p:cNvPr id="10" name="Image 0" descr="preencoded.png">    </p:cNvPr>
          <p:cNvPicPr>
            <a:picLocks noChangeAspect="1"/>
          </p:cNvPicPr>
          <p:nvPr/>
        </p:nvPicPr>
        <p:blipFill>
          <a:blip r:embed="rId1"/>
          <a:stretch>
            <a:fillRect/>
          </a:stretch>
        </p:blipFill>
        <p:spPr>
          <a:xfrm>
            <a:off x="6144768" y="2231136"/>
            <a:ext cx="274320" cy="274320"/>
          </a:xfrm>
          <a:prstGeom prst="rect">
            <a:avLst/>
          </a:prstGeom>
        </p:spPr>
      </p:pic>
      <p:sp>
        <p:nvSpPr>
          <p:cNvPr id="11" name="Shape 8"/>
          <p:cNvSpPr/>
          <p:nvPr/>
        </p:nvSpPr>
        <p:spPr>
          <a:xfrm>
            <a:off x="6629400" y="2011680"/>
            <a:ext cx="5010912" cy="713232"/>
          </a:xfrm>
          <a:prstGeom prst="roundRect">
            <a:avLst>
              <a:gd name="adj" fmla="val 15385"/>
            </a:avLst>
          </a:prstGeom>
          <a:solidFill>
            <a:srgbClr val="E6F5EE"/>
          </a:solidFill>
          <a:ln w="12700">
            <a:solidFill>
              <a:srgbClr val="E6F5EE"/>
            </a:solidFill>
            <a:prstDash val="solid"/>
          </a:ln>
        </p:spPr>
      </p:sp>
      <p:sp>
        <p:nvSpPr>
          <p:cNvPr id="12" name="Text 9"/>
          <p:cNvSpPr txBox="1"/>
          <p:nvPr/>
        </p:nvSpPr>
        <p:spPr>
          <a:xfrm>
            <a:off x="6858000" y="2011680"/>
            <a:ext cx="4663440" cy="713232"/>
          </a:xfrm>
          <a:prstGeom prst="rect">
            <a:avLst/>
          </a:prstGeom>
          <a:noFill/>
          <a:ln/>
        </p:spPr>
        <p:txBody>
          <a:bodyPr wrap="square" lIns="0" tIns="0" rIns="0" bIns="0" rtlCol="0" anchor="ctr"/>
          <a:lstStyle/>
          <a:p>
            <a:pPr indent="0" marL="0">
              <a:buNone/>
            </a:pPr>
            <a:r>
              <a:rPr lang="en-US" sz="1300" dirty="0">
                <a:solidFill>
                  <a:srgbClr val="0B1F2A"/>
                </a:solidFill>
                <a:latin typeface="Calibri" pitchFamily="34" charset="0"/>
                <a:ea typeface="Calibri" pitchFamily="34" charset="-122"/>
                <a:cs typeface="Calibri" pitchFamily="34" charset="-120"/>
              </a:rPr>
              <a:t>Analysis uses Growth options only.</a:t>
            </a:r>
            <a:endParaRPr lang="en-US" sz="1300" dirty="0"/>
          </a:p>
        </p:txBody>
      </p:sp>
      <p:sp>
        <p:nvSpPr>
          <p:cNvPr id="13" name="Shape 10"/>
          <p:cNvSpPr/>
          <p:nvPr/>
        </p:nvSpPr>
        <p:spPr>
          <a:xfrm>
            <a:off x="548640" y="2852928"/>
            <a:ext cx="5394960" cy="713232"/>
          </a:xfrm>
          <a:prstGeom prst="roundRect">
            <a:avLst>
              <a:gd name="adj" fmla="val 15385"/>
            </a:avLst>
          </a:prstGeom>
          <a:solidFill>
            <a:srgbClr val="FDF1F1"/>
          </a:solidFill>
          <a:ln w="12700">
            <a:solidFill>
              <a:srgbClr val="FDF1F1"/>
            </a:solidFill>
            <a:prstDash val="solid"/>
          </a:ln>
        </p:spPr>
      </p:sp>
      <p:sp>
        <p:nvSpPr>
          <p:cNvPr id="14" name="Text 11"/>
          <p:cNvSpPr txBox="1"/>
          <p:nvPr/>
        </p:nvSpPr>
        <p:spPr>
          <a:xfrm>
            <a:off x="777240" y="2852928"/>
            <a:ext cx="5029200" cy="713232"/>
          </a:xfrm>
          <a:prstGeom prst="rect">
            <a:avLst/>
          </a:prstGeom>
          <a:noFill/>
          <a:ln/>
        </p:spPr>
        <p:txBody>
          <a:bodyPr wrap="square" lIns="0" tIns="0" rIns="0" bIns="0" rtlCol="0" anchor="ctr"/>
          <a:lstStyle/>
          <a:p>
            <a:pPr indent="0" marL="0">
              <a:buNone/>
            </a:pPr>
            <a:r>
              <a:rPr lang="en-US" sz="1300" b="1" dirty="0">
                <a:solidFill>
                  <a:srgbClr val="E5484D"/>
                </a:solidFill>
                <a:latin typeface="Calibri" pitchFamily="34" charset="0"/>
                <a:ea typeface="Calibri" pitchFamily="34" charset="-122"/>
                <a:cs typeface="Calibri" pitchFamily="34" charset="-120"/>
              </a:rPr>
              <a:t>Data glitches   </a:t>
            </a:r>
            <a:pPr indent="0" marL="0">
              <a:buNone/>
            </a:pPr>
            <a:r>
              <a:rPr lang="en-US" sz="1300" dirty="0">
                <a:solidFill>
                  <a:srgbClr val="1B2B34"/>
                </a:solidFill>
                <a:latin typeface="Calibri" pitchFamily="34" charset="0"/>
                <a:ea typeface="Calibri" pitchFamily="34" charset="-122"/>
                <a:cs typeface="Calibri" pitchFamily="34" charset="-120"/>
              </a:rPr>
              <a:t>Sudden NAV jumps from unit changes.</a:t>
            </a:r>
            <a:endParaRPr lang="en-US" sz="1300" dirty="0"/>
          </a:p>
        </p:txBody>
      </p:sp>
      <p:pic>
        <p:nvPicPr>
          <p:cNvPr id="15" name="Image 1" descr="preencoded.png">    </p:cNvPr>
          <p:cNvPicPr>
            <a:picLocks noChangeAspect="1"/>
          </p:cNvPicPr>
          <p:nvPr/>
        </p:nvPicPr>
        <p:blipFill>
          <a:blip r:embed="rId2"/>
          <a:stretch>
            <a:fillRect/>
          </a:stretch>
        </p:blipFill>
        <p:spPr>
          <a:xfrm>
            <a:off x="6144768" y="3072384"/>
            <a:ext cx="274320" cy="274320"/>
          </a:xfrm>
          <a:prstGeom prst="rect">
            <a:avLst/>
          </a:prstGeom>
        </p:spPr>
      </p:pic>
      <p:sp>
        <p:nvSpPr>
          <p:cNvPr id="16" name="Shape 12"/>
          <p:cNvSpPr/>
          <p:nvPr/>
        </p:nvSpPr>
        <p:spPr>
          <a:xfrm>
            <a:off x="6629400" y="2852928"/>
            <a:ext cx="5010912" cy="713232"/>
          </a:xfrm>
          <a:prstGeom prst="roundRect">
            <a:avLst>
              <a:gd name="adj" fmla="val 15385"/>
            </a:avLst>
          </a:prstGeom>
          <a:solidFill>
            <a:srgbClr val="E6F5EE"/>
          </a:solidFill>
          <a:ln w="12700">
            <a:solidFill>
              <a:srgbClr val="E6F5EE"/>
            </a:solidFill>
            <a:prstDash val="solid"/>
          </a:ln>
        </p:spPr>
      </p:sp>
      <p:sp>
        <p:nvSpPr>
          <p:cNvPr id="17" name="Text 13"/>
          <p:cNvSpPr txBox="1"/>
          <p:nvPr/>
        </p:nvSpPr>
        <p:spPr>
          <a:xfrm>
            <a:off x="6858000" y="2852928"/>
            <a:ext cx="4663440" cy="713232"/>
          </a:xfrm>
          <a:prstGeom prst="rect">
            <a:avLst/>
          </a:prstGeom>
          <a:noFill/>
          <a:ln/>
        </p:spPr>
        <p:txBody>
          <a:bodyPr wrap="square" lIns="0" tIns="0" rIns="0" bIns="0" rtlCol="0" anchor="ctr"/>
          <a:lstStyle/>
          <a:p>
            <a:pPr indent="0" marL="0">
              <a:buNone/>
            </a:pPr>
            <a:r>
              <a:rPr lang="en-US" sz="1300" dirty="0">
                <a:solidFill>
                  <a:srgbClr val="0B1F2A"/>
                </a:solidFill>
                <a:latin typeface="Calibri" pitchFamily="34" charset="0"/>
                <a:ea typeface="Calibri" pitchFamily="34" charset="-122"/>
                <a:cs typeface="Calibri" pitchFamily="34" charset="-120"/>
              </a:rPr>
              <a:t>Daily moves above 50%, or after a 10-day gap, are blanked.</a:t>
            </a:r>
            <a:endParaRPr lang="en-US" sz="1300" dirty="0"/>
          </a:p>
        </p:txBody>
      </p:sp>
      <p:sp>
        <p:nvSpPr>
          <p:cNvPr id="18" name="Shape 14"/>
          <p:cNvSpPr/>
          <p:nvPr/>
        </p:nvSpPr>
        <p:spPr>
          <a:xfrm>
            <a:off x="548640" y="3694176"/>
            <a:ext cx="5394960" cy="713232"/>
          </a:xfrm>
          <a:prstGeom prst="roundRect">
            <a:avLst>
              <a:gd name="adj" fmla="val 15385"/>
            </a:avLst>
          </a:prstGeom>
          <a:solidFill>
            <a:srgbClr val="FDF1F1"/>
          </a:solidFill>
          <a:ln w="12700">
            <a:solidFill>
              <a:srgbClr val="FDF1F1"/>
            </a:solidFill>
            <a:prstDash val="solid"/>
          </a:ln>
        </p:spPr>
      </p:sp>
      <p:sp>
        <p:nvSpPr>
          <p:cNvPr id="19" name="Text 15"/>
          <p:cNvSpPr txBox="1"/>
          <p:nvPr/>
        </p:nvSpPr>
        <p:spPr>
          <a:xfrm>
            <a:off x="777240" y="3694176"/>
            <a:ext cx="5029200" cy="713232"/>
          </a:xfrm>
          <a:prstGeom prst="rect">
            <a:avLst/>
          </a:prstGeom>
          <a:noFill/>
          <a:ln/>
        </p:spPr>
        <p:txBody>
          <a:bodyPr wrap="square" lIns="0" tIns="0" rIns="0" bIns="0" rtlCol="0" anchor="ctr"/>
          <a:lstStyle/>
          <a:p>
            <a:pPr indent="0" marL="0">
              <a:buNone/>
            </a:pPr>
            <a:r>
              <a:rPr lang="en-US" sz="1300" b="1" dirty="0">
                <a:solidFill>
                  <a:srgbClr val="E5484D"/>
                </a:solidFill>
                <a:latin typeface="Calibri" pitchFamily="34" charset="0"/>
                <a:ea typeface="Calibri" pitchFamily="34" charset="-122"/>
                <a:cs typeface="Calibri" pitchFamily="34" charset="-120"/>
              </a:rPr>
              <a:t>Data leakage   </a:t>
            </a:r>
            <a:pPr indent="0" marL="0">
              <a:buNone/>
            </a:pPr>
            <a:r>
              <a:rPr lang="en-US" sz="1300" dirty="0">
                <a:solidFill>
                  <a:srgbClr val="1B2B34"/>
                </a:solidFill>
                <a:latin typeface="Calibri" pitchFamily="34" charset="0"/>
                <a:ea typeface="Calibri" pitchFamily="34" charset="-122"/>
                <a:cs typeface="Calibri" pitchFamily="34" charset="-120"/>
              </a:rPr>
              <a:t>Models look accurate by seeing the future.</a:t>
            </a:r>
            <a:endParaRPr lang="en-US" sz="1300" dirty="0"/>
          </a:p>
        </p:txBody>
      </p:sp>
      <p:pic>
        <p:nvPicPr>
          <p:cNvPr id="20" name="Image 2" descr="preencoded.png">    </p:cNvPr>
          <p:cNvPicPr>
            <a:picLocks noChangeAspect="1"/>
          </p:cNvPicPr>
          <p:nvPr/>
        </p:nvPicPr>
        <p:blipFill>
          <a:blip r:embed="rId3"/>
          <a:stretch>
            <a:fillRect/>
          </a:stretch>
        </p:blipFill>
        <p:spPr>
          <a:xfrm>
            <a:off x="6144768" y="3913632"/>
            <a:ext cx="274320" cy="274320"/>
          </a:xfrm>
          <a:prstGeom prst="rect">
            <a:avLst/>
          </a:prstGeom>
        </p:spPr>
      </p:pic>
      <p:sp>
        <p:nvSpPr>
          <p:cNvPr id="21" name="Shape 16"/>
          <p:cNvSpPr/>
          <p:nvPr/>
        </p:nvSpPr>
        <p:spPr>
          <a:xfrm>
            <a:off x="6629400" y="3694176"/>
            <a:ext cx="5010912" cy="713232"/>
          </a:xfrm>
          <a:prstGeom prst="roundRect">
            <a:avLst>
              <a:gd name="adj" fmla="val 15385"/>
            </a:avLst>
          </a:prstGeom>
          <a:solidFill>
            <a:srgbClr val="E6F5EE"/>
          </a:solidFill>
          <a:ln w="12700">
            <a:solidFill>
              <a:srgbClr val="E6F5EE"/>
            </a:solidFill>
            <a:prstDash val="solid"/>
          </a:ln>
        </p:spPr>
      </p:sp>
      <p:sp>
        <p:nvSpPr>
          <p:cNvPr id="22" name="Text 17"/>
          <p:cNvSpPr txBox="1"/>
          <p:nvPr/>
        </p:nvSpPr>
        <p:spPr>
          <a:xfrm>
            <a:off x="6858000" y="3694176"/>
            <a:ext cx="4663440" cy="713232"/>
          </a:xfrm>
          <a:prstGeom prst="rect">
            <a:avLst/>
          </a:prstGeom>
          <a:noFill/>
          <a:ln/>
        </p:spPr>
        <p:txBody>
          <a:bodyPr wrap="square" lIns="0" tIns="0" rIns="0" bIns="0" rtlCol="0" anchor="ctr"/>
          <a:lstStyle/>
          <a:p>
            <a:pPr indent="0" marL="0">
              <a:buNone/>
            </a:pPr>
            <a:r>
              <a:rPr lang="en-US" sz="1300" dirty="0">
                <a:solidFill>
                  <a:srgbClr val="0B1F2A"/>
                </a:solidFill>
                <a:latin typeface="Calibri" pitchFamily="34" charset="0"/>
                <a:ea typeface="Calibri" pitchFamily="34" charset="-122"/>
                <a:cs typeface="Calibri" pitchFamily="34" charset="-120"/>
              </a:rPr>
              <a:t>Walk-forward validation; features use only past data.</a:t>
            </a:r>
            <a:endParaRPr lang="en-US" sz="1300" dirty="0"/>
          </a:p>
        </p:txBody>
      </p:sp>
      <p:sp>
        <p:nvSpPr>
          <p:cNvPr id="23" name="Shape 18"/>
          <p:cNvSpPr/>
          <p:nvPr/>
        </p:nvSpPr>
        <p:spPr>
          <a:xfrm>
            <a:off x="548640" y="4535424"/>
            <a:ext cx="5394960" cy="713232"/>
          </a:xfrm>
          <a:prstGeom prst="roundRect">
            <a:avLst>
              <a:gd name="adj" fmla="val 15385"/>
            </a:avLst>
          </a:prstGeom>
          <a:solidFill>
            <a:srgbClr val="FDF1F1"/>
          </a:solidFill>
          <a:ln w="12700">
            <a:solidFill>
              <a:srgbClr val="FDF1F1"/>
            </a:solidFill>
            <a:prstDash val="solid"/>
          </a:ln>
        </p:spPr>
      </p:sp>
      <p:sp>
        <p:nvSpPr>
          <p:cNvPr id="24" name="Text 19"/>
          <p:cNvSpPr txBox="1"/>
          <p:nvPr/>
        </p:nvSpPr>
        <p:spPr>
          <a:xfrm>
            <a:off x="777240" y="4535424"/>
            <a:ext cx="5029200" cy="713232"/>
          </a:xfrm>
          <a:prstGeom prst="rect">
            <a:avLst/>
          </a:prstGeom>
          <a:noFill/>
          <a:ln/>
        </p:spPr>
        <p:txBody>
          <a:bodyPr wrap="square" lIns="0" tIns="0" rIns="0" bIns="0" rtlCol="0" anchor="ctr"/>
          <a:lstStyle/>
          <a:p>
            <a:pPr indent="0" marL="0">
              <a:buNone/>
            </a:pPr>
            <a:r>
              <a:rPr lang="en-US" sz="1300" b="1" dirty="0">
                <a:solidFill>
                  <a:srgbClr val="E5484D"/>
                </a:solidFill>
                <a:latin typeface="Calibri" pitchFamily="34" charset="0"/>
                <a:ea typeface="Calibri" pitchFamily="34" charset="-122"/>
                <a:cs typeface="Calibri" pitchFamily="34" charset="-120"/>
              </a:rPr>
              <a:t>Hadoop on Windows   </a:t>
            </a:r>
            <a:pPr indent="0" marL="0">
              <a:buNone/>
            </a:pPr>
            <a:r>
              <a:rPr lang="en-US" sz="1300" dirty="0">
                <a:solidFill>
                  <a:srgbClr val="1B2B34"/>
                </a:solidFill>
                <a:latin typeface="Calibri" pitchFamily="34" charset="0"/>
                <a:ea typeface="Calibri" pitchFamily="34" charset="-122"/>
                <a:cs typeface="Calibri" pitchFamily="34" charset="-120"/>
              </a:rPr>
              <a:t>Hadoop does not install cleanly on Windows.</a:t>
            </a:r>
            <a:endParaRPr lang="en-US" sz="1300" dirty="0"/>
          </a:p>
        </p:txBody>
      </p:sp>
      <p:pic>
        <p:nvPicPr>
          <p:cNvPr id="25" name="Image 3" descr="preencoded.png">    </p:cNvPr>
          <p:cNvPicPr>
            <a:picLocks noChangeAspect="1"/>
          </p:cNvPicPr>
          <p:nvPr/>
        </p:nvPicPr>
        <p:blipFill>
          <a:blip r:embed="rId4"/>
          <a:stretch>
            <a:fillRect/>
          </a:stretch>
        </p:blipFill>
        <p:spPr>
          <a:xfrm>
            <a:off x="6144768" y="4754880"/>
            <a:ext cx="274320" cy="274320"/>
          </a:xfrm>
          <a:prstGeom prst="rect">
            <a:avLst/>
          </a:prstGeom>
        </p:spPr>
      </p:pic>
      <p:sp>
        <p:nvSpPr>
          <p:cNvPr id="26" name="Shape 20"/>
          <p:cNvSpPr/>
          <p:nvPr/>
        </p:nvSpPr>
        <p:spPr>
          <a:xfrm>
            <a:off x="6629400" y="4535424"/>
            <a:ext cx="5010912" cy="713232"/>
          </a:xfrm>
          <a:prstGeom prst="roundRect">
            <a:avLst>
              <a:gd name="adj" fmla="val 15385"/>
            </a:avLst>
          </a:prstGeom>
          <a:solidFill>
            <a:srgbClr val="E6F5EE"/>
          </a:solidFill>
          <a:ln w="12700">
            <a:solidFill>
              <a:srgbClr val="E6F5EE"/>
            </a:solidFill>
            <a:prstDash val="solid"/>
          </a:ln>
        </p:spPr>
      </p:sp>
      <p:sp>
        <p:nvSpPr>
          <p:cNvPr id="27" name="Text 21"/>
          <p:cNvSpPr txBox="1"/>
          <p:nvPr/>
        </p:nvSpPr>
        <p:spPr>
          <a:xfrm>
            <a:off x="6858000" y="4535424"/>
            <a:ext cx="4663440" cy="713232"/>
          </a:xfrm>
          <a:prstGeom prst="rect">
            <a:avLst/>
          </a:prstGeom>
          <a:noFill/>
          <a:ln/>
        </p:spPr>
        <p:txBody>
          <a:bodyPr wrap="square" lIns="0" tIns="0" rIns="0" bIns="0" rtlCol="0" anchor="ctr"/>
          <a:lstStyle/>
          <a:p>
            <a:pPr indent="0" marL="0">
              <a:buNone/>
            </a:pPr>
            <a:r>
              <a:rPr lang="en-US" sz="1300" dirty="0">
                <a:solidFill>
                  <a:srgbClr val="0B1F2A"/>
                </a:solidFill>
                <a:latin typeface="Calibri" pitchFamily="34" charset="0"/>
                <a:ea typeface="Calibri" pitchFamily="34" charset="-122"/>
                <a:cs typeface="Calibri" pitchFamily="34" charset="-120"/>
              </a:rPr>
              <a:t>Single-node Hadoop inside WSL Ubuntu.</a:t>
            </a:r>
            <a:endParaRPr lang="en-US" sz="1300" dirty="0"/>
          </a:p>
        </p:txBody>
      </p:sp>
      <p:sp>
        <p:nvSpPr>
          <p:cNvPr id="28" name="Shape 22"/>
          <p:cNvSpPr/>
          <p:nvPr/>
        </p:nvSpPr>
        <p:spPr>
          <a:xfrm>
            <a:off x="548640" y="5376672"/>
            <a:ext cx="5394960" cy="713232"/>
          </a:xfrm>
          <a:prstGeom prst="roundRect">
            <a:avLst>
              <a:gd name="adj" fmla="val 15385"/>
            </a:avLst>
          </a:prstGeom>
          <a:solidFill>
            <a:srgbClr val="FDF1F1"/>
          </a:solidFill>
          <a:ln w="12700">
            <a:solidFill>
              <a:srgbClr val="FDF1F1"/>
            </a:solidFill>
            <a:prstDash val="solid"/>
          </a:ln>
        </p:spPr>
      </p:sp>
      <p:sp>
        <p:nvSpPr>
          <p:cNvPr id="29" name="Text 23"/>
          <p:cNvSpPr txBox="1"/>
          <p:nvPr/>
        </p:nvSpPr>
        <p:spPr>
          <a:xfrm>
            <a:off x="777240" y="5376672"/>
            <a:ext cx="5029200" cy="713232"/>
          </a:xfrm>
          <a:prstGeom prst="rect">
            <a:avLst/>
          </a:prstGeom>
          <a:noFill/>
          <a:ln/>
        </p:spPr>
        <p:txBody>
          <a:bodyPr wrap="square" lIns="0" tIns="0" rIns="0" bIns="0" rtlCol="0" anchor="ctr"/>
          <a:lstStyle/>
          <a:p>
            <a:pPr indent="0" marL="0">
              <a:buNone/>
            </a:pPr>
            <a:r>
              <a:rPr lang="en-US" sz="1300" b="1" dirty="0">
                <a:solidFill>
                  <a:srgbClr val="E5484D"/>
                </a:solidFill>
                <a:latin typeface="Calibri" pitchFamily="34" charset="0"/>
                <a:ea typeface="Calibri" pitchFamily="34" charset="-122"/>
                <a:cs typeface="Calibri" pitchFamily="34" charset="-120"/>
              </a:rPr>
              <a:t>Power BI and HDFS   </a:t>
            </a:r>
            <a:pPr indent="0" marL="0">
              <a:buNone/>
            </a:pPr>
            <a:r>
              <a:rPr lang="en-US" sz="1300" dirty="0">
                <a:solidFill>
                  <a:srgbClr val="1B2B34"/>
                </a:solidFill>
                <a:latin typeface="Calibri" pitchFamily="34" charset="0"/>
                <a:ea typeface="Calibri" pitchFamily="34" charset="-122"/>
                <a:cs typeface="Calibri" pitchFamily="34" charset="-120"/>
              </a:rPr>
              <a:t>Power BI cannot read HDFS directly.</a:t>
            </a:r>
            <a:endParaRPr lang="en-US" sz="1300" dirty="0"/>
          </a:p>
        </p:txBody>
      </p:sp>
      <p:pic>
        <p:nvPicPr>
          <p:cNvPr id="30" name="Image 4" descr="preencoded.png">    </p:cNvPr>
          <p:cNvPicPr>
            <a:picLocks noChangeAspect="1"/>
          </p:cNvPicPr>
          <p:nvPr/>
        </p:nvPicPr>
        <p:blipFill>
          <a:blip r:embed="rId5"/>
          <a:stretch>
            <a:fillRect/>
          </a:stretch>
        </p:blipFill>
        <p:spPr>
          <a:xfrm>
            <a:off x="6144768" y="5596128"/>
            <a:ext cx="274320" cy="274320"/>
          </a:xfrm>
          <a:prstGeom prst="rect">
            <a:avLst/>
          </a:prstGeom>
        </p:spPr>
      </p:pic>
      <p:sp>
        <p:nvSpPr>
          <p:cNvPr id="31" name="Shape 24"/>
          <p:cNvSpPr/>
          <p:nvPr/>
        </p:nvSpPr>
        <p:spPr>
          <a:xfrm>
            <a:off x="6629400" y="5376672"/>
            <a:ext cx="5010912" cy="713232"/>
          </a:xfrm>
          <a:prstGeom prst="roundRect">
            <a:avLst>
              <a:gd name="adj" fmla="val 15385"/>
            </a:avLst>
          </a:prstGeom>
          <a:solidFill>
            <a:srgbClr val="E6F5EE"/>
          </a:solidFill>
          <a:ln w="12700">
            <a:solidFill>
              <a:srgbClr val="E6F5EE"/>
            </a:solidFill>
            <a:prstDash val="solid"/>
          </a:ln>
        </p:spPr>
      </p:sp>
      <p:sp>
        <p:nvSpPr>
          <p:cNvPr id="32" name="Text 25"/>
          <p:cNvSpPr txBox="1"/>
          <p:nvPr/>
        </p:nvSpPr>
        <p:spPr>
          <a:xfrm>
            <a:off x="6858000" y="5376672"/>
            <a:ext cx="4663440" cy="713232"/>
          </a:xfrm>
          <a:prstGeom prst="rect">
            <a:avLst/>
          </a:prstGeom>
          <a:noFill/>
          <a:ln/>
        </p:spPr>
        <p:txBody>
          <a:bodyPr wrap="square" lIns="0" tIns="0" rIns="0" bIns="0" rtlCol="0" anchor="ctr"/>
          <a:lstStyle/>
          <a:p>
            <a:pPr indent="0" marL="0">
              <a:buNone/>
            </a:pPr>
            <a:r>
              <a:rPr lang="en-US" sz="1300" dirty="0">
                <a:solidFill>
                  <a:srgbClr val="0B1F2A"/>
                </a:solidFill>
                <a:latin typeface="Calibri" pitchFamily="34" charset="0"/>
                <a:ea typeface="Calibri" pitchFamily="34" charset="-122"/>
                <a:cs typeface="Calibri" pitchFamily="34" charset="-120"/>
              </a:rPr>
              <a:t>Gold tables are served through an API with a key.</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200" b="1" spc="300" kern="0" dirty="0">
                <a:solidFill>
                  <a:srgbClr val="0E9F6E"/>
                </a:solidFill>
                <a:latin typeface="Calibri" pitchFamily="34" charset="0"/>
                <a:ea typeface="Calibri" pitchFamily="34" charset="-122"/>
                <a:cs typeface="Calibri" pitchFamily="34" charset="-120"/>
              </a:rPr>
              <a:t>21  ·  LIMITATIONS AND NEXT STEPS</a:t>
            </a:r>
            <a:endParaRPr lang="en-US" sz="1200" dirty="0"/>
          </a:p>
        </p:txBody>
      </p:sp>
      <p:sp>
        <p:nvSpPr>
          <p:cNvPr id="3" name="Text 1"/>
          <p:cNvSpPr txBox="1"/>
          <p:nvPr/>
        </p:nvSpPr>
        <p:spPr>
          <a:xfrm>
            <a:off x="548640" y="676656"/>
            <a:ext cx="11064240" cy="685800"/>
          </a:xfrm>
          <a:prstGeom prst="rect">
            <a:avLst/>
          </a:prstGeom>
          <a:noFill/>
          <a:ln/>
        </p:spPr>
        <p:txBody>
          <a:bodyPr wrap="square" lIns="0" tIns="0" rIns="0" bIns="0" rtlCol="0" anchor="ctr"/>
          <a:lstStyle/>
          <a:p>
            <a:pPr indent="0" marL="0">
              <a:buNone/>
            </a:pPr>
            <a:r>
              <a:rPr lang="en-US" sz="3000" b="1" dirty="0">
                <a:solidFill>
                  <a:srgbClr val="0B1F2A"/>
                </a:solidFill>
                <a:latin typeface="Arial" pitchFamily="34" charset="0"/>
                <a:ea typeface="Arial" pitchFamily="34" charset="-122"/>
                <a:cs typeface="Arial" pitchFamily="34" charset="-120"/>
              </a:rPr>
              <a:t>What this version does not do yet</a:t>
            </a:r>
            <a:endParaRPr lang="en-US" sz="3000" dirty="0"/>
          </a:p>
        </p:txBody>
      </p:sp>
      <p:sp>
        <p:nvSpPr>
          <p:cNvPr id="4" name="Text 2"/>
          <p:cNvSpPr txBox="1"/>
          <p:nvPr/>
        </p:nvSpPr>
        <p:spPr>
          <a:xfrm>
            <a:off x="548640" y="6473952"/>
            <a:ext cx="7315200" cy="228600"/>
          </a:xfrm>
          <a:prstGeom prst="rect">
            <a:avLst/>
          </a:prstGeom>
          <a:noFill/>
          <a:ln/>
        </p:spPr>
        <p:txBody>
          <a:bodyPr wrap="square" lIns="0" tIns="0" rIns="0" bIns="0" rtlCol="0" anchor="t"/>
          <a:lstStyle/>
          <a:p>
            <a:pPr indent="0" marL="0">
              <a:buNone/>
            </a:pPr>
            <a:r>
              <a:rPr lang="en-US" sz="900" dirty="0">
                <a:solidFill>
                  <a:srgbClr val="5B6B75"/>
                </a:solidFill>
                <a:latin typeface="Calibri" pitchFamily="34" charset="0"/>
                <a:ea typeface="Calibri" pitchFamily="34" charset="-122"/>
                <a:cs typeface="Calibri" pitchFamily="34" charset="-120"/>
              </a:rPr>
              <a:t>Big Data Architecture  |  Stock Market &amp; Mutual Fund Risk Analytics</a:t>
            </a:r>
            <a:endParaRPr lang="en-US" sz="900" dirty="0"/>
          </a:p>
        </p:txBody>
      </p:sp>
      <p:sp>
        <p:nvSpPr>
          <p:cNvPr id="5" name="Text 3"/>
          <p:cNvSpPr txBox="1"/>
          <p:nvPr/>
        </p:nvSpPr>
        <p:spPr>
          <a:xfrm>
            <a:off x="11183112" y="6473952"/>
            <a:ext cx="457200" cy="228600"/>
          </a:xfrm>
          <a:prstGeom prst="rect">
            <a:avLst/>
          </a:prstGeom>
          <a:noFill/>
          <a:ln/>
        </p:spPr>
        <p:txBody>
          <a:bodyPr wrap="square" lIns="0" tIns="0" rIns="0" bIns="0" rtlCol="0" anchor="t"/>
          <a:lstStyle/>
          <a:p>
            <a:pPr algn="r" indent="0" marL="0">
              <a:buNone/>
            </a:pPr>
            <a:r>
              <a:rPr lang="en-US" sz="900" dirty="0">
                <a:solidFill>
                  <a:srgbClr val="5B6B75"/>
                </a:solidFill>
                <a:latin typeface="Calibri" pitchFamily="34" charset="0"/>
                <a:ea typeface="Calibri" pitchFamily="34" charset="-122"/>
                <a:cs typeface="Calibri" pitchFamily="34" charset="-120"/>
              </a:rPr>
              <a:t>22</a:t>
            </a:r>
            <a:endParaRPr lang="en-US" sz="900" dirty="0"/>
          </a:p>
        </p:txBody>
      </p:sp>
      <p:sp>
        <p:nvSpPr>
          <p:cNvPr id="6" name="Shape 4"/>
          <p:cNvSpPr/>
          <p:nvPr/>
        </p:nvSpPr>
        <p:spPr>
          <a:xfrm>
            <a:off x="548640" y="1645920"/>
            <a:ext cx="5440680" cy="4526280"/>
          </a:xfrm>
          <a:prstGeom prst="roundRect">
            <a:avLst>
              <a:gd name="adj" fmla="val 2424"/>
            </a:avLst>
          </a:prstGeom>
          <a:solidFill>
            <a:srgbClr val="F2F6F8"/>
          </a:solidFill>
          <a:ln w="12700">
            <a:solidFill>
              <a:srgbClr val="F2F6F8"/>
            </a:solidFill>
            <a:prstDash val="solid"/>
          </a:ln>
        </p:spPr>
      </p:sp>
      <p:sp>
        <p:nvSpPr>
          <p:cNvPr id="7" name="Shape 5"/>
          <p:cNvSpPr/>
          <p:nvPr/>
        </p:nvSpPr>
        <p:spPr>
          <a:xfrm>
            <a:off x="822960" y="1874520"/>
            <a:ext cx="502920" cy="502920"/>
          </a:xfrm>
          <a:prstGeom prst="ellipse">
            <a:avLst/>
          </a:prstGeom>
          <a:solidFill>
            <a:srgbClr val="F5A524"/>
          </a:solidFill>
          <a:ln w="12700">
            <a:solidFill>
              <a:srgbClr val="F5A524"/>
            </a:solidFill>
            <a:prstDash val="solid"/>
          </a:ln>
        </p:spPr>
      </p:sp>
      <p:pic>
        <p:nvPicPr>
          <p:cNvPr id="8" name="Image 0" descr="preencoded.png">    </p:cNvPr>
          <p:cNvPicPr>
            <a:picLocks noChangeAspect="1"/>
          </p:cNvPicPr>
          <p:nvPr/>
        </p:nvPicPr>
        <p:blipFill>
          <a:blip r:embed="rId1"/>
          <a:stretch>
            <a:fillRect/>
          </a:stretch>
        </p:blipFill>
        <p:spPr>
          <a:xfrm>
            <a:off x="953719" y="2005279"/>
            <a:ext cx="241402" cy="241402"/>
          </a:xfrm>
          <a:prstGeom prst="rect">
            <a:avLst/>
          </a:prstGeom>
        </p:spPr>
      </p:pic>
      <p:sp>
        <p:nvSpPr>
          <p:cNvPr id="9" name="Text 6"/>
          <p:cNvSpPr txBox="1"/>
          <p:nvPr/>
        </p:nvSpPr>
        <p:spPr>
          <a:xfrm>
            <a:off x="1508760" y="1920240"/>
            <a:ext cx="3657600" cy="411480"/>
          </a:xfrm>
          <a:prstGeom prst="rect">
            <a:avLst/>
          </a:prstGeom>
          <a:noFill/>
          <a:ln/>
        </p:spPr>
        <p:txBody>
          <a:bodyPr wrap="square" lIns="0" tIns="0" rIns="0" bIns="0" rtlCol="0" anchor="ctr"/>
          <a:lstStyle/>
          <a:p>
            <a:pPr indent="0" marL="0">
              <a:buNone/>
            </a:pPr>
            <a:r>
              <a:rPr lang="en-US" sz="2000" b="1" dirty="0">
                <a:solidFill>
                  <a:srgbClr val="0B1F2A"/>
                </a:solidFill>
                <a:latin typeface="Arial" pitchFamily="34" charset="0"/>
                <a:ea typeface="Arial" pitchFamily="34" charset="-122"/>
                <a:cs typeface="Arial" pitchFamily="34" charset="-120"/>
              </a:rPr>
              <a:t>Limitations</a:t>
            </a:r>
            <a:endParaRPr lang="en-US" sz="2000" dirty="0"/>
          </a:p>
        </p:txBody>
      </p:sp>
      <p:sp>
        <p:nvSpPr>
          <p:cNvPr id="10" name="Text 7"/>
          <p:cNvSpPr txBox="1"/>
          <p:nvPr/>
        </p:nvSpPr>
        <p:spPr>
          <a:xfrm>
            <a:off x="868680" y="2606040"/>
            <a:ext cx="4846320" cy="292608"/>
          </a:xfrm>
          <a:prstGeom prst="rect">
            <a:avLst/>
          </a:prstGeom>
          <a:noFill/>
          <a:ln/>
        </p:spPr>
        <p:txBody>
          <a:bodyPr wrap="square" lIns="0" tIns="0" rIns="0" bIns="0" rtlCol="0" anchor="t"/>
          <a:lstStyle/>
          <a:p>
            <a:pPr indent="0" marL="0">
              <a:buNone/>
            </a:pPr>
            <a:r>
              <a:rPr lang="en-US" sz="1450" b="1" dirty="0">
                <a:solidFill>
                  <a:srgbClr val="0B1F2A"/>
                </a:solidFill>
                <a:latin typeface="Calibri" pitchFamily="34" charset="0"/>
                <a:ea typeface="Calibri" pitchFamily="34" charset="-122"/>
                <a:cs typeface="Calibri" pitchFamily="34" charset="-120"/>
              </a:rPr>
              <a:t>Index churn is not built</a:t>
            </a:r>
            <a:endParaRPr lang="en-US" sz="1450" dirty="0"/>
          </a:p>
        </p:txBody>
      </p:sp>
      <p:sp>
        <p:nvSpPr>
          <p:cNvPr id="11" name="Text 8"/>
          <p:cNvSpPr txBox="1"/>
          <p:nvPr/>
        </p:nvSpPr>
        <p:spPr>
          <a:xfrm>
            <a:off x="868680" y="2898648"/>
            <a:ext cx="4846320" cy="502920"/>
          </a:xfrm>
          <a:prstGeom prst="rect">
            <a:avLst/>
          </a:prstGeom>
          <a:noFill/>
          <a:ln/>
        </p:spPr>
        <p:txBody>
          <a:bodyPr wrap="square" lIns="0" tIns="0" rIns="0" bIns="0" rtlCol="0" anchor="t"/>
          <a:lstStyle/>
          <a:p>
            <a:pPr indent="0" marL="0">
              <a:buNone/>
            </a:pPr>
            <a:r>
              <a:rPr lang="en-US" sz="1250" dirty="0">
                <a:solidFill>
                  <a:srgbClr val="5B6B75"/>
                </a:solidFill>
                <a:latin typeface="Calibri" pitchFamily="34" charset="0"/>
                <a:ea typeface="Calibri" pitchFamily="34" charset="-122"/>
                <a:cs typeface="Calibri" pitchFamily="34" charset="-120"/>
              </a:rPr>
              <a:t>No dated open list of Nifty 50 entries and exits exists, so this part of the original idea is left out.</a:t>
            </a:r>
            <a:endParaRPr lang="en-US" sz="1250" dirty="0"/>
          </a:p>
        </p:txBody>
      </p:sp>
      <p:sp>
        <p:nvSpPr>
          <p:cNvPr id="12" name="Text 9"/>
          <p:cNvSpPr txBox="1"/>
          <p:nvPr/>
        </p:nvSpPr>
        <p:spPr>
          <a:xfrm>
            <a:off x="868680" y="3474720"/>
            <a:ext cx="4846320" cy="292608"/>
          </a:xfrm>
          <a:prstGeom prst="rect">
            <a:avLst/>
          </a:prstGeom>
          <a:noFill/>
          <a:ln/>
        </p:spPr>
        <p:txBody>
          <a:bodyPr wrap="square" lIns="0" tIns="0" rIns="0" bIns="0" rtlCol="0" anchor="t"/>
          <a:lstStyle/>
          <a:p>
            <a:pPr indent="0" marL="0">
              <a:buNone/>
            </a:pPr>
            <a:r>
              <a:rPr lang="en-US" sz="1450" b="1" dirty="0">
                <a:solidFill>
                  <a:srgbClr val="0B1F2A"/>
                </a:solidFill>
                <a:latin typeface="Calibri" pitchFamily="34" charset="0"/>
                <a:ea typeface="Calibri" pitchFamily="34" charset="-122"/>
                <a:cs typeface="Calibri" pitchFamily="34" charset="-120"/>
              </a:rPr>
              <a:t>Short debt history</a:t>
            </a:r>
            <a:endParaRPr lang="en-US" sz="1450" dirty="0"/>
          </a:p>
        </p:txBody>
      </p:sp>
      <p:sp>
        <p:nvSpPr>
          <p:cNvPr id="13" name="Text 10"/>
          <p:cNvSpPr txBox="1"/>
          <p:nvPr/>
        </p:nvSpPr>
        <p:spPr>
          <a:xfrm>
            <a:off x="868680" y="3767328"/>
            <a:ext cx="4846320" cy="502920"/>
          </a:xfrm>
          <a:prstGeom prst="rect">
            <a:avLst/>
          </a:prstGeom>
          <a:noFill/>
          <a:ln/>
        </p:spPr>
        <p:txBody>
          <a:bodyPr wrap="square" lIns="0" tIns="0" rIns="0" bIns="0" rtlCol="0" anchor="t"/>
          <a:lstStyle/>
          <a:p>
            <a:pPr indent="0" marL="0">
              <a:buNone/>
            </a:pPr>
            <a:r>
              <a:rPr lang="en-US" sz="1250" dirty="0">
                <a:solidFill>
                  <a:srgbClr val="5B6B75"/>
                </a:solidFill>
                <a:latin typeface="Calibri" pitchFamily="34" charset="0"/>
                <a:ea typeface="Calibri" pitchFamily="34" charset="-122"/>
                <a:cs typeface="Calibri" pitchFamily="34" charset="-120"/>
              </a:rPr>
              <a:t>Yahoo Finance, an unofficial source, gives about four financial years of balance sheets per company.</a:t>
            </a:r>
            <a:endParaRPr lang="en-US" sz="1250" dirty="0"/>
          </a:p>
        </p:txBody>
      </p:sp>
      <p:sp>
        <p:nvSpPr>
          <p:cNvPr id="14" name="Text 11"/>
          <p:cNvSpPr txBox="1"/>
          <p:nvPr/>
        </p:nvSpPr>
        <p:spPr>
          <a:xfrm>
            <a:off x="868680" y="4343400"/>
            <a:ext cx="4846320" cy="292608"/>
          </a:xfrm>
          <a:prstGeom prst="rect">
            <a:avLst/>
          </a:prstGeom>
          <a:noFill/>
          <a:ln/>
        </p:spPr>
        <p:txBody>
          <a:bodyPr wrap="square" lIns="0" tIns="0" rIns="0" bIns="0" rtlCol="0" anchor="t"/>
          <a:lstStyle/>
          <a:p>
            <a:pPr indent="0" marL="0">
              <a:buNone/>
            </a:pPr>
            <a:r>
              <a:rPr lang="en-US" sz="1450" b="1" dirty="0">
                <a:solidFill>
                  <a:srgbClr val="0B1F2A"/>
                </a:solidFill>
                <a:latin typeface="Calibri" pitchFamily="34" charset="0"/>
                <a:ea typeface="Calibri" pitchFamily="34" charset="-122"/>
                <a:cs typeface="Calibri" pitchFamily="34" charset="-120"/>
              </a:rPr>
              <a:t>Survivors only</a:t>
            </a:r>
            <a:endParaRPr lang="en-US" sz="1450" dirty="0"/>
          </a:p>
        </p:txBody>
      </p:sp>
      <p:sp>
        <p:nvSpPr>
          <p:cNvPr id="15" name="Text 12"/>
          <p:cNvSpPr txBox="1"/>
          <p:nvPr/>
        </p:nvSpPr>
        <p:spPr>
          <a:xfrm>
            <a:off x="868680" y="4636008"/>
            <a:ext cx="4846320" cy="502920"/>
          </a:xfrm>
          <a:prstGeom prst="rect">
            <a:avLst/>
          </a:prstGeom>
          <a:noFill/>
          <a:ln/>
        </p:spPr>
        <p:txBody>
          <a:bodyPr wrap="square" lIns="0" tIns="0" rIns="0" bIns="0" rtlCol="0" anchor="t"/>
          <a:lstStyle/>
          <a:p>
            <a:pPr indent="0" marL="0">
              <a:buNone/>
            </a:pPr>
            <a:r>
              <a:rPr lang="en-US" sz="1250" dirty="0">
                <a:solidFill>
                  <a:srgbClr val="5B6B75"/>
                </a:solidFill>
                <a:latin typeface="Calibri" pitchFamily="34" charset="0"/>
                <a:ea typeface="Calibri" pitchFamily="34" charset="-122"/>
                <a:cs typeface="Calibri" pitchFamily="34" charset="-120"/>
              </a:rPr>
              <a:t>Scores cover funds still active and today's Nifty 50 members; closed funds and past members are left out.</a:t>
            </a:r>
            <a:endParaRPr lang="en-US" sz="1250" dirty="0"/>
          </a:p>
        </p:txBody>
      </p:sp>
      <p:sp>
        <p:nvSpPr>
          <p:cNvPr id="16" name="Text 13"/>
          <p:cNvSpPr txBox="1"/>
          <p:nvPr/>
        </p:nvSpPr>
        <p:spPr>
          <a:xfrm>
            <a:off x="868680" y="5212080"/>
            <a:ext cx="4846320" cy="292608"/>
          </a:xfrm>
          <a:prstGeom prst="rect">
            <a:avLst/>
          </a:prstGeom>
          <a:noFill/>
          <a:ln/>
        </p:spPr>
        <p:txBody>
          <a:bodyPr wrap="square" lIns="0" tIns="0" rIns="0" bIns="0" rtlCol="0" anchor="t"/>
          <a:lstStyle/>
          <a:p>
            <a:pPr indent="0" marL="0">
              <a:buNone/>
            </a:pPr>
            <a:r>
              <a:rPr lang="en-US" sz="1450" b="1" dirty="0">
                <a:solidFill>
                  <a:srgbClr val="0B1F2A"/>
                </a:solidFill>
                <a:latin typeface="Calibri" pitchFamily="34" charset="0"/>
                <a:ea typeface="Calibri" pitchFamily="34" charset="-122"/>
                <a:cs typeface="Calibri" pitchFamily="34" charset="-120"/>
              </a:rPr>
              <a:t>Assumptions and scale</a:t>
            </a:r>
            <a:endParaRPr lang="en-US" sz="1450" dirty="0"/>
          </a:p>
        </p:txBody>
      </p:sp>
      <p:sp>
        <p:nvSpPr>
          <p:cNvPr id="17" name="Text 14"/>
          <p:cNvSpPr txBox="1"/>
          <p:nvPr/>
        </p:nvSpPr>
        <p:spPr>
          <a:xfrm>
            <a:off x="868680" y="5504688"/>
            <a:ext cx="4846320" cy="502920"/>
          </a:xfrm>
          <a:prstGeom prst="rect">
            <a:avLst/>
          </a:prstGeom>
          <a:noFill/>
          <a:ln/>
        </p:spPr>
        <p:txBody>
          <a:bodyPr wrap="square" lIns="0" tIns="0" rIns="0" bIns="0" rtlCol="0" anchor="t"/>
          <a:lstStyle/>
          <a:p>
            <a:pPr indent="0" marL="0">
              <a:buNone/>
            </a:pPr>
            <a:r>
              <a:rPr lang="en-US" sz="1250" dirty="0">
                <a:solidFill>
                  <a:srgbClr val="5B6B75"/>
                </a:solidFill>
                <a:latin typeface="Calibri" pitchFamily="34" charset="0"/>
                <a:ea typeface="Calibri" pitchFamily="34" charset="-122"/>
                <a:cs typeface="Calibri" pitchFamily="34" charset="-120"/>
              </a:rPr>
              <a:t>Risk-free rate fixed at 6.5%; Hadoop runs on a single node and the API on the laptop.</a:t>
            </a:r>
            <a:endParaRPr lang="en-US" sz="1250" dirty="0"/>
          </a:p>
        </p:txBody>
      </p:sp>
      <p:sp>
        <p:nvSpPr>
          <p:cNvPr id="18" name="Shape 15"/>
          <p:cNvSpPr/>
          <p:nvPr/>
        </p:nvSpPr>
        <p:spPr>
          <a:xfrm>
            <a:off x="6199632" y="1645920"/>
            <a:ext cx="5440680" cy="4526280"/>
          </a:xfrm>
          <a:prstGeom prst="roundRect">
            <a:avLst>
              <a:gd name="adj" fmla="val 2424"/>
            </a:avLst>
          </a:prstGeom>
          <a:solidFill>
            <a:srgbClr val="E6F5EE"/>
          </a:solidFill>
          <a:ln w="12700">
            <a:solidFill>
              <a:srgbClr val="E6F5EE"/>
            </a:solidFill>
            <a:prstDash val="solid"/>
          </a:ln>
        </p:spPr>
      </p:sp>
      <p:sp>
        <p:nvSpPr>
          <p:cNvPr id="19" name="Shape 16"/>
          <p:cNvSpPr/>
          <p:nvPr/>
        </p:nvSpPr>
        <p:spPr>
          <a:xfrm>
            <a:off x="6473952" y="1874520"/>
            <a:ext cx="502920" cy="502920"/>
          </a:xfrm>
          <a:prstGeom prst="ellipse">
            <a:avLst/>
          </a:prstGeom>
          <a:solidFill>
            <a:srgbClr val="0E9F6E"/>
          </a:solidFill>
          <a:ln w="12700">
            <a:solidFill>
              <a:srgbClr val="0E9F6E"/>
            </a:solidFill>
            <a:prstDash val="solid"/>
          </a:ln>
        </p:spPr>
      </p:sp>
      <p:pic>
        <p:nvPicPr>
          <p:cNvPr id="20" name="Image 1" descr="preencoded.png">    </p:cNvPr>
          <p:cNvPicPr>
            <a:picLocks noChangeAspect="1"/>
          </p:cNvPicPr>
          <p:nvPr/>
        </p:nvPicPr>
        <p:blipFill>
          <a:blip r:embed="rId2"/>
          <a:stretch>
            <a:fillRect/>
          </a:stretch>
        </p:blipFill>
        <p:spPr>
          <a:xfrm>
            <a:off x="6604711" y="2005279"/>
            <a:ext cx="241402" cy="241402"/>
          </a:xfrm>
          <a:prstGeom prst="rect">
            <a:avLst/>
          </a:prstGeom>
        </p:spPr>
      </p:pic>
      <p:sp>
        <p:nvSpPr>
          <p:cNvPr id="21" name="Text 17"/>
          <p:cNvSpPr txBox="1"/>
          <p:nvPr/>
        </p:nvSpPr>
        <p:spPr>
          <a:xfrm>
            <a:off x="7159752" y="1920240"/>
            <a:ext cx="3657600" cy="411480"/>
          </a:xfrm>
          <a:prstGeom prst="rect">
            <a:avLst/>
          </a:prstGeom>
          <a:noFill/>
          <a:ln/>
        </p:spPr>
        <p:txBody>
          <a:bodyPr wrap="square" lIns="0" tIns="0" rIns="0" bIns="0" rtlCol="0" anchor="ctr"/>
          <a:lstStyle/>
          <a:p>
            <a:pPr indent="0" marL="0">
              <a:buNone/>
            </a:pPr>
            <a:r>
              <a:rPr lang="en-US" sz="2000" b="1" dirty="0">
                <a:solidFill>
                  <a:srgbClr val="0B1F2A"/>
                </a:solidFill>
                <a:latin typeface="Arial" pitchFamily="34" charset="0"/>
                <a:ea typeface="Arial" pitchFamily="34" charset="-122"/>
                <a:cs typeface="Arial" pitchFamily="34" charset="-120"/>
              </a:rPr>
              <a:t>Next steps</a:t>
            </a:r>
            <a:endParaRPr lang="en-US" sz="2000" dirty="0"/>
          </a:p>
        </p:txBody>
      </p:sp>
      <p:sp>
        <p:nvSpPr>
          <p:cNvPr id="22" name="Text 18"/>
          <p:cNvSpPr txBox="1"/>
          <p:nvPr/>
        </p:nvSpPr>
        <p:spPr>
          <a:xfrm>
            <a:off x="6519672" y="2606040"/>
            <a:ext cx="4846320" cy="292608"/>
          </a:xfrm>
          <a:prstGeom prst="rect">
            <a:avLst/>
          </a:prstGeom>
          <a:noFill/>
          <a:ln/>
        </p:spPr>
        <p:txBody>
          <a:bodyPr wrap="square" lIns="0" tIns="0" rIns="0" bIns="0" rtlCol="0" anchor="t"/>
          <a:lstStyle/>
          <a:p>
            <a:pPr indent="0" marL="0">
              <a:buNone/>
            </a:pPr>
            <a:r>
              <a:rPr lang="en-US" sz="1450" b="1" dirty="0">
                <a:solidFill>
                  <a:srgbClr val="0B1F2A"/>
                </a:solidFill>
                <a:latin typeface="Calibri" pitchFamily="34" charset="0"/>
                <a:ea typeface="Calibri" pitchFamily="34" charset="-122"/>
                <a:cs typeface="Calibri" pitchFamily="34" charset="-120"/>
              </a:rPr>
              <a:t>Build the index churn history</a:t>
            </a:r>
            <a:endParaRPr lang="en-US" sz="1450" dirty="0"/>
          </a:p>
        </p:txBody>
      </p:sp>
      <p:sp>
        <p:nvSpPr>
          <p:cNvPr id="23" name="Text 19"/>
          <p:cNvSpPr txBox="1"/>
          <p:nvPr/>
        </p:nvSpPr>
        <p:spPr>
          <a:xfrm>
            <a:off x="6519672" y="2898648"/>
            <a:ext cx="4846320" cy="502920"/>
          </a:xfrm>
          <a:prstGeom prst="rect">
            <a:avLst/>
          </a:prstGeom>
          <a:noFill/>
          <a:ln/>
        </p:spPr>
        <p:txBody>
          <a:bodyPr wrap="square" lIns="0" tIns="0" rIns="0" bIns="0" rtlCol="0" anchor="t"/>
          <a:lstStyle/>
          <a:p>
            <a:pPr indent="0" marL="0">
              <a:buNone/>
            </a:pPr>
            <a:r>
              <a:rPr lang="en-US" sz="1250" dirty="0">
                <a:solidFill>
                  <a:srgbClr val="1B2B34"/>
                </a:solidFill>
                <a:latin typeface="Calibri" pitchFamily="34" charset="0"/>
                <a:ea typeface="Calibri" pitchFamily="34" charset="-122"/>
                <a:cs typeface="Calibri" pitchFamily="34" charset="-120"/>
              </a:rPr>
              <a:t>Compile dated Nifty 50 entries and exits from NSE notices.</a:t>
            </a:r>
            <a:endParaRPr lang="en-US" sz="1250" dirty="0"/>
          </a:p>
        </p:txBody>
      </p:sp>
      <p:sp>
        <p:nvSpPr>
          <p:cNvPr id="24" name="Text 20"/>
          <p:cNvSpPr txBox="1"/>
          <p:nvPr/>
        </p:nvSpPr>
        <p:spPr>
          <a:xfrm>
            <a:off x="6519672" y="3474720"/>
            <a:ext cx="4846320" cy="292608"/>
          </a:xfrm>
          <a:prstGeom prst="rect">
            <a:avLst/>
          </a:prstGeom>
          <a:noFill/>
          <a:ln/>
        </p:spPr>
        <p:txBody>
          <a:bodyPr wrap="square" lIns="0" tIns="0" rIns="0" bIns="0" rtlCol="0" anchor="t"/>
          <a:lstStyle/>
          <a:p>
            <a:pPr indent="0" marL="0">
              <a:buNone/>
            </a:pPr>
            <a:r>
              <a:rPr lang="en-US" sz="1450" b="1" dirty="0">
                <a:solidFill>
                  <a:srgbClr val="0B1F2A"/>
                </a:solidFill>
                <a:latin typeface="Calibri" pitchFamily="34" charset="0"/>
                <a:ea typeface="Calibri" pitchFamily="34" charset="-122"/>
                <a:cs typeface="Calibri" pitchFamily="34" charset="-120"/>
              </a:rPr>
              <a:t>Longer debt history</a:t>
            </a:r>
            <a:endParaRPr lang="en-US" sz="1450" dirty="0"/>
          </a:p>
        </p:txBody>
      </p:sp>
      <p:sp>
        <p:nvSpPr>
          <p:cNvPr id="25" name="Text 21"/>
          <p:cNvSpPr txBox="1"/>
          <p:nvPr/>
        </p:nvSpPr>
        <p:spPr>
          <a:xfrm>
            <a:off x="6519672" y="3767328"/>
            <a:ext cx="4846320" cy="502920"/>
          </a:xfrm>
          <a:prstGeom prst="rect">
            <a:avLst/>
          </a:prstGeom>
          <a:noFill/>
          <a:ln/>
        </p:spPr>
        <p:txBody>
          <a:bodyPr wrap="square" lIns="0" tIns="0" rIns="0" bIns="0" rtlCol="0" anchor="t"/>
          <a:lstStyle/>
          <a:p>
            <a:pPr indent="0" marL="0">
              <a:buNone/>
            </a:pPr>
            <a:r>
              <a:rPr lang="en-US" sz="1250" dirty="0">
                <a:solidFill>
                  <a:srgbClr val="1B2B34"/>
                </a:solidFill>
                <a:latin typeface="Calibri" pitchFamily="34" charset="0"/>
                <a:ea typeface="Calibri" pitchFamily="34" charset="-122"/>
                <a:cs typeface="Calibri" pitchFamily="34" charset="-120"/>
              </a:rPr>
              <a:t>Read company filings to go beyond four years of balance sheets.</a:t>
            </a:r>
            <a:endParaRPr lang="en-US" sz="1250" dirty="0"/>
          </a:p>
        </p:txBody>
      </p:sp>
      <p:sp>
        <p:nvSpPr>
          <p:cNvPr id="26" name="Text 22"/>
          <p:cNvSpPr txBox="1"/>
          <p:nvPr/>
        </p:nvSpPr>
        <p:spPr>
          <a:xfrm>
            <a:off x="6519672" y="4343400"/>
            <a:ext cx="4846320" cy="292608"/>
          </a:xfrm>
          <a:prstGeom prst="rect">
            <a:avLst/>
          </a:prstGeom>
          <a:noFill/>
          <a:ln/>
        </p:spPr>
        <p:txBody>
          <a:bodyPr wrap="square" lIns="0" tIns="0" rIns="0" bIns="0" rtlCol="0" anchor="t"/>
          <a:lstStyle/>
          <a:p>
            <a:pPr indent="0" marL="0">
              <a:buNone/>
            </a:pPr>
            <a:r>
              <a:rPr lang="en-US" sz="1450" b="1" dirty="0">
                <a:solidFill>
                  <a:srgbClr val="0B1F2A"/>
                </a:solidFill>
                <a:latin typeface="Calibri" pitchFamily="34" charset="0"/>
                <a:ea typeface="Calibri" pitchFamily="34" charset="-122"/>
                <a:cs typeface="Calibri" pitchFamily="34" charset="-120"/>
              </a:rPr>
              <a:t>Host the API publicly</a:t>
            </a:r>
            <a:endParaRPr lang="en-US" sz="1450" dirty="0"/>
          </a:p>
        </p:txBody>
      </p:sp>
      <p:sp>
        <p:nvSpPr>
          <p:cNvPr id="27" name="Text 23"/>
          <p:cNvSpPr txBox="1"/>
          <p:nvPr/>
        </p:nvSpPr>
        <p:spPr>
          <a:xfrm>
            <a:off x="6519672" y="4636008"/>
            <a:ext cx="4846320" cy="502920"/>
          </a:xfrm>
          <a:prstGeom prst="rect">
            <a:avLst/>
          </a:prstGeom>
          <a:noFill/>
          <a:ln/>
        </p:spPr>
        <p:txBody>
          <a:bodyPr wrap="square" lIns="0" tIns="0" rIns="0" bIns="0" rtlCol="0" anchor="t"/>
          <a:lstStyle/>
          <a:p>
            <a:pPr indent="0" marL="0">
              <a:buNone/>
            </a:pPr>
            <a:r>
              <a:rPr lang="en-US" sz="1250" dirty="0">
                <a:solidFill>
                  <a:srgbClr val="1B2B34"/>
                </a:solidFill>
                <a:latin typeface="Calibri" pitchFamily="34" charset="0"/>
                <a:ea typeface="Calibri" pitchFamily="34" charset="-122"/>
                <a:cs typeface="Calibri" pitchFamily="34" charset="-120"/>
              </a:rPr>
              <a:t>So Power BI Service can refresh the dashboard on a schedule.</a:t>
            </a:r>
            <a:endParaRPr lang="en-US" sz="1250" dirty="0"/>
          </a:p>
        </p:txBody>
      </p:sp>
      <p:sp>
        <p:nvSpPr>
          <p:cNvPr id="28" name="Text 24"/>
          <p:cNvSpPr txBox="1"/>
          <p:nvPr/>
        </p:nvSpPr>
        <p:spPr>
          <a:xfrm>
            <a:off x="6519672" y="5212080"/>
            <a:ext cx="4846320" cy="292608"/>
          </a:xfrm>
          <a:prstGeom prst="rect">
            <a:avLst/>
          </a:prstGeom>
          <a:noFill/>
          <a:ln/>
        </p:spPr>
        <p:txBody>
          <a:bodyPr wrap="square" lIns="0" tIns="0" rIns="0" bIns="0" rtlCol="0" anchor="t"/>
          <a:lstStyle/>
          <a:p>
            <a:pPr indent="0" marL="0">
              <a:buNone/>
            </a:pPr>
            <a:r>
              <a:rPr lang="en-US" sz="1450" b="1" dirty="0">
                <a:solidFill>
                  <a:srgbClr val="0B1F2A"/>
                </a:solidFill>
                <a:latin typeface="Calibri" pitchFamily="34" charset="0"/>
                <a:ea typeface="Calibri" pitchFamily="34" charset="-122"/>
                <a:cs typeface="Calibri" pitchFamily="34" charset="-120"/>
              </a:rPr>
              <a:t>Schedule the jobs</a:t>
            </a:r>
            <a:endParaRPr lang="en-US" sz="1450" dirty="0"/>
          </a:p>
        </p:txBody>
      </p:sp>
      <p:sp>
        <p:nvSpPr>
          <p:cNvPr id="29" name="Text 25"/>
          <p:cNvSpPr txBox="1"/>
          <p:nvPr/>
        </p:nvSpPr>
        <p:spPr>
          <a:xfrm>
            <a:off x="6519672" y="5504688"/>
            <a:ext cx="4846320" cy="502920"/>
          </a:xfrm>
          <a:prstGeom prst="rect">
            <a:avLst/>
          </a:prstGeom>
          <a:noFill/>
          <a:ln/>
        </p:spPr>
        <p:txBody>
          <a:bodyPr wrap="square" lIns="0" tIns="0" rIns="0" bIns="0" rtlCol="0" anchor="t"/>
          <a:lstStyle/>
          <a:p>
            <a:pPr indent="0" marL="0">
              <a:buNone/>
            </a:pPr>
            <a:r>
              <a:rPr lang="en-US" sz="1250" dirty="0">
                <a:solidFill>
                  <a:srgbClr val="1B2B34"/>
                </a:solidFill>
                <a:latin typeface="Calibri" pitchFamily="34" charset="0"/>
                <a:ea typeface="Calibri" pitchFamily="34" charset="-122"/>
                <a:cs typeface="Calibri" pitchFamily="34" charset="-120"/>
              </a:rPr>
              <a:t>Run download, Silver, Gold, models and stocks automatically each day.</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F2A"/>
        </a:solidFill>
      </p:bgPr>
    </p:bg>
    <p:spTree>
      <p:nvGrpSpPr>
        <p:cNvPr id="1" name=""/>
        <p:cNvGrpSpPr/>
        <p:nvPr/>
      </p:nvGrpSpPr>
      <p:grpSpPr>
        <a:xfrm>
          <a:off x="0" y="0"/>
          <a:ext cx="0" cy="0"/>
          <a:chOff x="0" y="0"/>
          <a:chExt cx="0" cy="0"/>
        </a:xfrm>
      </p:grpSpPr>
      <p:sp>
        <p:nvSpPr>
          <p:cNvPr id="2" name="Text 0"/>
          <p:cNvSpPr txBox="1"/>
          <p:nvPr/>
        </p:nvSpPr>
        <p:spPr>
          <a:xfrm>
            <a:off x="640080" y="548640"/>
            <a:ext cx="7315200" cy="274320"/>
          </a:xfrm>
          <a:prstGeom prst="rect">
            <a:avLst/>
          </a:prstGeom>
          <a:noFill/>
          <a:ln/>
        </p:spPr>
        <p:txBody>
          <a:bodyPr wrap="square" lIns="0" tIns="0" rIns="0" bIns="0" rtlCol="0" anchor="t"/>
          <a:lstStyle/>
          <a:p>
            <a:pPr indent="0" marL="0">
              <a:buNone/>
            </a:pPr>
            <a:r>
              <a:rPr lang="en-US" sz="1200" b="1" spc="300" kern="0" dirty="0">
                <a:solidFill>
                  <a:srgbClr val="0E9F6E"/>
                </a:solidFill>
                <a:latin typeface="Calibri" pitchFamily="34" charset="0"/>
                <a:ea typeface="Calibri" pitchFamily="34" charset="-122"/>
                <a:cs typeface="Calibri" pitchFamily="34" charset="-120"/>
              </a:rPr>
              <a:t>OUTCOMES</a:t>
            </a:r>
            <a:endParaRPr lang="en-US" sz="1200" dirty="0"/>
          </a:p>
        </p:txBody>
      </p:sp>
      <p:sp>
        <p:nvSpPr>
          <p:cNvPr id="3" name="Text 1"/>
          <p:cNvSpPr txBox="1"/>
          <p:nvPr/>
        </p:nvSpPr>
        <p:spPr>
          <a:xfrm>
            <a:off x="640080" y="868680"/>
            <a:ext cx="10058400" cy="68580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What we built</a:t>
            </a:r>
            <a:endParaRPr lang="en-US" sz="3200" dirty="0"/>
          </a:p>
        </p:txBody>
      </p:sp>
      <p:sp>
        <p:nvSpPr>
          <p:cNvPr id="4" name="Shape 2"/>
          <p:cNvSpPr/>
          <p:nvPr/>
        </p:nvSpPr>
        <p:spPr>
          <a:xfrm>
            <a:off x="640080" y="1828800"/>
            <a:ext cx="2560320" cy="2514600"/>
          </a:xfrm>
          <a:prstGeom prst="roundRect">
            <a:avLst>
              <a:gd name="adj" fmla="val 4364"/>
            </a:avLst>
          </a:prstGeom>
          <a:solidFill>
            <a:srgbClr val="16313F"/>
          </a:solidFill>
          <a:ln w="12700">
            <a:solidFill>
              <a:srgbClr val="16313F"/>
            </a:solidFill>
            <a:prstDash val="solid"/>
          </a:ln>
        </p:spPr>
      </p:sp>
      <p:sp>
        <p:nvSpPr>
          <p:cNvPr id="5" name="Shape 3"/>
          <p:cNvSpPr/>
          <p:nvPr/>
        </p:nvSpPr>
        <p:spPr>
          <a:xfrm>
            <a:off x="896112" y="2084832"/>
            <a:ext cx="548640" cy="548640"/>
          </a:xfrm>
          <a:prstGeom prst="ellipse">
            <a:avLst/>
          </a:prstGeom>
          <a:solidFill>
            <a:srgbClr val="0E9F6E"/>
          </a:solidFill>
          <a:ln w="12700">
            <a:solidFill>
              <a:srgbClr val="0E9F6E"/>
            </a:solidFill>
            <a:prstDash val="solid"/>
          </a:ln>
        </p:spPr>
      </p:sp>
      <p:pic>
        <p:nvPicPr>
          <p:cNvPr id="6" name="Image 0" descr="preencoded.png">    </p:cNvPr>
          <p:cNvPicPr>
            <a:picLocks noChangeAspect="1"/>
          </p:cNvPicPr>
          <p:nvPr/>
        </p:nvPicPr>
        <p:blipFill>
          <a:blip r:embed="rId1"/>
          <a:stretch>
            <a:fillRect/>
          </a:stretch>
        </p:blipFill>
        <p:spPr>
          <a:xfrm>
            <a:off x="1038758" y="2227478"/>
            <a:ext cx="263347" cy="263347"/>
          </a:xfrm>
          <a:prstGeom prst="rect">
            <a:avLst/>
          </a:prstGeom>
        </p:spPr>
      </p:pic>
      <p:sp>
        <p:nvSpPr>
          <p:cNvPr id="7" name="Text 4"/>
          <p:cNvSpPr txBox="1"/>
          <p:nvPr/>
        </p:nvSpPr>
        <p:spPr>
          <a:xfrm>
            <a:off x="896112" y="2743200"/>
            <a:ext cx="2103120" cy="5943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Medallion data lake on HDFS</a:t>
            </a:r>
            <a:endParaRPr lang="en-US" sz="1500" dirty="0"/>
          </a:p>
        </p:txBody>
      </p:sp>
      <p:sp>
        <p:nvSpPr>
          <p:cNvPr id="8" name="Text 5"/>
          <p:cNvSpPr txBox="1"/>
          <p:nvPr/>
        </p:nvSpPr>
        <p:spPr>
          <a:xfrm>
            <a:off x="896112" y="3337560"/>
            <a:ext cx="2103120" cy="914400"/>
          </a:xfrm>
          <a:prstGeom prst="rect">
            <a:avLst/>
          </a:prstGeom>
          <a:noFill/>
          <a:ln/>
        </p:spPr>
        <p:txBody>
          <a:bodyPr wrap="square" lIns="0" tIns="0" rIns="0" bIns="0" rtlCol="0" anchor="t"/>
          <a:lstStyle/>
          <a:p>
            <a:pPr indent="0" marL="0">
              <a:buNone/>
            </a:pPr>
            <a:r>
              <a:rPr lang="en-US" sz="1200" dirty="0">
                <a:solidFill>
                  <a:srgbClr val="B8C7CF"/>
                </a:solidFill>
                <a:latin typeface="Calibri" pitchFamily="34" charset="0"/>
                <a:ea typeface="Calibri" pitchFamily="34" charset="-122"/>
                <a:cs typeface="Calibri" pitchFamily="34" charset="-120"/>
              </a:rPr>
              <a:t>37 million raw NAV rows, cleaned to 31 million, in Parquet.</a:t>
            </a:r>
            <a:endParaRPr lang="en-US" sz="1200" dirty="0"/>
          </a:p>
        </p:txBody>
      </p:sp>
      <p:sp>
        <p:nvSpPr>
          <p:cNvPr id="9" name="Shape 6"/>
          <p:cNvSpPr/>
          <p:nvPr/>
        </p:nvSpPr>
        <p:spPr>
          <a:xfrm>
            <a:off x="3401568" y="1828800"/>
            <a:ext cx="2560320" cy="2514600"/>
          </a:xfrm>
          <a:prstGeom prst="roundRect">
            <a:avLst>
              <a:gd name="adj" fmla="val 4364"/>
            </a:avLst>
          </a:prstGeom>
          <a:solidFill>
            <a:srgbClr val="16313F"/>
          </a:solidFill>
          <a:ln w="12700">
            <a:solidFill>
              <a:srgbClr val="16313F"/>
            </a:solidFill>
            <a:prstDash val="solid"/>
          </a:ln>
        </p:spPr>
      </p:sp>
      <p:sp>
        <p:nvSpPr>
          <p:cNvPr id="10" name="Shape 7"/>
          <p:cNvSpPr/>
          <p:nvPr/>
        </p:nvSpPr>
        <p:spPr>
          <a:xfrm>
            <a:off x="3657600" y="2084832"/>
            <a:ext cx="548640" cy="548640"/>
          </a:xfrm>
          <a:prstGeom prst="ellipse">
            <a:avLst/>
          </a:prstGeom>
          <a:solidFill>
            <a:srgbClr val="0E9F6E"/>
          </a:solidFill>
          <a:ln w="12700">
            <a:solidFill>
              <a:srgbClr val="0E9F6E"/>
            </a:solidFill>
            <a:prstDash val="solid"/>
          </a:ln>
        </p:spPr>
      </p:sp>
      <p:pic>
        <p:nvPicPr>
          <p:cNvPr id="11" name="Image 1" descr="preencoded.png">    </p:cNvPr>
          <p:cNvPicPr>
            <a:picLocks noChangeAspect="1"/>
          </p:cNvPicPr>
          <p:nvPr/>
        </p:nvPicPr>
        <p:blipFill>
          <a:blip r:embed="rId2"/>
          <a:stretch>
            <a:fillRect/>
          </a:stretch>
        </p:blipFill>
        <p:spPr>
          <a:xfrm>
            <a:off x="3800246" y="2227478"/>
            <a:ext cx="263347" cy="263347"/>
          </a:xfrm>
          <a:prstGeom prst="rect">
            <a:avLst/>
          </a:prstGeom>
        </p:spPr>
      </p:pic>
      <p:sp>
        <p:nvSpPr>
          <p:cNvPr id="12" name="Text 8"/>
          <p:cNvSpPr txBox="1"/>
          <p:nvPr/>
        </p:nvSpPr>
        <p:spPr>
          <a:xfrm>
            <a:off x="3657600" y="2743200"/>
            <a:ext cx="2103120" cy="5943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Explainable risk score</a:t>
            </a:r>
            <a:endParaRPr lang="en-US" sz="1500" dirty="0"/>
          </a:p>
        </p:txBody>
      </p:sp>
      <p:sp>
        <p:nvSpPr>
          <p:cNvPr id="13" name="Text 9"/>
          <p:cNvSpPr txBox="1"/>
          <p:nvPr/>
        </p:nvSpPr>
        <p:spPr>
          <a:xfrm>
            <a:off x="3657600" y="3337560"/>
            <a:ext cx="2103120" cy="914400"/>
          </a:xfrm>
          <a:prstGeom prst="rect">
            <a:avLst/>
          </a:prstGeom>
          <a:noFill/>
          <a:ln/>
        </p:spPr>
        <p:txBody>
          <a:bodyPr wrap="square" lIns="0" tIns="0" rIns="0" bIns="0" rtlCol="0" anchor="t"/>
          <a:lstStyle/>
          <a:p>
            <a:pPr indent="0" marL="0">
              <a:buNone/>
            </a:pPr>
            <a:r>
              <a:rPr lang="en-US" sz="1200" dirty="0">
                <a:solidFill>
                  <a:srgbClr val="B8C7CF"/>
                </a:solidFill>
                <a:latin typeface="Calibri" pitchFamily="34" charset="0"/>
                <a:ea typeface="Calibri" pitchFamily="34" charset="-122"/>
                <a:cs typeface="Calibri" pitchFamily="34" charset="-120"/>
              </a:rPr>
              <a:t>A 0–100 score for 1,137 funds and 49 Nifty 50 stocks; company debt counts in the stock score.</a:t>
            </a:r>
            <a:endParaRPr lang="en-US" sz="1200" dirty="0"/>
          </a:p>
        </p:txBody>
      </p:sp>
      <p:sp>
        <p:nvSpPr>
          <p:cNvPr id="14" name="Shape 10"/>
          <p:cNvSpPr/>
          <p:nvPr/>
        </p:nvSpPr>
        <p:spPr>
          <a:xfrm>
            <a:off x="6163056" y="1828800"/>
            <a:ext cx="2560320" cy="2514600"/>
          </a:xfrm>
          <a:prstGeom prst="roundRect">
            <a:avLst>
              <a:gd name="adj" fmla="val 4364"/>
            </a:avLst>
          </a:prstGeom>
          <a:solidFill>
            <a:srgbClr val="16313F"/>
          </a:solidFill>
          <a:ln w="12700">
            <a:solidFill>
              <a:srgbClr val="16313F"/>
            </a:solidFill>
            <a:prstDash val="solid"/>
          </a:ln>
        </p:spPr>
      </p:sp>
      <p:sp>
        <p:nvSpPr>
          <p:cNvPr id="15" name="Shape 11"/>
          <p:cNvSpPr/>
          <p:nvPr/>
        </p:nvSpPr>
        <p:spPr>
          <a:xfrm>
            <a:off x="6419088" y="2084832"/>
            <a:ext cx="548640" cy="548640"/>
          </a:xfrm>
          <a:prstGeom prst="ellipse">
            <a:avLst/>
          </a:prstGeom>
          <a:solidFill>
            <a:srgbClr val="0E9F6E"/>
          </a:solidFill>
          <a:ln w="12700">
            <a:solidFill>
              <a:srgbClr val="0E9F6E"/>
            </a:solidFill>
            <a:prstDash val="solid"/>
          </a:ln>
        </p:spPr>
      </p:sp>
      <p:pic>
        <p:nvPicPr>
          <p:cNvPr id="16" name="Image 2" descr="preencoded.png">    </p:cNvPr>
          <p:cNvPicPr>
            <a:picLocks noChangeAspect="1"/>
          </p:cNvPicPr>
          <p:nvPr/>
        </p:nvPicPr>
        <p:blipFill>
          <a:blip r:embed="rId3"/>
          <a:stretch>
            <a:fillRect/>
          </a:stretch>
        </p:blipFill>
        <p:spPr>
          <a:xfrm>
            <a:off x="6561734" y="2227478"/>
            <a:ext cx="263347" cy="263347"/>
          </a:xfrm>
          <a:prstGeom prst="rect">
            <a:avLst/>
          </a:prstGeom>
        </p:spPr>
      </p:pic>
      <p:sp>
        <p:nvSpPr>
          <p:cNvPr id="17" name="Text 12"/>
          <p:cNvSpPr txBox="1"/>
          <p:nvPr/>
        </p:nvSpPr>
        <p:spPr>
          <a:xfrm>
            <a:off x="6419088" y="2743200"/>
            <a:ext cx="2103120" cy="5943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Fair model benchmark</a:t>
            </a:r>
            <a:endParaRPr lang="en-US" sz="1500" dirty="0"/>
          </a:p>
        </p:txBody>
      </p:sp>
      <p:sp>
        <p:nvSpPr>
          <p:cNvPr id="18" name="Text 13"/>
          <p:cNvSpPr txBox="1"/>
          <p:nvPr/>
        </p:nvSpPr>
        <p:spPr>
          <a:xfrm>
            <a:off x="6419088" y="3337560"/>
            <a:ext cx="2103120" cy="914400"/>
          </a:xfrm>
          <a:prstGeom prst="rect">
            <a:avLst/>
          </a:prstGeom>
          <a:noFill/>
          <a:ln/>
        </p:spPr>
        <p:txBody>
          <a:bodyPr wrap="square" lIns="0" tIns="0" rIns="0" bIns="0" rtlCol="0" anchor="t"/>
          <a:lstStyle/>
          <a:p>
            <a:pPr indent="0" marL="0">
              <a:buNone/>
            </a:pPr>
            <a:r>
              <a:rPr lang="en-US" sz="1200" dirty="0">
                <a:solidFill>
                  <a:srgbClr val="B8C7CF"/>
                </a:solidFill>
                <a:latin typeface="Calibri" pitchFamily="34" charset="0"/>
                <a:ea typeface="Calibri" pitchFamily="34" charset="-122"/>
                <a:cs typeface="Calibri" pitchFamily="34" charset="-120"/>
              </a:rPr>
              <a:t>Five forecasting and three risk models tested with walk-forward validation.</a:t>
            </a:r>
            <a:endParaRPr lang="en-US" sz="1200" dirty="0"/>
          </a:p>
        </p:txBody>
      </p:sp>
      <p:sp>
        <p:nvSpPr>
          <p:cNvPr id="19" name="Shape 14"/>
          <p:cNvSpPr/>
          <p:nvPr/>
        </p:nvSpPr>
        <p:spPr>
          <a:xfrm>
            <a:off x="8924544" y="1828800"/>
            <a:ext cx="2560320" cy="2514600"/>
          </a:xfrm>
          <a:prstGeom prst="roundRect">
            <a:avLst>
              <a:gd name="adj" fmla="val 4364"/>
            </a:avLst>
          </a:prstGeom>
          <a:solidFill>
            <a:srgbClr val="16313F"/>
          </a:solidFill>
          <a:ln w="12700">
            <a:solidFill>
              <a:srgbClr val="16313F"/>
            </a:solidFill>
            <a:prstDash val="solid"/>
          </a:ln>
        </p:spPr>
      </p:sp>
      <p:sp>
        <p:nvSpPr>
          <p:cNvPr id="20" name="Shape 15"/>
          <p:cNvSpPr/>
          <p:nvPr/>
        </p:nvSpPr>
        <p:spPr>
          <a:xfrm>
            <a:off x="9180576" y="2084832"/>
            <a:ext cx="548640" cy="548640"/>
          </a:xfrm>
          <a:prstGeom prst="ellipse">
            <a:avLst/>
          </a:prstGeom>
          <a:solidFill>
            <a:srgbClr val="F5A524"/>
          </a:solidFill>
          <a:ln w="12700">
            <a:solidFill>
              <a:srgbClr val="F5A524"/>
            </a:solidFill>
            <a:prstDash val="solid"/>
          </a:ln>
        </p:spPr>
      </p:sp>
      <p:pic>
        <p:nvPicPr>
          <p:cNvPr id="21" name="Image 3" descr="preencoded.png">    </p:cNvPr>
          <p:cNvPicPr>
            <a:picLocks noChangeAspect="1"/>
          </p:cNvPicPr>
          <p:nvPr/>
        </p:nvPicPr>
        <p:blipFill>
          <a:blip r:embed="rId4"/>
          <a:stretch>
            <a:fillRect/>
          </a:stretch>
        </p:blipFill>
        <p:spPr>
          <a:xfrm>
            <a:off x="9323222" y="2227478"/>
            <a:ext cx="263347" cy="263347"/>
          </a:xfrm>
          <a:prstGeom prst="rect">
            <a:avLst/>
          </a:prstGeom>
        </p:spPr>
      </p:pic>
      <p:sp>
        <p:nvSpPr>
          <p:cNvPr id="22" name="Text 16"/>
          <p:cNvSpPr txBox="1"/>
          <p:nvPr/>
        </p:nvSpPr>
        <p:spPr>
          <a:xfrm>
            <a:off x="9180576" y="2743200"/>
            <a:ext cx="2103120" cy="5943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Website and Power BI dashboard</a:t>
            </a:r>
            <a:endParaRPr lang="en-US" sz="1500" dirty="0"/>
          </a:p>
        </p:txBody>
      </p:sp>
      <p:sp>
        <p:nvSpPr>
          <p:cNvPr id="23" name="Text 17"/>
          <p:cNvSpPr txBox="1"/>
          <p:nvPr/>
        </p:nvSpPr>
        <p:spPr>
          <a:xfrm>
            <a:off x="9180576" y="3337560"/>
            <a:ext cx="2103120" cy="914400"/>
          </a:xfrm>
          <a:prstGeom prst="rect">
            <a:avLst/>
          </a:prstGeom>
          <a:noFill/>
          <a:ln/>
        </p:spPr>
        <p:txBody>
          <a:bodyPr wrap="square" lIns="0" tIns="0" rIns="0" bIns="0" rtlCol="0" anchor="t"/>
          <a:lstStyle/>
          <a:p>
            <a:pPr indent="0" marL="0">
              <a:buNone/>
            </a:pPr>
            <a:r>
              <a:rPr lang="en-US" sz="1200" dirty="0">
                <a:solidFill>
                  <a:srgbClr val="B8C7CF"/>
                </a:solidFill>
                <a:latin typeface="Calibri" pitchFamily="34" charset="0"/>
                <a:ea typeface="Calibri" pitchFamily="34" charset="-122"/>
                <a:cs typeface="Calibri" pitchFamily="34" charset="-120"/>
              </a:rPr>
              <a:t>Both fed by a FastAPI service that checks an API key.</a:t>
            </a:r>
            <a:endParaRPr lang="en-US" sz="1200" dirty="0"/>
          </a:p>
        </p:txBody>
      </p:sp>
      <p:sp>
        <p:nvSpPr>
          <p:cNvPr id="24" name="Text 18"/>
          <p:cNvSpPr txBox="1"/>
          <p:nvPr/>
        </p:nvSpPr>
        <p:spPr>
          <a:xfrm>
            <a:off x="640080" y="4800600"/>
            <a:ext cx="5486400" cy="73152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Thank you</a:t>
            </a:r>
            <a:endParaRPr lang="en-US" sz="4000" dirty="0"/>
          </a:p>
        </p:txBody>
      </p:sp>
      <p:sp>
        <p:nvSpPr>
          <p:cNvPr id="25" name="Text 19"/>
          <p:cNvSpPr txBox="1"/>
          <p:nvPr/>
        </p:nvSpPr>
        <p:spPr>
          <a:xfrm>
            <a:off x="640080" y="5532120"/>
            <a:ext cx="5486400" cy="365760"/>
          </a:xfrm>
          <a:prstGeom prst="rect">
            <a:avLst/>
          </a:prstGeom>
          <a:noFill/>
          <a:ln/>
        </p:spPr>
        <p:txBody>
          <a:bodyPr wrap="square" lIns="0" tIns="0" rIns="0" bIns="0" rtlCol="0" anchor="t"/>
          <a:lstStyle/>
          <a:p>
            <a:pPr indent="0" marL="0">
              <a:buNone/>
            </a:pPr>
            <a:r>
              <a:rPr lang="en-US" sz="1600" dirty="0">
                <a:solidFill>
                  <a:srgbClr val="B8C7CF"/>
                </a:solidFill>
                <a:latin typeface="Calibri" pitchFamily="34" charset="0"/>
                <a:ea typeface="Calibri" pitchFamily="34" charset="-122"/>
                <a:cs typeface="Calibri" pitchFamily="34" charset="-120"/>
              </a:rPr>
              <a:t>Questions and feedback are welcome.</a:t>
            </a:r>
            <a:endParaRPr lang="en-US" sz="1600" dirty="0"/>
          </a:p>
        </p:txBody>
      </p:sp>
      <p:sp>
        <p:nvSpPr>
          <p:cNvPr id="26" name="Text 20"/>
          <p:cNvSpPr txBox="1"/>
          <p:nvPr/>
        </p:nvSpPr>
        <p:spPr>
          <a:xfrm>
            <a:off x="7589520" y="4800600"/>
            <a:ext cx="4023360" cy="1143000"/>
          </a:xfrm>
          <a:prstGeom prst="rect">
            <a:avLst/>
          </a:prstGeom>
          <a:noFill/>
          <a:ln/>
        </p:spPr>
        <p:txBody>
          <a:bodyPr wrap="square" lIns="0" tIns="0" rIns="0" bIns="0" rtlCol="0" anchor="ctr"/>
          <a:lstStyle/>
          <a:p>
            <a:pPr algn="r" indent="0" marL="0">
              <a:buNone/>
            </a:pPr>
            <a:r>
              <a:rPr lang="en-US" sz="1600" b="1" dirty="0">
                <a:solidFill>
                  <a:srgbClr val="FFFFFF"/>
                </a:solidFill>
                <a:latin typeface="Calibri" pitchFamily="34" charset="0"/>
                <a:ea typeface="Calibri" pitchFamily="34" charset="-122"/>
                <a:cs typeface="Calibri" pitchFamily="34" charset="-120"/>
              </a:rPr>
              <a:t>Suseendar Hari Krishnan</a:t>
            </a:r>
            <a:endParaRPr lang="en-US" sz="1600" dirty="0"/>
          </a:p>
          <a:p>
            <a:pPr algn="r" indent="0" marL="0">
              <a:buNone/>
            </a:pPr>
            <a:r>
              <a:rPr lang="en-US" sz="1600" b="1" dirty="0">
                <a:solidFill>
                  <a:srgbClr val="FFFFFF"/>
                </a:solidFill>
                <a:latin typeface="Calibri" pitchFamily="34" charset="0"/>
                <a:ea typeface="Calibri" pitchFamily="34" charset="-122"/>
                <a:cs typeface="Calibri" pitchFamily="34" charset="-120"/>
              </a:rPr>
              <a:t>Lakshan</a:t>
            </a:r>
            <a:endParaRPr lang="en-US" sz="1600" dirty="0"/>
          </a:p>
          <a:p>
            <a:pPr algn="r" indent="0" marL="0">
              <a:buNone/>
            </a:pPr>
            <a:r>
              <a:rPr lang="en-US" sz="1600" b="1" dirty="0">
                <a:solidFill>
                  <a:srgbClr val="FFFFFF"/>
                </a:solidFill>
                <a:latin typeface="Calibri" pitchFamily="34" charset="0"/>
                <a:ea typeface="Calibri" pitchFamily="34" charset="-122"/>
                <a:cs typeface="Calibri" pitchFamily="34" charset="-120"/>
              </a:rPr>
              <a:t>Viswesh</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 Market &amp; Mutual Fund Risk Analytics Platform</dc:title>
  <dc:subject>PptxGenJS Presentation</dc:subject>
  <dc:creator>Suseendar Hari Krishnan, Lakshan, Viswesh</dc:creator>
  <cp:lastModifiedBy>Suseendar Hari Krishnan, Lakshan, Viswesh</cp:lastModifiedBy>
  <cp:revision>1</cp:revision>
  <dcterms:created xsi:type="dcterms:W3CDTF">2026-10-03T11:16:15Z</dcterms:created>
  <dcterms:modified xsi:type="dcterms:W3CDTF">2026-10-03T11:16:15Z</dcterms:modified>
</cp:coreProperties>
</file>